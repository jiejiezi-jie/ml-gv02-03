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Noto Sans SC"/>
              </a:defRPr>
            </a:pPr>
            <a:r>
              <a:t>GvpA 候选序列的</a:t>
            </a:r>
            <a:br/>
            <a:r>
              <a:t>多目标评价与筛选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8D7E3"/>
                </a:solidFill>
                <a:latin typeface="Noto Sans SC"/>
              </a:defRPr>
            </a:pPr>
            <a:r>
              <a:t>机器学习综合实践 · GV02-03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5DAC7"/>
                </a:solidFill>
                <a:latin typeface="Noto Sans SC"/>
              </a:defRPr>
            </a:pPr>
            <a:r>
              <a:t>约束 · 保守性 · 新颖性 · 多样性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C6"/>
                </a:solidFill>
                <a:latin typeface="Noto Sans SC"/>
              </a:defRPr>
            </a:pPr>
            <a:r>
              <a:t>答辩时请补充真实成员姓名与分工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任务定位：不是再训练一个生成模型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72D34"/>
                </a:solidFill>
                <a:latin typeface="Noto Sans SC"/>
              </a:defRPr>
            </a:pPr>
            <a:r>
              <a:t>• 输入：T05 已生成的 200 条蛋白质候选；输出：逐条四维证据和固定预算筛选名单</a:t>
            </a:r>
          </a:p>
          <a:p>
            <a:pPr>
              <a:spcAft>
                <a:spcPts val="1400"/>
              </a:spcAft>
              <a:defRPr sz="2100">
                <a:solidFill>
                  <a:srgbClr val="272D34"/>
                </a:solidFill>
                <a:latin typeface="Noto Sans SC"/>
              </a:defRPr>
            </a:pPr>
            <a:r>
              <a:t>• RQ1：四个目标如何冲突？  RQ2：不同聚合策略何时更合适？  RQ3：参数微调是否改变名单？</a:t>
            </a:r>
          </a:p>
          <a:p>
            <a:pPr>
              <a:spcAft>
                <a:spcPts val="1400"/>
              </a:spcAft>
              <a:defRPr sz="2100">
                <a:solidFill>
                  <a:srgbClr val="272D34"/>
                </a:solidFill>
                <a:latin typeface="Noto Sans SC"/>
              </a:defRPr>
            </a:pPr>
            <a:r>
              <a:t>• 没有候选功能真值：不报告准确率或虚构湿实验成功率，只评价代理指标、重叠与稳定性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239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7881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评价维度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507492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5239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2688B"/>
                </a:solidFill>
                <a:latin typeface="Noto Sans SC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57881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聚合策略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507492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5239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4+2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57881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必做 + 选做实验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507492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7" y="5239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7" y="57881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固定随机种子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数据与参考集：候选和天然参考严格分离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36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2688B"/>
                </a:solidFill>
                <a:latin typeface="Noto Sans SC"/>
              </a:defRPr>
            </a:pPr>
            <a: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848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T05 生成候选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536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1224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0848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清洗天然参考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536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418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0848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CD-HIT 90% 代表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37160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536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0848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统计保守位点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72D34"/>
                </a:solidFill>
                <a:latin typeface="Noto Sans SC"/>
              </a:defRPr>
            </a:pPr>
            <a:r>
              <a:t>• 参考要求显式 GvpA 标签；排除 GvpJ、partial/fragment、非标准残基与异常长度</a:t>
            </a:r>
          </a:p>
          <a:p>
            <a:pPr>
              <a:spcAft>
                <a:spcPts val="1400"/>
              </a:spcAft>
              <a:defRPr sz="1800">
                <a:solidFill>
                  <a:srgbClr val="272D34"/>
                </a:solidFill>
                <a:latin typeface="Noto Sans SC"/>
              </a:defRPr>
            </a:pPr>
            <a:r>
              <a:t>• 混合多家族 real_gvp.fasta 不作为纯 GvpA 参考；候选不参与保守位点定义</a:t>
            </a:r>
          </a:p>
          <a:p>
            <a:pPr>
              <a:spcAft>
                <a:spcPts val="1400"/>
              </a:spcAft>
              <a:defRPr sz="1800">
                <a:solidFill>
                  <a:srgbClr val="272D34"/>
                </a:solidFill>
                <a:latin typeface="Noto Sans SC"/>
              </a:defRPr>
            </a:pPr>
            <a:r>
              <a:t>• 所有来源、清洗原因、稳定 ID 与序列哈希可追溯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可复现评价流水线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371600"/>
          </a:xfrm>
          <a:prstGeom prst="roundRect">
            <a:avLst/>
          </a:prstGeom>
          <a:solidFill>
            <a:srgbClr val="EEF4F7"/>
          </a:solidFill>
          <a:ln>
            <a:solidFill>
              <a:srgbClr val="1F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3349"/>
                </a:solidFill>
                <a:latin typeface="Noto Sans SC"/>
              </a:defRPr>
            </a:pPr>
            <a:r>
              <a:t>清洗/去冗余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688B"/>
                </a:solidFill>
                <a:latin typeface="Noto Sans SC"/>
              </a:defRPr>
            </a:pPr>
            <a:r>
              <a:t>CD-HIT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2219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843E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011680" cy="1371600"/>
          </a:xfrm>
          <a:prstGeom prst="roundRect">
            <a:avLst/>
          </a:prstGeom>
          <a:solidFill>
            <a:srgbClr val="EEF4F7"/>
          </a:solidFill>
          <a:ln>
            <a:solidFill>
              <a:srgbClr val="1F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79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3349"/>
                </a:solidFill>
                <a:latin typeface="Noto Sans SC"/>
              </a:defRPr>
            </a:pPr>
            <a:r>
              <a:t>参考 MSA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688B"/>
                </a:solidFill>
                <a:latin typeface="Noto Sans SC"/>
              </a:defRPr>
            </a:pPr>
            <a:r>
              <a:t>MAFFT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219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843E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28800"/>
            <a:ext cx="2011680" cy="1371600"/>
          </a:xfrm>
          <a:prstGeom prst="roundRect">
            <a:avLst/>
          </a:prstGeom>
          <a:solidFill>
            <a:srgbClr val="EEF4F7"/>
          </a:solidFill>
          <a:ln>
            <a:solidFill>
              <a:srgbClr val="1F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799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3349"/>
                </a:solidFill>
                <a:latin typeface="Noto Sans SC"/>
              </a:defRPr>
            </a:pPr>
            <a:r>
              <a:t>域约束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799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688B"/>
                </a:solidFill>
                <a:latin typeface="Noto Sans SC"/>
              </a:defRPr>
            </a:pPr>
            <a:r>
              <a:t>PF00741 + HMMER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219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843E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2011680" cy="1371600"/>
          </a:xfrm>
          <a:prstGeom prst="roundRect">
            <a:avLst/>
          </a:prstGeom>
          <a:solidFill>
            <a:srgbClr val="EEF4F7"/>
          </a:solidFill>
          <a:ln>
            <a:solidFill>
              <a:srgbClr val="1F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19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3349"/>
                </a:solidFill>
                <a:latin typeface="Noto Sans SC"/>
              </a:defRPr>
            </a:pPr>
            <a:r>
              <a:t>相似性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688B"/>
                </a:solidFill>
                <a:latin typeface="Noto Sans SC"/>
              </a:defRPr>
            </a:pPr>
            <a:r>
              <a:t>BLAST+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2219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2843E"/>
                </a:solidFill>
                <a:latin typeface="Noto Sans S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828800"/>
            <a:ext cx="2011680" cy="1371600"/>
          </a:xfrm>
          <a:prstGeom prst="roundRect">
            <a:avLst/>
          </a:prstGeom>
          <a:solidFill>
            <a:srgbClr val="EEF4F7"/>
          </a:solidFill>
          <a:ln>
            <a:solidFill>
              <a:srgbClr val="1F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3349"/>
                </a:solidFill>
                <a:latin typeface="Noto Sans SC"/>
              </a:defRPr>
            </a:pPr>
            <a:r>
              <a:t>聚合/统计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2688B"/>
                </a:solidFill>
                <a:latin typeface="Noto Sans SC"/>
              </a:defRPr>
            </a:pPr>
            <a: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77639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72D34"/>
                </a:solidFill>
                <a:latin typeface="Noto Sans SC"/>
              </a:defRPr>
            </a:pPr>
            <a:r>
              <a:t>• PF00741.24 的 GA domain cutoff=25 bits；参考覆盖分布校准模型覆盖门槛=0.95</a:t>
            </a:r>
          </a:p>
          <a:p>
            <a:pPr>
              <a:spcAft>
                <a:spcPts val="1400"/>
              </a:spcAft>
              <a:defRPr sz="1800">
                <a:solidFill>
                  <a:srgbClr val="272D34"/>
                </a:solidFill>
                <a:latin typeface="Noto Sans SC"/>
              </a:defRPr>
            </a:pPr>
            <a:r>
              <a:t>• 配置、输入/输出 SHA-256、工具和模型版本写入 manifest；错误停止，不伪造缺失分数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四个指标：同为 [0,1]，含义不同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72D34"/>
                </a:solidFill>
                <a:latin typeface="Noto Sans SC"/>
              </a:defRPr>
            </a:pPr>
            <a:r>
              <a:t>• 约束：HMM domain score 的参考经验百分位 × 模型覆盖因子</a:t>
            </a:r>
          </a:p>
          <a:p>
            <a:pPr>
              <a:spcAft>
                <a:spcPts val="1400"/>
              </a:spcAft>
              <a:defRPr sz="2100">
                <a:solidFill>
                  <a:srgbClr val="272D34"/>
                </a:solidFill>
                <a:latin typeface="Noto Sans SC"/>
              </a:defRPr>
            </a:pPr>
            <a:r>
              <a:t>• 保守性：候选在 23 个参考统计保守列上与共识一致的比例，缺口计 0</a:t>
            </a:r>
          </a:p>
          <a:p>
            <a:pPr>
              <a:spcAft>
                <a:spcPts val="1400"/>
              </a:spcAft>
              <a:defRPr sz="2100">
                <a:solidFill>
                  <a:srgbClr val="272D34"/>
                </a:solidFill>
                <a:latin typeface="Noto Sans SC"/>
              </a:defRPr>
            </a:pPr>
            <a:r>
              <a:t>• 新颖性：1 − 与最近天然参考的覆盖校正 identity</a:t>
            </a:r>
          </a:p>
          <a:p>
            <a:pPr>
              <a:spcAft>
                <a:spcPts val="1400"/>
              </a:spcAft>
              <a:defRPr sz="2100">
                <a:solidFill>
                  <a:srgbClr val="272D34"/>
                </a:solidFill>
                <a:latin typeface="Noto Sans SC"/>
              </a:defRPr>
            </a:pPr>
            <a:r>
              <a:t>• 多样性：候选级平均距离用于排序；子集平均两两距离用于评价最终集合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2843E"/>
                </a:solidFill>
                <a:latin typeface="Noto Sans SC"/>
              </a:defRPr>
            </a:pPr>
            <a:r>
              <a:t>关键修正：PF01132 是 EFP 相关域；本实验使用 PF00741，但其命中仍不是 GvpA 功能证明。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RQ1：质量代理与新颖性存在明显冲突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rrelation_heat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25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3349"/>
                </a:solidFill>
                <a:latin typeface="Noto Sans SC"/>
              </a:defRPr>
            </a:pPr>
            <a:r>
              <a:t>Pearson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82880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05088" y="19933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+0.750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5420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约束–保守性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4612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05088" y="34107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−0.796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959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约束–新颖性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6634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4828031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−0.913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53766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保守–新颖性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输入池审计：多数候选缺乏目标域证据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ic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7498079" cy="54531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41732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67928" y="15819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2688B"/>
                </a:solidFill>
                <a:latin typeface="Noto Sans SC"/>
              </a:defRPr>
            </a:pPr>
            <a:r>
              <a:t>37/200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7928" y="21305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PF00741 可报告命中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97180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31363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27/200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36850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通过 GA + 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7091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23349"/>
                </a:solidFill>
                <a:latin typeface="Noto Sans SC"/>
              </a:defRPr>
            </a:pPr>
            <a:r>
              <a:t>这说明 T05 是混合 Gvp 生成池，</a:t>
            </a:r>
            <a:br/>
            <a:r>
              <a:t>不是已经确认的纯 GvpA 候选池。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RQ2：Top-20 三种策略各有侧重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y_quality_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758952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508760"/>
            <a:ext cx="3291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72D34"/>
                </a:solidFill>
                <a:latin typeface="Noto Sans SC"/>
              </a:defRPr>
            </a:pPr>
            <a:r>
              <a:t>• 等权：域通过 100%，质量优先</a:t>
            </a:r>
          </a:p>
          <a:p>
            <a:pPr>
              <a:spcAft>
                <a:spcPts val="1400"/>
              </a:spcAft>
              <a:defRPr sz="1700">
                <a:solidFill>
                  <a:srgbClr val="272D34"/>
                </a:solidFill>
                <a:latin typeface="Noto Sans SC"/>
              </a:defRPr>
            </a:pPr>
            <a:r>
              <a:t>• Pareto：多样性 0.8753，保留取舍</a:t>
            </a:r>
          </a:p>
          <a:p>
            <a:pPr>
              <a:spcAft>
                <a:spcPts val="1400"/>
              </a:spcAft>
              <a:defRPr sz="1700">
                <a:solidFill>
                  <a:srgbClr val="272D34"/>
                </a:solidFill>
                <a:latin typeface="Noto Sans SC"/>
              </a:defRPr>
            </a:pPr>
            <a:r>
              <a:t>• 轮转：多样性 0.8857，覆盖单项优势</a:t>
            </a:r>
          </a:p>
          <a:p>
            <a:pPr>
              <a:spcAft>
                <a:spcPts val="1400"/>
              </a:spcAft>
              <a:defRPr sz="1700">
                <a:solidFill>
                  <a:srgbClr val="272D34"/>
                </a:solidFill>
                <a:latin typeface="Noto Sans SC"/>
              </a:defRPr>
            </a:pPr>
            <a:r>
              <a:t>• 没有任何策略四维同时最优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名单差异不是形式差异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y_overlap_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943600" cy="495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371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3349"/>
                </a:solidFill>
                <a:latin typeface="Noto Sans SC"/>
              </a:defRPr>
            </a:pPr>
            <a:r>
              <a:t>Top-20 两两交集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7" y="21762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2688B"/>
                </a:solidFill>
                <a:latin typeface="Noto Sans SC"/>
              </a:defRPr>
            </a:pPr>
            <a: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7" y="27249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等权 ∩ Pareto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5204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36850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7" y="42336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等权 ∩ 轮转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502920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7" y="51937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7" y="57424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Pareto ∩ 轮转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消融：约束与保守性最不可替代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3349"/>
                </a:solidFill>
                <a:latin typeface="Noto Sans SC"/>
              </a:defRPr>
            </a:pPr>
            <a:r>
              <a:t>去约束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9202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0848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0.143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6334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Top-20 Jaccard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2D34"/>
                </a:solidFill>
                <a:latin typeface="Noto Sans SC"/>
              </a:defRPr>
            </a:pPr>
            <a:r>
              <a:t>约束均值→0.135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3349"/>
                </a:solidFill>
                <a:latin typeface="Noto Sans SC"/>
              </a:defRPr>
            </a:pPr>
            <a:r>
              <a:t>去保守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9202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20848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0.212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6334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Top-20 Jaccard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2D34"/>
                </a:solidFill>
                <a:latin typeface="Noto Sans SC"/>
              </a:defRPr>
            </a:pPr>
            <a:r>
              <a:t>保守均值→0.413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3349"/>
                </a:solidFill>
                <a:latin typeface="Noto Sans SC"/>
              </a:defRPr>
            </a:pPr>
            <a:r>
              <a:t>去新颖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19202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0848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0.818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6334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Top-20 Jaccard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2D34"/>
                </a:solidFill>
                <a:latin typeface="Noto Sans SC"/>
              </a:defRPr>
            </a:pPr>
            <a:r>
              <a:t>新颖均值→0.253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417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3349"/>
                </a:solidFill>
                <a:latin typeface="Noto Sans SC"/>
              </a:defRPr>
            </a:pPr>
            <a:r>
              <a:t>去独特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53728" y="19202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5" y="20848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1.000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5" y="26334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Top-20 Jaccard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72D34"/>
                </a:solidFill>
                <a:latin typeface="Noto Sans SC"/>
              </a:defRPr>
            </a:pPr>
            <a:r>
              <a:t>当前名单不变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688B"/>
                </a:solidFill>
                <a:latin typeface="Noto Sans SC"/>
              </a:defRPr>
            </a:pPr>
            <a:r>
              <a:t>消融反映当前等权选择机制；它不能把统计代理提升为因果证据。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RQ3：局部权重稳定，覆盖阈值仍敏感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ight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6949440" cy="252706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32588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7" y="149047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0.906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7" y="203911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Jaccard 均值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78892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7" y="29535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0.667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7" y="35021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Jaccard 最小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25196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441655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2688B"/>
                </a:solidFill>
                <a:latin typeface="Noto Sans SC"/>
              </a:defRPr>
            </a:pPr>
            <a:r>
              <a:t>0.996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7" y="4965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排名 Spearman 均值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23349"/>
                </a:solidFill>
                <a:latin typeface="Noto Sans SC"/>
              </a:defRPr>
            </a:pPr>
            <a:r>
              <a:t>覆盖门槛 0.85 / 0.95 / 1.00 → 34 / 27 / 21 条合格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选做：1000 次随机筛选基线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2688B"/>
                </a:solidFill>
                <a:latin typeface="Noto Sans SC"/>
              </a:defRPr>
            </a:pPr>
            <a:r>
              <a:t>0.782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762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随机集合多样性均值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6276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E2843E"/>
                </a:solidFill>
                <a:latin typeface="Noto Sans SC"/>
              </a:defRPr>
            </a:pPr>
            <a:r>
              <a:t>0.612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1762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等权集合多样性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6276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0.875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1762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Pareto 集合多样性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463040"/>
            <a:ext cx="2423160" cy="1234440"/>
          </a:xfrm>
          <a:prstGeom prst="roundRect">
            <a:avLst/>
          </a:prstGeom>
          <a:solidFill>
            <a:srgbClr val="EEF4F7"/>
          </a:solidFill>
          <a:ln>
            <a:solidFill>
              <a:srgbClr val="C8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16276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F8B89"/>
                </a:solidFill>
                <a:latin typeface="Noto Sans SC"/>
              </a:defRPr>
            </a:pPr>
            <a:r>
              <a:t>0.886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3688" y="217627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2D34"/>
                </a:solidFill>
                <a:latin typeface="Noto Sans SC"/>
              </a:defRPr>
            </a:pPr>
            <a:r>
              <a:t>轮转集合多样性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72D34"/>
                </a:solidFill>
                <a:latin typeface="Noto Sans SC"/>
              </a:defRPr>
            </a:pPr>
            <a:r>
              <a:t>• 三策略显著提高约束、保守性、独特性和域通过率</a:t>
            </a:r>
          </a:p>
          <a:p>
            <a:pPr>
              <a:spcAft>
                <a:spcPts val="1400"/>
              </a:spcAft>
              <a:defRPr sz="1900">
                <a:solidFill>
                  <a:srgbClr val="272D34"/>
                </a:solidFill>
                <a:latin typeface="Noto Sans SC"/>
              </a:defRPr>
            </a:pPr>
            <a:r>
              <a:t>• Pareto/轮转的集合多样性超过随机 95th percentile 0.867</a:t>
            </a:r>
          </a:p>
          <a:p>
            <a:pPr>
              <a:spcAft>
                <a:spcPts val="1400"/>
              </a:spcAft>
              <a:defRPr sz="1900">
                <a:solidFill>
                  <a:srgbClr val="272D34"/>
                </a:solidFill>
                <a:latin typeface="Noto Sans SC"/>
              </a:defRPr>
            </a:pPr>
            <a:r>
              <a:t>• 三策略新颖性均低于随机：这是质量–新颖性冲突的真实代价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84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F8B89"/>
                </a:solidFill>
                <a:latin typeface="Noto Sans SC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23349"/>
                </a:solidFill>
                <a:latin typeface="Noto Sans SC"/>
              </a:defRPr>
            </a:pPr>
            <a:r>
              <a:t>结论与下游选择建议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CD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72D34"/>
                </a:solidFill>
                <a:latin typeface="Noto Sans SC"/>
              </a:defRPr>
            </a:pPr>
            <a:r>
              <a:t>• 质量优先：域/长度硬门槛 + 可解释加权；本次等权 Top-20 均通过当前域门槛</a:t>
            </a:r>
          </a:p>
          <a:p>
            <a:pPr>
              <a:spcAft>
                <a:spcPts val="1400"/>
              </a:spcAft>
              <a:defRPr sz="2000">
                <a:solidFill>
                  <a:srgbClr val="272D34"/>
                </a:solidFill>
                <a:latin typeface="Noto Sans SC"/>
              </a:defRPr>
            </a:pPr>
            <a:r>
              <a:t>• 探索优先：Pareto 或轮转，保留原始四维证据，不能把离群优势当成功能保证</a:t>
            </a:r>
          </a:p>
          <a:p>
            <a:pPr>
              <a:spcAft>
                <a:spcPts val="1400"/>
              </a:spcAft>
              <a:defRPr sz="2000">
                <a:solidFill>
                  <a:srgbClr val="272D34"/>
                </a:solidFill>
                <a:latin typeface="Noto Sans SC"/>
              </a:defRPr>
            </a:pPr>
            <a:r>
              <a:t>• 发布名单时同时冻结配置、资源版本和稳定性结果，不只交一个综合分</a:t>
            </a:r>
          </a:p>
          <a:p>
            <a:pPr>
              <a:spcAft>
                <a:spcPts val="1400"/>
              </a:spcAft>
              <a:defRPr sz="2000">
                <a:solidFill>
                  <a:srgbClr val="272D34"/>
                </a:solidFill>
                <a:latin typeface="Noto Sans SC"/>
              </a:defRPr>
            </a:pPr>
            <a:r>
              <a:t>• 后续必须由结构预测、GvpA/GvpJ 区分和表达/组装实验验证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8B89"/>
                </a:solidFill>
                <a:latin typeface="Noto Sans SC"/>
              </a:defRPr>
            </a:pPr>
            <a:r>
              <a:t>16 项自动化测试全部通过 · 输入/输出 SHA-256 与工具版本均可审计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3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Noto Sans SC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0">
                <a:solidFill>
                  <a:srgbClr val="75DAC7"/>
                </a:solidFill>
                <a:latin typeface="Noto Sans SC"/>
              </a:defRPr>
            </a:pPr>
            <a:r>
              <a:t>问题与讨论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21208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9CAD3"/>
                </a:solidFill>
                <a:latin typeface="Noto Sans SC"/>
              </a:defRPr>
            </a:pPr>
            <a:r>
              <a:t>答辩前请补充真实成员、分工、会议与过程证据；不要补写未发生的活动。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