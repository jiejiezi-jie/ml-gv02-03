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a520c193841d5" /><Relationship Type="http://schemas.openxmlformats.org/officeDocument/2006/relationships/extended-properties" Target="/docProps/app.xml" Id="Rf4c64268ec94467e" /><Relationship Type="http://schemas.openxmlformats.org/officeDocument/2006/relationships/officeDocument" Target="/ppt/presentation.xml" Id="R0dcc9d4c7d8a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e9d8c1a444639"/>
  </p:sldMasterIdLst>
  <p:notesMasterIdLst>
    <p:notesMasterId xmlns:r="http://schemas.openxmlformats.org/officeDocument/2006/relationships" r:id="Rc849cf6291634ee5"/>
  </p:notesMasterIdLst>
  <p:sldIdLst>
    <p:sldId xmlns:r="http://schemas.openxmlformats.org/officeDocument/2006/relationships" id="256" r:id="Rb39ee606a98c441e"/>
    <p:sldId xmlns:r="http://schemas.openxmlformats.org/officeDocument/2006/relationships" id="257" r:id="R42209e645c074bfc"/>
    <p:sldId xmlns:r="http://schemas.openxmlformats.org/officeDocument/2006/relationships" id="258" r:id="Rf3bda0bf328a4a12"/>
    <p:sldId xmlns:r="http://schemas.openxmlformats.org/officeDocument/2006/relationships" id="259" r:id="R533b97bd82af4897"/>
    <p:sldId xmlns:r="http://schemas.openxmlformats.org/officeDocument/2006/relationships" id="260" r:id="R6635e2eb6be349d3"/>
    <p:sldId xmlns:r="http://schemas.openxmlformats.org/officeDocument/2006/relationships" id="261" r:id="R24d994418ae542cb"/>
    <p:sldId xmlns:r="http://schemas.openxmlformats.org/officeDocument/2006/relationships" id="262" r:id="R9d5b8b481d68418c"/>
    <p:sldId xmlns:r="http://schemas.openxmlformats.org/officeDocument/2006/relationships" id="263" r:id="R814abf4d427c44a3"/>
    <p:sldId xmlns:r="http://schemas.openxmlformats.org/officeDocument/2006/relationships" id="264" r:id="Re5d1608ce9e24059"/>
    <p:sldId xmlns:r="http://schemas.openxmlformats.org/officeDocument/2006/relationships" id="265" r:id="R64e5a9ab6c1d431e"/>
    <p:sldId xmlns:r="http://schemas.openxmlformats.org/officeDocument/2006/relationships" id="266" r:id="Re8d60ab321e34dbe"/>
    <p:sldId xmlns:r="http://schemas.openxmlformats.org/officeDocument/2006/relationships" id="267" r:id="R47b87c13bc604cff"/>
    <p:sldId xmlns:r="http://schemas.openxmlformats.org/officeDocument/2006/relationships" id="268" r:id="R4a96d0e081214c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e54a3212d42a0" /><Relationship Type="http://schemas.openxmlformats.org/officeDocument/2006/relationships/slideMaster" Target="/ppt/slideMasters/slideMaster1.xml" Id="Re56e9d8c1a444639" /><Relationship Type="http://schemas.openxmlformats.org/officeDocument/2006/relationships/notesMaster" Target="/ppt/notesMasters/notesMaster1.xml" Id="Rc849cf6291634ee5" /><Relationship Type="http://schemas.openxmlformats.org/officeDocument/2006/relationships/presProps" Target="/ppt/presProps.xml" Id="R16295532453c4ff5" /><Relationship Type="http://schemas.openxmlformats.org/officeDocument/2006/relationships/tableStyles" Target="/ppt/tableStyles.xml" Id="R01e4c27ac14a40e8" /><Relationship Type="http://schemas.openxmlformats.org/officeDocument/2006/relationships/slide" Target="/ppt/slides/slide1.xml" Id="Rb39ee606a98c441e" /><Relationship Type="http://schemas.openxmlformats.org/officeDocument/2006/relationships/slide" Target="/ppt/slides/slide2.xml" Id="R42209e645c074bfc" /><Relationship Type="http://schemas.openxmlformats.org/officeDocument/2006/relationships/slide" Target="/ppt/slides/slide3.xml" Id="Rf3bda0bf328a4a12" /><Relationship Type="http://schemas.openxmlformats.org/officeDocument/2006/relationships/slide" Target="/ppt/slides/slide4.xml" Id="R533b97bd82af4897" /><Relationship Type="http://schemas.openxmlformats.org/officeDocument/2006/relationships/slide" Target="/ppt/slides/slide5.xml" Id="R6635e2eb6be349d3" /><Relationship Type="http://schemas.openxmlformats.org/officeDocument/2006/relationships/slide" Target="/ppt/slides/slide6.xml" Id="R24d994418ae542cb" /><Relationship Type="http://schemas.openxmlformats.org/officeDocument/2006/relationships/slide" Target="/ppt/slides/slide7.xml" Id="R9d5b8b481d68418c" /><Relationship Type="http://schemas.openxmlformats.org/officeDocument/2006/relationships/slide" Target="/ppt/slides/slide8.xml" Id="R814abf4d427c44a3" /><Relationship Type="http://schemas.openxmlformats.org/officeDocument/2006/relationships/slide" Target="/ppt/slides/slide9.xml" Id="Re5d1608ce9e24059" /><Relationship Type="http://schemas.openxmlformats.org/officeDocument/2006/relationships/slide" Target="/ppt/slides/slide10.xml" Id="R64e5a9ab6c1d431e" /><Relationship Type="http://schemas.openxmlformats.org/officeDocument/2006/relationships/slide" Target="/ppt/slides/slide11.xml" Id="Re8d60ab321e34dbe" /><Relationship Type="http://schemas.openxmlformats.org/officeDocument/2006/relationships/slide" Target="/ppt/slides/slide12.xml" Id="R47b87c13bc604cff" /><Relationship Type="http://schemas.openxmlformats.org/officeDocument/2006/relationships/slide" Target="/ppt/slides/slide13.xml" Id="R4a96d0e08121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80250594d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e051a1dd94652" /><Relationship Type="http://schemas.openxmlformats.org/officeDocument/2006/relationships/notesMaster" Target="/ppt/notesMasters/notesMaster1.xml" Id="R01b20c94f3b3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7a679bc8e54fd0" /><Relationship Type="http://schemas.openxmlformats.org/officeDocument/2006/relationships/notesMaster" Target="/ppt/notesMasters/notesMaster1.xml" Id="Rf209a2bfff32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b642e43d64808" /><Relationship Type="http://schemas.openxmlformats.org/officeDocument/2006/relationships/notesMaster" Target="/ppt/notesMasters/notesMaster1.xml" Id="R5e7bd1be3cb140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5d239493994071" /><Relationship Type="http://schemas.openxmlformats.org/officeDocument/2006/relationships/notesMaster" Target="/ppt/notesMasters/notesMaster1.xml" Id="R451082b20f7d45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01c11745b8421d" /><Relationship Type="http://schemas.openxmlformats.org/officeDocument/2006/relationships/notesMaster" Target="/ppt/notesMasters/notesMaster1.xml" Id="Ra57e4aef339a4e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b795a7e5b4420" /><Relationship Type="http://schemas.openxmlformats.org/officeDocument/2006/relationships/notesMaster" Target="/ppt/notesMasters/notesMaster1.xml" Id="R258f295cc80140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775ce45fa54660" /><Relationship Type="http://schemas.openxmlformats.org/officeDocument/2006/relationships/notesMaster" Target="/ppt/notesMasters/notesMaster1.xml" Id="R5201259e647042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f07e5e54d0433e" /><Relationship Type="http://schemas.openxmlformats.org/officeDocument/2006/relationships/notesMaster" Target="/ppt/notesMasters/notesMaster1.xml" Id="R1a24a3e2d8cc45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15119a92834365" /><Relationship Type="http://schemas.openxmlformats.org/officeDocument/2006/relationships/notesMaster" Target="/ppt/notesMasters/notesMaster1.xml" Id="R2ddf3d95ab3e45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217660c875475d" /><Relationship Type="http://schemas.openxmlformats.org/officeDocument/2006/relationships/notesMaster" Target="/ppt/notesMasters/notesMaster1.xml" Id="Rf93f641141fd49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33ed6daf8d4679" /><Relationship Type="http://schemas.openxmlformats.org/officeDocument/2006/relationships/notesMaster" Target="/ppt/notesMasters/notesMaster1.xml" Id="Rf738ab4f976a4c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34b6c57b343b8" /><Relationship Type="http://schemas.openxmlformats.org/officeDocument/2006/relationships/notesMaster" Target="/ppt/notesMasters/notesMaster1.xml" Id="Rad8b40bc384f45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ea7eed29704ab1" /><Relationship Type="http://schemas.openxmlformats.org/officeDocument/2006/relationships/notesMaster" Target="/ppt/notesMasters/notesMaster1.xml" Id="Rd8737f8f06b74d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研究目标是构建评价器。课程 GV02-03 不要求训练新模型，序列 VAE 是生成候选的扩展。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RQ1–RQ3 对应原始任务第 20–22 页。三种策略必须在相同候选池、相同预算下比较。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 1,000；基础 QC 1,000；家族支持 147，歧义 47，排除 806；联合门槛合格 136；最终排名 114。参考按簇隔离。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使用域经验百分位、参考 MSA 的 23 个位点、天然参考最近全局距离及同池已解析距离均值。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数值来自两个相关表。仅解释筛选后的 114 条候选，不推广到全部生成候选或天然蛋白。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散点来自 reports/pareto_ranking.tsv。投影显示两组目标关系，第一前沿仍按完整四维定义，不按二维投影重新判定。完整散点矩阵在报告。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strategy_summary.tsv，固定同池、固定预算；均值不是功能成功率。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 147 条主池的 10,731 对中有 3,377 对未解析。条件均值必须与有效配对比例和全部配对均值界限一起解释，界限不是置信区间。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第一前沿共 10 条，统计每个策略名单从全池第一前沿纳入多少条；不将各子集自己的前沿混为全池前沿。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消融仅移除排序目标，硬门槛仍保持。保守性影响较小不能推广为生物学冗余。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次独立相对权重扰动 ±20%，重新归一化；门槛共 27 组，每组会重建合格参照池。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 114 条候选池无放回抽取 20 条，重复 1,000 次。仅比较固定批次计算代理；经验比例不是生物学功能检验。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评价及筛选链路已复现。原训练 checkpoint 未交付，不能声称原训练与原采样已重放。家族/Pfam/TM 本次校验证据而未完整重跑外部工具。</a:t>
            </a:r>
          </a:p>
          <a:p xmlns:a="http://schemas.openxmlformats.org/drawingml/2006/main">
            <a:r>
              <a:t>来源：reports/PROJECT_REPORT.md；results/gv02_03_v2/d_evaluation_member_a_v1/。固定批次计算结论，参考暂定，未验证生物学功能。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f2926d47d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e1ae6934404c64" /><Relationship Type="http://schemas.openxmlformats.org/officeDocument/2006/relationships/slideLayout" Target="/ppt/slideLayouts/slideLayout1.xml" Id="Ra0d307be8b284d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307be8b284d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5bdbe6fef4c3d" /><Relationship Type="http://schemas.openxmlformats.org/officeDocument/2006/relationships/notesSlide" Target="/ppt/notesSlides/notesSlide1.xml" Id="R973fe09de31d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6e5c2e26e4fc1" /><Relationship Type="http://schemas.openxmlformats.org/officeDocument/2006/relationships/notesSlide" Target="/ppt/notesSlides/notesSlide2.xml" Id="R6f49478e854040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9c20121dc455c" /><Relationship Type="http://schemas.openxmlformats.org/officeDocument/2006/relationships/notesSlide" Target="/ppt/notesSlides/notesSlide3.xml" Id="R407f060d73c948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57f8fd124dca" /><Relationship Type="http://schemas.openxmlformats.org/officeDocument/2006/relationships/notesSlide" Target="/ppt/notesSlides/notesSlide4.xml" Id="Rc3d0b03f5eb1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f253f7b1b4c1e" /><Relationship Type="http://schemas.openxmlformats.org/officeDocument/2006/relationships/notesSlide" Target="/ppt/notesSlides/notesSlide5.xml" Id="Rc6c9ef510d65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b0ec578174566" /><Relationship Type="http://schemas.openxmlformats.org/officeDocument/2006/relationships/chart" Target="/ppt/slides/charts/chart1.xml" Id="R29e5ab242e984ee1" /><Relationship Type="http://schemas.openxmlformats.org/officeDocument/2006/relationships/chart" Target="/ppt/slides/charts/chart2.xml" Id="R110ea611ac1f409a" /><Relationship Type="http://schemas.openxmlformats.org/officeDocument/2006/relationships/notesSlide" Target="/ppt/notesSlides/notesSlide6.xml" Id="R60c38a92065f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e5102c3d5426f" /><Relationship Type="http://schemas.openxmlformats.org/officeDocument/2006/relationships/chart" Target="/ppt/slides/charts/chart3.xml" Id="Rac973bf2f1a048ee" /><Relationship Type="http://schemas.openxmlformats.org/officeDocument/2006/relationships/notesSlide" Target="/ppt/notesSlides/notesSlide7.xml" Id="Rc346e43aeffe49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2b6d8667645fd" /><Relationship Type="http://schemas.openxmlformats.org/officeDocument/2006/relationships/notesSlide" Target="/ppt/notesSlides/notesSlide8.xml" Id="Rf18b65c077534d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d5d5677884e4d" /><Relationship Type="http://schemas.openxmlformats.org/officeDocument/2006/relationships/notesSlide" Target="/ppt/notesSlides/notesSlide9.xml" Id="R899f9256701448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344ac850a46cf" /><Relationship Type="http://schemas.openxmlformats.org/officeDocument/2006/relationships/chart" Target="/ppt/slides/charts/chart4.xml" Id="R0b0bb7ede91e4d21" /><Relationship Type="http://schemas.openxmlformats.org/officeDocument/2006/relationships/notesSlide" Target="/ppt/notesSlides/notesSlide10.xml" Id="R041015466edc4c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5a1d70de44333" /><Relationship Type="http://schemas.openxmlformats.org/officeDocument/2006/relationships/chart" Target="/ppt/slides/charts/chart5.xml" Id="R17e36aaea81548ab" /><Relationship Type="http://schemas.openxmlformats.org/officeDocument/2006/relationships/chart" Target="/ppt/slides/charts/chart6.xml" Id="R189edf3b12b64640" /><Relationship Type="http://schemas.openxmlformats.org/officeDocument/2006/relationships/notesSlide" Target="/ppt/notesSlides/notesSlide11.xml" Id="R708afd7bd4a34d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a1f4a4d2e4c22" /><Relationship Type="http://schemas.openxmlformats.org/officeDocument/2006/relationships/notesSlide" Target="/ppt/notesSlides/notesSlide12.xml" Id="R979031c0c0a44f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c8650515345d4" /><Relationship Type="http://schemas.openxmlformats.org/officeDocument/2006/relationships/notesSlide" Target="/ppt/notesSlides/notesSlide13.xml" Id="R309747cfa65248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其他候选</c:v>
          </c:tx>
          <c:spPr>
            <a:solidFill xmlns:a="http://schemas.openxmlformats.org/drawingml/2006/main">
              <a:srgbClr val="B3BEC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Data'!$A$2:$A$105</c:f>
              <c:numCache>
                <c:formatCode>General</c:formatCode>
                <c:ptCount val="104"/>
                <c:pt idx="0">
                  <c:v>0.2540983607</c:v>
                </c:pt>
                <c:pt idx="1">
                  <c:v>0.4836065574</c:v>
                </c:pt>
                <c:pt idx="2">
                  <c:v>0.9590163934</c:v>
                </c:pt>
                <c:pt idx="3">
                  <c:v>0.9918032787</c:v>
                </c:pt>
                <c:pt idx="4">
                  <c:v>0.9590163934</c:v>
                </c:pt>
                <c:pt idx="5">
                  <c:v>0.1475409836</c:v>
                </c:pt>
                <c:pt idx="6">
                  <c:v>0.3606557377</c:v>
                </c:pt>
                <c:pt idx="7">
                  <c:v>0.6967213115</c:v>
                </c:pt>
                <c:pt idx="8">
                  <c:v>0.7704918033</c:v>
                </c:pt>
                <c:pt idx="9">
                  <c:v>0.7540983607</c:v>
                </c:pt>
                <c:pt idx="10">
                  <c:v>0.9836065574</c:v>
                </c:pt>
                <c:pt idx="11">
                  <c:v>0.7295081967</c:v>
                </c:pt>
                <c:pt idx="12">
                  <c:v>0.9836065574</c:v>
                </c:pt>
                <c:pt idx="13">
                  <c:v>0.09016393443</c:v>
                </c:pt>
                <c:pt idx="14">
                  <c:v>0</c:v>
                </c:pt>
                <c:pt idx="15">
                  <c:v>0.9590163934</c:v>
                </c:pt>
                <c:pt idx="16">
                  <c:v>0.868852459</c:v>
                </c:pt>
                <c:pt idx="17">
                  <c:v>0.9180327869</c:v>
                </c:pt>
                <c:pt idx="18">
                  <c:v>0.6803278689</c:v>
                </c:pt>
                <c:pt idx="19">
                  <c:v>0.5</c:v>
                </c:pt>
                <c:pt idx="20">
                  <c:v>0.9590163934</c:v>
                </c:pt>
                <c:pt idx="21">
                  <c:v>0.5245901639</c:v>
                </c:pt>
                <c:pt idx="22">
                  <c:v>0.237704918</c:v>
                </c:pt>
                <c:pt idx="23">
                  <c:v>0.9836065574</c:v>
                </c:pt>
                <c:pt idx="24">
                  <c:v>0.4344262295</c:v>
                </c:pt>
                <c:pt idx="25">
                  <c:v>0.06557377049</c:v>
                </c:pt>
                <c:pt idx="26">
                  <c:v>0.7540983607</c:v>
                </c:pt>
                <c:pt idx="27">
                  <c:v>0.7540983607</c:v>
                </c:pt>
                <c:pt idx="28">
                  <c:v>0.4918032787</c:v>
                </c:pt>
                <c:pt idx="29">
                  <c:v>0.9754098361</c:v>
                </c:pt>
                <c:pt idx="30">
                  <c:v>0.8606557377</c:v>
                </c:pt>
                <c:pt idx="31">
                  <c:v>0.5983606557</c:v>
                </c:pt>
                <c:pt idx="32">
                  <c:v>0.893442623</c:v>
                </c:pt>
                <c:pt idx="33">
                  <c:v>0.9180327869</c:v>
                </c:pt>
                <c:pt idx="34">
                  <c:v>0.4836065574</c:v>
                </c:pt>
                <c:pt idx="35">
                  <c:v>0.2540983607</c:v>
                </c:pt>
                <c:pt idx="36">
                  <c:v>0.3852459016</c:v>
                </c:pt>
                <c:pt idx="37">
                  <c:v>0.9836065574</c:v>
                </c:pt>
                <c:pt idx="38">
                  <c:v>0.9836065574</c:v>
                </c:pt>
                <c:pt idx="39">
                  <c:v>0.868852459</c:v>
                </c:pt>
                <c:pt idx="40">
                  <c:v>0.8606557377</c:v>
                </c:pt>
                <c:pt idx="41">
                  <c:v>0.893442623</c:v>
                </c:pt>
                <c:pt idx="42">
                  <c:v>0.5983606557</c:v>
                </c:pt>
                <c:pt idx="43">
                  <c:v>0.9590163934</c:v>
                </c:pt>
                <c:pt idx="44">
                  <c:v>0.5245901639</c:v>
                </c:pt>
                <c:pt idx="45">
                  <c:v>0.9344262295</c:v>
                </c:pt>
                <c:pt idx="46">
                  <c:v>0.893442623</c:v>
                </c:pt>
                <c:pt idx="47">
                  <c:v>0.4426229508</c:v>
                </c:pt>
                <c:pt idx="48">
                  <c:v>0.893442623</c:v>
                </c:pt>
                <c:pt idx="49">
                  <c:v>0.5655737705</c:v>
                </c:pt>
                <c:pt idx="50">
                  <c:v>0</c:v>
                </c:pt>
                <c:pt idx="51">
                  <c:v>0.9836065574</c:v>
                </c:pt>
                <c:pt idx="52">
                  <c:v>0.9754098361</c:v>
                </c:pt>
                <c:pt idx="53">
                  <c:v>0.9590163934</c:v>
                </c:pt>
                <c:pt idx="54">
                  <c:v>0.2049180328</c:v>
                </c:pt>
                <c:pt idx="55">
                  <c:v>0.868852459</c:v>
                </c:pt>
                <c:pt idx="56">
                  <c:v>0.5</c:v>
                </c:pt>
                <c:pt idx="57">
                  <c:v>0.8114754098</c:v>
                </c:pt>
                <c:pt idx="58">
                  <c:v>0.1803278689</c:v>
                </c:pt>
                <c:pt idx="59">
                  <c:v>0.8032786885</c:v>
                </c:pt>
                <c:pt idx="60">
                  <c:v>0.7131147541</c:v>
                </c:pt>
                <c:pt idx="61">
                  <c:v>0.7213114754</c:v>
                </c:pt>
                <c:pt idx="62">
                  <c:v>0.8606557377</c:v>
                </c:pt>
                <c:pt idx="63">
                  <c:v>0.2786885246</c:v>
                </c:pt>
                <c:pt idx="64">
                  <c:v>0.9754098361</c:v>
                </c:pt>
                <c:pt idx="65">
                  <c:v>0.7131147541</c:v>
                </c:pt>
                <c:pt idx="66">
                  <c:v>0.9836065574</c:v>
                </c:pt>
                <c:pt idx="67">
                  <c:v>0.8524590164</c:v>
                </c:pt>
                <c:pt idx="68">
                  <c:v>0.8114754098</c:v>
                </c:pt>
                <c:pt idx="69">
                  <c:v>0.9098360656</c:v>
                </c:pt>
                <c:pt idx="70">
                  <c:v>0.8442622951</c:v>
                </c:pt>
                <c:pt idx="71">
                  <c:v>0.9098360656</c:v>
                </c:pt>
                <c:pt idx="72">
                  <c:v>0.868852459</c:v>
                </c:pt>
                <c:pt idx="73">
                  <c:v>0.9754098361</c:v>
                </c:pt>
                <c:pt idx="74">
                  <c:v>0.9836065574</c:v>
                </c:pt>
                <c:pt idx="75">
                  <c:v>0.9836065574</c:v>
                </c:pt>
                <c:pt idx="76">
                  <c:v>0.7131147541</c:v>
                </c:pt>
                <c:pt idx="77">
                  <c:v>0</c:v>
                </c:pt>
                <c:pt idx="78">
                  <c:v>0.9098360656</c:v>
                </c:pt>
                <c:pt idx="79">
                  <c:v>0.8114754098</c:v>
                </c:pt>
                <c:pt idx="80">
                  <c:v>0.7540983607</c:v>
                </c:pt>
                <c:pt idx="81">
                  <c:v>0.8524590164</c:v>
                </c:pt>
                <c:pt idx="82">
                  <c:v>0.762295082</c:v>
                </c:pt>
                <c:pt idx="83">
                  <c:v>0.7786885246</c:v>
                </c:pt>
                <c:pt idx="84">
                  <c:v>0.8524590164</c:v>
                </c:pt>
                <c:pt idx="85">
                  <c:v>0.8114754098</c:v>
                </c:pt>
                <c:pt idx="86">
                  <c:v>0.8442622951</c:v>
                </c:pt>
                <c:pt idx="87">
                  <c:v>0.7540983607</c:v>
                </c:pt>
                <c:pt idx="88">
                  <c:v>0.8032786885</c:v>
                </c:pt>
                <c:pt idx="89">
                  <c:v>0.7786885246</c:v>
                </c:pt>
                <c:pt idx="90">
                  <c:v>0.737704918</c:v>
                </c:pt>
                <c:pt idx="91">
                  <c:v>0.7213114754</c:v>
                </c:pt>
                <c:pt idx="92">
                  <c:v>0</c:v>
                </c:pt>
                <c:pt idx="93">
                  <c:v>0.7540983607</c:v>
                </c:pt>
                <c:pt idx="94">
                  <c:v>0.7213114754</c:v>
                </c:pt>
                <c:pt idx="95">
                  <c:v>0.737704918</c:v>
                </c:pt>
                <c:pt idx="96">
                  <c:v>0.5983606557</c:v>
                </c:pt>
                <c:pt idx="97">
                  <c:v>0.7213114754</c:v>
                </c:pt>
                <c:pt idx="98">
                  <c:v>0.6393442623</c:v>
                </c:pt>
                <c:pt idx="99">
                  <c:v>0.6393442623</c:v>
                </c:pt>
                <c:pt idx="100">
                  <c:v>0.3606557377</c:v>
                </c:pt>
                <c:pt idx="101">
                  <c:v>0.5983606557</c:v>
                </c:pt>
                <c:pt idx="102">
                  <c:v>0.4918032787</c:v>
                </c:pt>
                <c:pt idx="103">
                  <c:v>0.2786885246</c:v>
                </c:pt>
              </c:numCache>
            </c:numRef>
          </c:xVal>
          <c:yVal>
            <c:numRef>
              <c:f>'Chart Data'!$B$2:$B$105</c:f>
              <c:numCache>
                <c:formatCode>General</c:formatCode>
                <c:ptCount val="104"/>
                <c:pt idx="0">
                  <c:v>0.388888888889</c:v>
                </c:pt>
                <c:pt idx="1">
                  <c:v>0.364705882353</c:v>
                </c:pt>
                <c:pt idx="2">
                  <c:v>0.298076923077</c:v>
                </c:pt>
                <c:pt idx="3">
                  <c:v>0.309523809524</c:v>
                </c:pt>
                <c:pt idx="4">
                  <c:v>0.313131313131</c:v>
                </c:pt>
                <c:pt idx="5">
                  <c:v>0.385416666667</c:v>
                </c:pt>
                <c:pt idx="6">
                  <c:v>0.367346938776</c:v>
                </c:pt>
                <c:pt idx="7">
                  <c:v>0.336842105263</c:v>
                </c:pt>
                <c:pt idx="8">
                  <c:v>0.330188679245</c:v>
                </c:pt>
                <c:pt idx="9">
                  <c:v>0.347368421053</c:v>
                </c:pt>
                <c:pt idx="10">
                  <c:v>0.336956521739</c:v>
                </c:pt>
                <c:pt idx="11">
                  <c:v>0.356435643564</c:v>
                </c:pt>
                <c:pt idx="12">
                  <c:v>0.217391304348</c:v>
                </c:pt>
                <c:pt idx="13">
                  <c:v>0.309278350515</c:v>
                </c:pt>
                <c:pt idx="14">
                  <c:v>0.34375</c:v>
                </c:pt>
                <c:pt idx="15">
                  <c:v>0.278846153846</c:v>
                </c:pt>
                <c:pt idx="16">
                  <c:v>0.297872340426</c:v>
                </c:pt>
                <c:pt idx="17">
                  <c:v>0.282608695652</c:v>
                </c:pt>
                <c:pt idx="18">
                  <c:v>0.336842105263</c:v>
                </c:pt>
                <c:pt idx="19">
                  <c:v>0.337078651685</c:v>
                </c:pt>
                <c:pt idx="20">
                  <c:v>0.304347826087</c:v>
                </c:pt>
                <c:pt idx="21">
                  <c:v>0.308411214953</c:v>
                </c:pt>
                <c:pt idx="22">
                  <c:v>0.306930693069</c:v>
                </c:pt>
                <c:pt idx="23">
                  <c:v>0.129032258065</c:v>
                </c:pt>
                <c:pt idx="24">
                  <c:v>0.305263157895</c:v>
                </c:pt>
                <c:pt idx="25">
                  <c:v>0.297872340426</c:v>
                </c:pt>
                <c:pt idx="26">
                  <c:v>0.28</c:v>
                </c:pt>
                <c:pt idx="27">
                  <c:v>0.233333333333</c:v>
                </c:pt>
                <c:pt idx="28">
                  <c:v>0.265957446809</c:v>
                </c:pt>
                <c:pt idx="29">
                  <c:v>0.173913043478</c:v>
                </c:pt>
                <c:pt idx="30">
                  <c:v>0.260869565217</c:v>
                </c:pt>
                <c:pt idx="31">
                  <c:v>0.26213592233</c:v>
                </c:pt>
                <c:pt idx="32">
                  <c:v>0.202127659574</c:v>
                </c:pt>
                <c:pt idx="33">
                  <c:v>0.193548387097</c:v>
                </c:pt>
                <c:pt idx="34">
                  <c:v>0.28431372549</c:v>
                </c:pt>
                <c:pt idx="35">
                  <c:v>0.268518518519</c:v>
                </c:pt>
                <c:pt idx="36">
                  <c:v>0.264150943396</c:v>
                </c:pt>
                <c:pt idx="37">
                  <c:v>0.105263157895</c:v>
                </c:pt>
                <c:pt idx="38">
                  <c:v>0.0851063829787</c:v>
                </c:pt>
                <c:pt idx="39">
                  <c:v>0.191489361702</c:v>
                </c:pt>
                <c:pt idx="40">
                  <c:v>0.238636363636</c:v>
                </c:pt>
                <c:pt idx="41">
                  <c:v>0.202127659574</c:v>
                </c:pt>
                <c:pt idx="42">
                  <c:v>0.224489795918</c:v>
                </c:pt>
                <c:pt idx="43">
                  <c:v>0.148936170213</c:v>
                </c:pt>
                <c:pt idx="44">
                  <c:v>0.18691588785</c:v>
                </c:pt>
                <c:pt idx="45">
                  <c:v>0.168421052632</c:v>
                </c:pt>
                <c:pt idx="46">
                  <c:v>0.166666666667</c:v>
                </c:pt>
                <c:pt idx="47">
                  <c:v>0.229885057471</c:v>
                </c:pt>
                <c:pt idx="48">
                  <c:v>0.131313131313</c:v>
                </c:pt>
                <c:pt idx="49">
                  <c:v>0.198113207547</c:v>
                </c:pt>
                <c:pt idx="50">
                  <c:v>0.229166666667</c:v>
                </c:pt>
                <c:pt idx="51">
                  <c:v>0.0752688172043</c:v>
                </c:pt>
                <c:pt idx="52">
                  <c:v>0.0736842105263</c:v>
                </c:pt>
                <c:pt idx="53">
                  <c:v>0.117021276596</c:v>
                </c:pt>
                <c:pt idx="54">
                  <c:v>0.202127659574</c:v>
                </c:pt>
                <c:pt idx="55">
                  <c:v>0.147058823529</c:v>
                </c:pt>
                <c:pt idx="56">
                  <c:v>0.20652173913</c:v>
                </c:pt>
                <c:pt idx="57">
                  <c:v>0.197916666667</c:v>
                </c:pt>
                <c:pt idx="58">
                  <c:v>0.225225225225</c:v>
                </c:pt>
                <c:pt idx="59">
                  <c:v>0.223404255319</c:v>
                </c:pt>
                <c:pt idx="60">
                  <c:v>0.202127659574</c:v>
                </c:pt>
                <c:pt idx="61">
                  <c:v>0.218390804598</c:v>
                </c:pt>
                <c:pt idx="62">
                  <c:v>0.2</c:v>
                </c:pt>
                <c:pt idx="63">
                  <c:v>0.177570093458</c:v>
                </c:pt>
                <c:pt idx="64">
                  <c:v>0.0631578947368</c:v>
                </c:pt>
                <c:pt idx="65">
                  <c:v>0.197916666667</c:v>
                </c:pt>
                <c:pt idx="66">
                  <c:v>0.063829787234</c:v>
                </c:pt>
                <c:pt idx="67">
                  <c:v>0.123711340206</c:v>
                </c:pt>
                <c:pt idx="68">
                  <c:v>0.191489361702</c:v>
                </c:pt>
                <c:pt idx="69">
                  <c:v>0.0947368421053</c:v>
                </c:pt>
                <c:pt idx="70">
                  <c:v>0.176470588235</c:v>
                </c:pt>
                <c:pt idx="71">
                  <c:v>0.117021276596</c:v>
                </c:pt>
                <c:pt idx="72">
                  <c:v>0.0736842105263</c:v>
                </c:pt>
                <c:pt idx="73">
                  <c:v>0.0736842105263</c:v>
                </c:pt>
                <c:pt idx="74">
                  <c:v>0.0631578947368</c:v>
                </c:pt>
                <c:pt idx="75">
                  <c:v>0.0526315789474</c:v>
                </c:pt>
                <c:pt idx="76">
                  <c:v>0.170212765957</c:v>
                </c:pt>
                <c:pt idx="77">
                  <c:v>0.138613861386</c:v>
                </c:pt>
                <c:pt idx="78">
                  <c:v>0.0526315789474</c:v>
                </c:pt>
                <c:pt idx="79">
                  <c:v>0.102040816327</c:v>
                </c:pt>
                <c:pt idx="80">
                  <c:v>0.168421052632</c:v>
                </c:pt>
                <c:pt idx="81">
                  <c:v>0.10752688172</c:v>
                </c:pt>
                <c:pt idx="82">
                  <c:v>0.117021276596</c:v>
                </c:pt>
                <c:pt idx="83">
                  <c:v>0.112244897959</c:v>
                </c:pt>
                <c:pt idx="84">
                  <c:v>0.105263157895</c:v>
                </c:pt>
                <c:pt idx="85">
                  <c:v>0.105263157895</c:v>
                </c:pt>
                <c:pt idx="86">
                  <c:v>0.0631578947368</c:v>
                </c:pt>
                <c:pt idx="87">
                  <c:v>0.157894736842</c:v>
                </c:pt>
                <c:pt idx="88">
                  <c:v>0.0842105263158</c:v>
                </c:pt>
                <c:pt idx="89">
                  <c:v>0.10752688172</c:v>
                </c:pt>
                <c:pt idx="90">
                  <c:v>0.115789473684</c:v>
                </c:pt>
                <c:pt idx="91">
                  <c:v>0.145833333333</c:v>
                </c:pt>
                <c:pt idx="92">
                  <c:v>0.150537634409</c:v>
                </c:pt>
                <c:pt idx="93">
                  <c:v>0.126315789474</c:v>
                </c:pt>
                <c:pt idx="94">
                  <c:v>0.148936170213</c:v>
                </c:pt>
                <c:pt idx="95">
                  <c:v>0.0909090909091</c:v>
                </c:pt>
                <c:pt idx="96">
                  <c:v>0.145833333333</c:v>
                </c:pt>
                <c:pt idx="97">
                  <c:v>0.105263157895</c:v>
                </c:pt>
                <c:pt idx="98">
                  <c:v>0.0967741935484</c:v>
                </c:pt>
                <c:pt idx="99">
                  <c:v>0.0526315789474</c:v>
                </c:pt>
                <c:pt idx="100">
                  <c:v>0.132653061224</c:v>
                </c:pt>
                <c:pt idx="101">
                  <c:v>0.114583333333</c:v>
                </c:pt>
                <c:pt idx="102">
                  <c:v>0.09375</c:v>
                </c:pt>
                <c:pt idx="103">
                  <c:v>0.103092783505</c:v>
                </c:pt>
              </c:numCache>
            </c:numRef>
          </c:yVal>
        </c:ser>
        <c:ser>
          <c:idx val="1"/>
          <c:order val="1"/>
          <c:tx>
            <c:v>第一前沿</c:v>
          </c:tx>
          <c:spPr>
            <a:solidFill xmlns:a="http://schemas.openxmlformats.org/drawingml/2006/main">
              <a:srgbClr val="14918B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0.2786885246</c:v>
                </c:pt>
                <c:pt idx="1">
                  <c:v>0.9918032787</c:v>
                </c:pt>
                <c:pt idx="2">
                  <c:v>0.131147541</c:v>
                </c:pt>
                <c:pt idx="3">
                  <c:v>0.2786885246</c:v>
                </c:pt>
                <c:pt idx="4">
                  <c:v>1</c:v>
                </c:pt>
                <c:pt idx="5">
                  <c:v>0.4918032787</c:v>
                </c:pt>
                <c:pt idx="6">
                  <c:v>0.5163934426</c:v>
                </c:pt>
                <c:pt idx="7">
                  <c:v>0.3606557377</c:v>
                </c:pt>
                <c:pt idx="8">
                  <c:v>0.8524590164</c:v>
                </c:pt>
                <c:pt idx="9">
                  <c:v>0.8606557377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0.581818181818</c:v>
                </c:pt>
                <c:pt idx="1">
                  <c:v>0.340425531915</c:v>
                </c:pt>
                <c:pt idx="2">
                  <c:v>0.440366972477</c:v>
                </c:pt>
                <c:pt idx="3">
                  <c:v>0.421052631579</c:v>
                </c:pt>
                <c:pt idx="4">
                  <c:v>0.388888888889</c:v>
                </c:pt>
                <c:pt idx="5">
                  <c:v>0.42</c:v>
                </c:pt>
                <c:pt idx="6">
                  <c:v>0.353535353535</c:v>
                </c:pt>
                <c:pt idx="7">
                  <c:v>0.37962962963</c:v>
                </c:pt>
                <c:pt idx="8">
                  <c:v>0.373737373737</c:v>
                </c:pt>
                <c:pt idx="9">
                  <c:v>0.36036036036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新颖性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约束满足度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其他候选</c:v>
          </c:tx>
          <c:spPr>
            <a:solidFill xmlns:a="http://schemas.openxmlformats.org/drawingml/2006/main">
              <a:srgbClr val="B3BEC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Data'!$A$2:$A$105</c:f>
              <c:numCache>
                <c:formatCode>General</c:formatCode>
                <c:ptCount val="104"/>
                <c:pt idx="0">
                  <c:v>0.388888888889</c:v>
                </c:pt>
                <c:pt idx="1">
                  <c:v>0.364705882353</c:v>
                </c:pt>
                <c:pt idx="2">
                  <c:v>0.298076923077</c:v>
                </c:pt>
                <c:pt idx="3">
                  <c:v>0.309523809524</c:v>
                </c:pt>
                <c:pt idx="4">
                  <c:v>0.313131313131</c:v>
                </c:pt>
                <c:pt idx="5">
                  <c:v>0.385416666667</c:v>
                </c:pt>
                <c:pt idx="6">
                  <c:v>0.367346938776</c:v>
                </c:pt>
                <c:pt idx="7">
                  <c:v>0.336842105263</c:v>
                </c:pt>
                <c:pt idx="8">
                  <c:v>0.330188679245</c:v>
                </c:pt>
                <c:pt idx="9">
                  <c:v>0.347368421053</c:v>
                </c:pt>
                <c:pt idx="10">
                  <c:v>0.336956521739</c:v>
                </c:pt>
                <c:pt idx="11">
                  <c:v>0.356435643564</c:v>
                </c:pt>
                <c:pt idx="12">
                  <c:v>0.217391304348</c:v>
                </c:pt>
                <c:pt idx="13">
                  <c:v>0.309278350515</c:v>
                </c:pt>
                <c:pt idx="14">
                  <c:v>0.34375</c:v>
                </c:pt>
                <c:pt idx="15">
                  <c:v>0.278846153846</c:v>
                </c:pt>
                <c:pt idx="16">
                  <c:v>0.297872340426</c:v>
                </c:pt>
                <c:pt idx="17">
                  <c:v>0.282608695652</c:v>
                </c:pt>
                <c:pt idx="18">
                  <c:v>0.336842105263</c:v>
                </c:pt>
                <c:pt idx="19">
                  <c:v>0.337078651685</c:v>
                </c:pt>
                <c:pt idx="20">
                  <c:v>0.304347826087</c:v>
                </c:pt>
                <c:pt idx="21">
                  <c:v>0.308411214953</c:v>
                </c:pt>
                <c:pt idx="22">
                  <c:v>0.306930693069</c:v>
                </c:pt>
                <c:pt idx="23">
                  <c:v>0.129032258065</c:v>
                </c:pt>
                <c:pt idx="24">
                  <c:v>0.305263157895</c:v>
                </c:pt>
                <c:pt idx="25">
                  <c:v>0.297872340426</c:v>
                </c:pt>
                <c:pt idx="26">
                  <c:v>0.28</c:v>
                </c:pt>
                <c:pt idx="27">
                  <c:v>0.233333333333</c:v>
                </c:pt>
                <c:pt idx="28">
                  <c:v>0.265957446809</c:v>
                </c:pt>
                <c:pt idx="29">
                  <c:v>0.173913043478</c:v>
                </c:pt>
                <c:pt idx="30">
                  <c:v>0.260869565217</c:v>
                </c:pt>
                <c:pt idx="31">
                  <c:v>0.26213592233</c:v>
                </c:pt>
                <c:pt idx="32">
                  <c:v>0.202127659574</c:v>
                </c:pt>
                <c:pt idx="33">
                  <c:v>0.193548387097</c:v>
                </c:pt>
                <c:pt idx="34">
                  <c:v>0.28431372549</c:v>
                </c:pt>
                <c:pt idx="35">
                  <c:v>0.268518518519</c:v>
                </c:pt>
                <c:pt idx="36">
                  <c:v>0.264150943396</c:v>
                </c:pt>
                <c:pt idx="37">
                  <c:v>0.105263157895</c:v>
                </c:pt>
                <c:pt idx="38">
                  <c:v>0.0851063829787</c:v>
                </c:pt>
                <c:pt idx="39">
                  <c:v>0.191489361702</c:v>
                </c:pt>
                <c:pt idx="40">
                  <c:v>0.238636363636</c:v>
                </c:pt>
                <c:pt idx="41">
                  <c:v>0.202127659574</c:v>
                </c:pt>
                <c:pt idx="42">
                  <c:v>0.224489795918</c:v>
                </c:pt>
                <c:pt idx="43">
                  <c:v>0.148936170213</c:v>
                </c:pt>
                <c:pt idx="44">
                  <c:v>0.18691588785</c:v>
                </c:pt>
                <c:pt idx="45">
                  <c:v>0.168421052632</c:v>
                </c:pt>
                <c:pt idx="46">
                  <c:v>0.166666666667</c:v>
                </c:pt>
                <c:pt idx="47">
                  <c:v>0.229885057471</c:v>
                </c:pt>
                <c:pt idx="48">
                  <c:v>0.131313131313</c:v>
                </c:pt>
                <c:pt idx="49">
                  <c:v>0.198113207547</c:v>
                </c:pt>
                <c:pt idx="50">
                  <c:v>0.229166666667</c:v>
                </c:pt>
                <c:pt idx="51">
                  <c:v>0.0752688172043</c:v>
                </c:pt>
                <c:pt idx="52">
                  <c:v>0.0736842105263</c:v>
                </c:pt>
                <c:pt idx="53">
                  <c:v>0.117021276596</c:v>
                </c:pt>
                <c:pt idx="54">
                  <c:v>0.202127659574</c:v>
                </c:pt>
                <c:pt idx="55">
                  <c:v>0.147058823529</c:v>
                </c:pt>
                <c:pt idx="56">
                  <c:v>0.20652173913</c:v>
                </c:pt>
                <c:pt idx="57">
                  <c:v>0.197916666667</c:v>
                </c:pt>
                <c:pt idx="58">
                  <c:v>0.225225225225</c:v>
                </c:pt>
                <c:pt idx="59">
                  <c:v>0.223404255319</c:v>
                </c:pt>
                <c:pt idx="60">
                  <c:v>0.202127659574</c:v>
                </c:pt>
                <c:pt idx="61">
                  <c:v>0.218390804598</c:v>
                </c:pt>
                <c:pt idx="62">
                  <c:v>0.2</c:v>
                </c:pt>
                <c:pt idx="63">
                  <c:v>0.177570093458</c:v>
                </c:pt>
                <c:pt idx="64">
                  <c:v>0.0631578947368</c:v>
                </c:pt>
                <c:pt idx="65">
                  <c:v>0.197916666667</c:v>
                </c:pt>
                <c:pt idx="66">
                  <c:v>0.063829787234</c:v>
                </c:pt>
                <c:pt idx="67">
                  <c:v>0.123711340206</c:v>
                </c:pt>
                <c:pt idx="68">
                  <c:v>0.191489361702</c:v>
                </c:pt>
                <c:pt idx="69">
                  <c:v>0.0947368421053</c:v>
                </c:pt>
                <c:pt idx="70">
                  <c:v>0.176470588235</c:v>
                </c:pt>
                <c:pt idx="71">
                  <c:v>0.117021276596</c:v>
                </c:pt>
                <c:pt idx="72">
                  <c:v>0.0736842105263</c:v>
                </c:pt>
                <c:pt idx="73">
                  <c:v>0.0736842105263</c:v>
                </c:pt>
                <c:pt idx="74">
                  <c:v>0.0631578947368</c:v>
                </c:pt>
                <c:pt idx="75">
                  <c:v>0.0526315789474</c:v>
                </c:pt>
                <c:pt idx="76">
                  <c:v>0.170212765957</c:v>
                </c:pt>
                <c:pt idx="77">
                  <c:v>0.138613861386</c:v>
                </c:pt>
                <c:pt idx="78">
                  <c:v>0.0526315789474</c:v>
                </c:pt>
                <c:pt idx="79">
                  <c:v>0.102040816327</c:v>
                </c:pt>
                <c:pt idx="80">
                  <c:v>0.168421052632</c:v>
                </c:pt>
                <c:pt idx="81">
                  <c:v>0.10752688172</c:v>
                </c:pt>
                <c:pt idx="82">
                  <c:v>0.117021276596</c:v>
                </c:pt>
                <c:pt idx="83">
                  <c:v>0.112244897959</c:v>
                </c:pt>
                <c:pt idx="84">
                  <c:v>0.105263157895</c:v>
                </c:pt>
                <c:pt idx="85">
                  <c:v>0.105263157895</c:v>
                </c:pt>
                <c:pt idx="86">
                  <c:v>0.0631578947368</c:v>
                </c:pt>
                <c:pt idx="87">
                  <c:v>0.157894736842</c:v>
                </c:pt>
                <c:pt idx="88">
                  <c:v>0.0842105263158</c:v>
                </c:pt>
                <c:pt idx="89">
                  <c:v>0.10752688172</c:v>
                </c:pt>
                <c:pt idx="90">
                  <c:v>0.115789473684</c:v>
                </c:pt>
                <c:pt idx="91">
                  <c:v>0.145833333333</c:v>
                </c:pt>
                <c:pt idx="92">
                  <c:v>0.150537634409</c:v>
                </c:pt>
                <c:pt idx="93">
                  <c:v>0.126315789474</c:v>
                </c:pt>
                <c:pt idx="94">
                  <c:v>0.148936170213</c:v>
                </c:pt>
                <c:pt idx="95">
                  <c:v>0.0909090909091</c:v>
                </c:pt>
                <c:pt idx="96">
                  <c:v>0.145833333333</c:v>
                </c:pt>
                <c:pt idx="97">
                  <c:v>0.105263157895</c:v>
                </c:pt>
                <c:pt idx="98">
                  <c:v>0.0967741935484</c:v>
                </c:pt>
                <c:pt idx="99">
                  <c:v>0.0526315789474</c:v>
                </c:pt>
                <c:pt idx="100">
                  <c:v>0.132653061224</c:v>
                </c:pt>
                <c:pt idx="101">
                  <c:v>0.114583333333</c:v>
                </c:pt>
                <c:pt idx="102">
                  <c:v>0.09375</c:v>
                </c:pt>
                <c:pt idx="103">
                  <c:v>0.103092783505</c:v>
                </c:pt>
              </c:numCache>
            </c:numRef>
          </c:xVal>
          <c:yVal>
            <c:numRef>
              <c:f>'Chart Data'!$B$2:$B$105</c:f>
              <c:numCache>
                <c:formatCode>General</c:formatCode>
                <c:ptCount val="104"/>
                <c:pt idx="0">
                  <c:v>0.459417647557</c:v>
                </c:pt>
                <c:pt idx="1">
                  <c:v>0.429511328099</c:v>
                </c:pt>
                <c:pt idx="2">
                  <c:v>0.431961594603</c:v>
                </c:pt>
                <c:pt idx="3">
                  <c:v>0.393835631502</c:v>
                </c:pt>
                <c:pt idx="4">
                  <c:v>0.408006361769</c:v>
                </c:pt>
                <c:pt idx="5">
                  <c:v>0.462970817659</c:v>
                </c:pt>
                <c:pt idx="6">
                  <c:v>0.447036214628</c:v>
                </c:pt>
                <c:pt idx="7">
                  <c:v>0.434315923854</c:v>
                </c:pt>
                <c:pt idx="8">
                  <c:v>0.434279097926</c:v>
                </c:pt>
                <c:pt idx="9">
                  <c:v>0.453849957453</c:v>
                </c:pt>
                <c:pt idx="10">
                  <c:v>0.407059844678</c:v>
                </c:pt>
                <c:pt idx="11">
                  <c:v>0.451204533627</c:v>
                </c:pt>
                <c:pt idx="12">
                  <c:v>0.326581450718</c:v>
                </c:pt>
                <c:pt idx="13">
                  <c:v>0.44068825349</c:v>
                </c:pt>
                <c:pt idx="14">
                  <c:v>0.420677667602</c:v>
                </c:pt>
                <c:pt idx="15">
                  <c:v>0.398532619551</c:v>
                </c:pt>
                <c:pt idx="16">
                  <c:v>0.367057183486</c:v>
                </c:pt>
                <c:pt idx="17">
                  <c:v>0.393131530621</c:v>
                </c:pt>
                <c:pt idx="18">
                  <c:v>0.412253793836</c:v>
                </c:pt>
                <c:pt idx="19">
                  <c:v>0.436414926012</c:v>
                </c:pt>
                <c:pt idx="20">
                  <c:v>0.385696326546</c:v>
                </c:pt>
                <c:pt idx="21">
                  <c:v>0.418909899002</c:v>
                </c:pt>
                <c:pt idx="22">
                  <c:v>0.424579883828</c:v>
                </c:pt>
                <c:pt idx="23">
                  <c:v>0.295790340028</c:v>
                </c:pt>
                <c:pt idx="24">
                  <c:v>0.411311471014</c:v>
                </c:pt>
                <c:pt idx="25">
                  <c:v>0.413660845192</c:v>
                </c:pt>
                <c:pt idx="26">
                  <c:v>0.386023298512</c:v>
                </c:pt>
                <c:pt idx="27">
                  <c:v>0.369018679857</c:v>
                </c:pt>
                <c:pt idx="28">
                  <c:v>0.328601641831</c:v>
                </c:pt>
                <c:pt idx="29">
                  <c:v>0.307004632168</c:v>
                </c:pt>
                <c:pt idx="30">
                  <c:v>0.349422103353</c:v>
                </c:pt>
                <c:pt idx="31">
                  <c:v>0.400124260869</c:v>
                </c:pt>
                <c:pt idx="32">
                  <c:v>0.33514508446</c:v>
                </c:pt>
                <c:pt idx="33">
                  <c:v>0.31801628488</c:v>
                </c:pt>
                <c:pt idx="34">
                  <c:v>0.40587543547</c:v>
                </c:pt>
                <c:pt idx="35">
                  <c:v>0.384588855719</c:v>
                </c:pt>
                <c:pt idx="36">
                  <c:v>0.39877749537</c:v>
                </c:pt>
                <c:pt idx="37">
                  <c:v>0.27537767825</c:v>
                </c:pt>
                <c:pt idx="38">
                  <c:v>0.278798732564</c:v>
                </c:pt>
                <c:pt idx="39">
                  <c:v>0.332993738511</c:v>
                </c:pt>
                <c:pt idx="40">
                  <c:v>0.344075207233</c:v>
                </c:pt>
                <c:pt idx="41">
                  <c:v>0.326860634998</c:v>
                </c:pt>
                <c:pt idx="42">
                  <c:v>0.359276367407</c:v>
                </c:pt>
                <c:pt idx="43">
                  <c:v>0.301107385929</c:v>
                </c:pt>
                <c:pt idx="44">
                  <c:v>0.350351023369</c:v>
                </c:pt>
                <c:pt idx="45">
                  <c:v>0.294206244096</c:v>
                </c:pt>
                <c:pt idx="46">
                  <c:v>0.326553896137</c:v>
                </c:pt>
                <c:pt idx="47">
                  <c:v>0.346671321551</c:v>
                </c:pt>
                <c:pt idx="48">
                  <c:v>0.327387981784</c:v>
                </c:pt>
                <c:pt idx="49">
                  <c:v>0.344114999328</c:v>
                </c:pt>
                <c:pt idx="50">
                  <c:v>0.372119855486</c:v>
                </c:pt>
                <c:pt idx="51">
                  <c:v>0.267822037976</c:v>
                </c:pt>
                <c:pt idx="52">
                  <c:v>0.278663153888</c:v>
                </c:pt>
                <c:pt idx="53">
                  <c:v>0.284272458007</c:v>
                </c:pt>
                <c:pt idx="54">
                  <c:v>0.355502642157</c:v>
                </c:pt>
                <c:pt idx="55">
                  <c:v>0.310257622568</c:v>
                </c:pt>
                <c:pt idx="56">
                  <c:v>0.343390459658</c:v>
                </c:pt>
                <c:pt idx="57">
                  <c:v>0.340136164412</c:v>
                </c:pt>
                <c:pt idx="58">
                  <c:v>0.358256151884</c:v>
                </c:pt>
                <c:pt idx="59">
                  <c:v>0.329315199642</c:v>
                </c:pt>
                <c:pt idx="60">
                  <c:v>0.336044369652</c:v>
                </c:pt>
                <c:pt idx="61">
                  <c:v>0.334733473187</c:v>
                </c:pt>
                <c:pt idx="62">
                  <c:v>0.33928209645</c:v>
                </c:pt>
                <c:pt idx="63">
                  <c:v>0.338296160573</c:v>
                </c:pt>
                <c:pt idx="64">
                  <c:v>0.274846293957</c:v>
                </c:pt>
                <c:pt idx="65">
                  <c:v>0.335193036713</c:v>
                </c:pt>
                <c:pt idx="66">
                  <c:v>0.264566262818</c:v>
                </c:pt>
                <c:pt idx="67">
                  <c:v>0.296675361852</c:v>
                </c:pt>
                <c:pt idx="68">
                  <c:v>0.329335578739</c:v>
                </c:pt>
                <c:pt idx="69">
                  <c:v>0.282159834769</c:v>
                </c:pt>
                <c:pt idx="70">
                  <c:v>0.33598744183</c:v>
                </c:pt>
                <c:pt idx="71">
                  <c:v>0.275367717543</c:v>
                </c:pt>
                <c:pt idx="72">
                  <c:v>0.28255740127</c:v>
                </c:pt>
                <c:pt idx="73">
                  <c:v>0.268520320945</c:v>
                </c:pt>
                <c:pt idx="74">
                  <c:v>0.257351464613</c:v>
                </c:pt>
                <c:pt idx="75">
                  <c:v>0.260164268482</c:v>
                </c:pt>
                <c:pt idx="76">
                  <c:v>0.313521755475</c:v>
                </c:pt>
                <c:pt idx="77">
                  <c:v>0.334580840169</c:v>
                </c:pt>
                <c:pt idx="78">
                  <c:v>0.264367320818</c:v>
                </c:pt>
                <c:pt idx="79">
                  <c:v>0.29459489063</c:v>
                </c:pt>
                <c:pt idx="80">
                  <c:v>0.331327120273</c:v>
                </c:pt>
                <c:pt idx="81">
                  <c:v>0.283075841844</c:v>
                </c:pt>
                <c:pt idx="82">
                  <c:v>0.28576932404</c:v>
                </c:pt>
                <c:pt idx="83">
                  <c:v>0.286177519644</c:v>
                </c:pt>
                <c:pt idx="84">
                  <c:v>0.289412722409</c:v>
                </c:pt>
                <c:pt idx="85">
                  <c:v>0.294015754569</c:v>
                </c:pt>
                <c:pt idx="86">
                  <c:v>0.269096599065</c:v>
                </c:pt>
                <c:pt idx="87">
                  <c:v>0.326732114127</c:v>
                </c:pt>
                <c:pt idx="88">
                  <c:v>0.294538453893</c:v>
                </c:pt>
                <c:pt idx="89">
                  <c:v>0.277514936028</c:v>
                </c:pt>
                <c:pt idx="90">
                  <c:v>0.297974569474</c:v>
                </c:pt>
                <c:pt idx="91">
                  <c:v>0.318456406707</c:v>
                </c:pt>
                <c:pt idx="92">
                  <c:v>0.299802980413</c:v>
                </c:pt>
                <c:pt idx="93">
                  <c:v>0.288953892905</c:v>
                </c:pt>
                <c:pt idx="94">
                  <c:v>0.305333713323</c:v>
                </c:pt>
                <c:pt idx="95">
                  <c:v>0.294517126965</c:v>
                </c:pt>
                <c:pt idx="96">
                  <c:v>0.314944814398</c:v>
                </c:pt>
                <c:pt idx="97">
                  <c:v>0.28969962302</c:v>
                </c:pt>
                <c:pt idx="98">
                  <c:v>0.296922940888</c:v>
                </c:pt>
                <c:pt idx="99">
                  <c:v>0.26073978656</c:v>
                </c:pt>
                <c:pt idx="100">
                  <c:v>0.303191378299</c:v>
                </c:pt>
                <c:pt idx="101">
                  <c:v>0.298946636174</c:v>
                </c:pt>
                <c:pt idx="102">
                  <c:v>0.29245787632</c:v>
                </c:pt>
                <c:pt idx="103">
                  <c:v>0.298040001535</c:v>
                </c:pt>
              </c:numCache>
            </c:numRef>
          </c:yVal>
        </c:ser>
        <c:ser>
          <c:idx val="1"/>
          <c:order val="1"/>
          <c:tx>
            <c:v>第一前沿</c:v>
          </c:tx>
          <c:spPr>
            <a:solidFill xmlns:a="http://schemas.openxmlformats.org/drawingml/2006/main">
              <a:srgbClr val="14918B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0.581818181818</c:v>
                </c:pt>
                <c:pt idx="1">
                  <c:v>0.340425531915</c:v>
                </c:pt>
                <c:pt idx="2">
                  <c:v>0.440366972477</c:v>
                </c:pt>
                <c:pt idx="3">
                  <c:v>0.421052631579</c:v>
                </c:pt>
                <c:pt idx="4">
                  <c:v>0.388888888889</c:v>
                </c:pt>
                <c:pt idx="5">
                  <c:v>0.42</c:v>
                </c:pt>
                <c:pt idx="6">
                  <c:v>0.353535353535</c:v>
                </c:pt>
                <c:pt idx="7">
                  <c:v>0.37962962963</c:v>
                </c:pt>
                <c:pt idx="8">
                  <c:v>0.373737373737</c:v>
                </c:pt>
                <c:pt idx="9">
                  <c:v>0.36036036036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0.624763575354</c:v>
                </c:pt>
                <c:pt idx="1">
                  <c:v>0.442429243082</c:v>
                </c:pt>
                <c:pt idx="2">
                  <c:v>0.50848145927</c:v>
                </c:pt>
                <c:pt idx="3">
                  <c:v>0.471714206591</c:v>
                </c:pt>
                <c:pt idx="4">
                  <c:v>0.465818454355</c:v>
                </c:pt>
                <c:pt idx="5">
                  <c:v>0.483634004626</c:v>
                </c:pt>
                <c:pt idx="6">
                  <c:v>0.476368138669</c:v>
                </c:pt>
                <c:pt idx="7">
                  <c:v>0.46561152698</c:v>
                </c:pt>
                <c:pt idx="8">
                  <c:v>0.46080210717</c:v>
                </c:pt>
                <c:pt idx="9">
                  <c:v>0.447498651083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候选独特性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新颖性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等权加权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0.896721311475</c:v>
                </c:pt>
                <c:pt idx="1">
                  <c:v>0.989130434775</c:v>
                </c:pt>
                <c:pt idx="2">
                  <c:v>0.307321043209</c:v>
                </c:pt>
                <c:pt idx="3">
                  <c:v>0.405128122739</c:v>
                </c:pt>
              </c:numCache>
            </c:numRef>
          </c:val>
        </c:ser>
        <c:ser>
          <c:idx val="1"/>
          <c:order val="1"/>
          <c:tx>
            <c:v>Pareto</c:v>
          </c:tx>
          <c:spPr>
            <a:solidFill xmlns:a="http://schemas.openxmlformats.org/drawingml/2006/main">
              <a:srgbClr val="14918B"/>
            </a:solidFill>
          </c:spPr>
          <c:cat>
            <c:strRef>
              <c:f>'Chart Data'!$C$2:$C$5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0.60696721312</c:v>
                </c:pt>
                <c:pt idx="1">
                  <c:v>0.973913043475</c:v>
                </c:pt>
                <c:pt idx="2">
                  <c:v>0.375065227596</c:v>
                </c:pt>
                <c:pt idx="3">
                  <c:v>0.460115297112</c:v>
                </c:pt>
              </c:numCache>
            </c:numRef>
          </c:val>
        </c:ser>
        <c:ser>
          <c:idx val="2"/>
          <c:order val="2"/>
          <c:tx>
            <c:v>分维度轮转</c:v>
          </c:tx>
          <c:spPr>
            <a:solidFill xmlns:a="http://schemas.openxmlformats.org/drawingml/2006/main">
              <a:srgbClr val="D98532"/>
            </a:solidFill>
          </c:spPr>
          <c:cat>
            <c:strRef>
              <c:f>'Chart Data'!$E$2:$E$5</c:f>
              <c:strCache>
                <c:ptCount val="4"/>
                <c:pt idx="0">
                  <c:v>约束满足度</c:v>
                </c:pt>
                <c:pt idx="1">
                  <c:v>保守性</c:v>
                </c:pt>
                <c:pt idx="2">
                  <c:v>新颖性</c:v>
                </c:pt>
                <c:pt idx="3">
                  <c:v>候选独特性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0.625409836075</c:v>
                </c:pt>
                <c:pt idx="1">
                  <c:v>0.97608695652</c:v>
                </c:pt>
                <c:pt idx="2">
                  <c:v>0.312139635658</c:v>
                </c:pt>
                <c:pt idx="3">
                  <c:v>0.417938325242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平均分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Top-20 Jaccard</c:v>
          </c:tx>
          <c:spPr>
            <a:solidFill xmlns:a="http://schemas.openxmlformats.org/drawingml/2006/main">
              <a:srgbClr val="2563A6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Microsoft YaHei"/>
                        <a:ea typeface="Microsoft YaHei"/>
                        <a:cs typeface="Microsoft YaHei"/>
                      </a:rPr>
                      <a:t>0.333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Microsoft YaHei"/>
                        <a:ea typeface="Microsoft YaHei"/>
                        <a:cs typeface="Microsoft YaHei"/>
                      </a:rPr>
                      <a:t>0.905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Microsoft YaHei"/>
                        <a:ea typeface="Microsoft YaHei"/>
                        <a:cs typeface="Microsoft YaHei"/>
                      </a:rPr>
                      <a:t>0.481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>
                        <a:latin typeface="Microsoft YaHei"/>
                        <a:ea typeface="Microsoft YaHei"/>
                        <a:cs typeface="Microsoft YaHei"/>
                      </a:rPr>
                      <a:t>0.667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移除约束满足度</c:v>
                </c:pt>
                <c:pt idx="1">
                  <c:v>移除保守性</c:v>
                </c:pt>
                <c:pt idx="2">
                  <c:v>移除新颖性</c:v>
                </c:pt>
                <c:pt idx="3">
                  <c:v>移除候选独特性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0.333333333333</c:v>
                </c:pt>
                <c:pt idx="1">
                  <c:v>0.904761904762</c:v>
                </c:pt>
                <c:pt idx="2">
                  <c:v>0.481481481481</c:v>
                </c:pt>
                <c:pt idx="3">
                  <c:v>0.666666666667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与完整四维名单的 Jaccard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扰动次数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Data'!$A$2:$A$5</c:f>
              <c:strCache>
                <c:ptCount val="4"/>
                <c:pt idx="0">
                  <c:v>0.7–0.8</c:v>
                </c:pt>
                <c:pt idx="1">
                  <c:v>0.8–0.9</c:v>
                </c:pt>
                <c:pt idx="2">
                  <c:v>0.9–1</c:v>
                </c:pt>
                <c:pt idx="3">
                  <c:v>1.0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39</c:v>
                </c:pt>
                <c:pt idx="2">
                  <c:v>52</c:v>
                </c:pt>
                <c:pt idx="3">
                  <c:v>108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Top-20 Jaccard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域覆盖 0.85</c:v>
          </c:tx>
          <c:spPr>
            <a:ln xmlns:a="http://schemas.openxmlformats.org/drawingml/2006/main" w="28575">
              <a:solidFill>
                <a:srgbClr val="2563A6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2563A6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</c:v>
                </c:pt>
              </c:numCache>
            </c:numRef>
          </c:val>
          <c:smooth val="0"/>
        </c:ser>
        <c:ser>
          <c:idx val="1"/>
          <c:order val="1"/>
          <c:tx>
            <c:v>域覆盖 0.95</c:v>
          </c:tx>
          <c:spPr>
            <a:ln xmlns:a="http://schemas.openxmlformats.org/drawingml/2006/main" w="28575">
              <a:solidFill>
                <a:srgbClr val="14918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4918B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0.666666666667</c:v>
                </c:pt>
              </c:numCache>
            </c:numRef>
          </c:val>
          <c:smooth val="0"/>
        </c:ser>
        <c:ser>
          <c:idx val="2"/>
          <c:order val="2"/>
          <c:tx>
            <c:v>域覆盖 1.00</c:v>
          </c:tx>
          <c:spPr>
            <a:ln xmlns:a="http://schemas.openxmlformats.org/drawingml/2006/main" w="28575">
              <a:solidFill>
                <a:srgbClr val="D9853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D98532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0.6</c:v>
                </c:pt>
                <c:pt idx="1">
                  <c:v>1</c:v>
                </c:pt>
                <c:pt idx="2">
                  <c:v>0.666666666667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最低可靠配对比例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Top-20 Jaccard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636E1-6B02-4495-9505-5142B4BB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GvpA 候选序列的多目标评价与筛选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2F2F1-1518-48C6-A08F-BBA3C96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1844E-F459-4C6D-A91C-DE139522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四维证据、固定预算筛选与参数敏感性分析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48F0-025D-4696-A8CD-ECEE7C1C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563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2563A6"/>
                </a:solidFill>
                <a:latin typeface="Microsoft YaHei"/>
                <a:ea typeface="Microsoft YaHei"/>
                <a:cs typeface="Microsoft YaHei"/>
              </a:rPr>
              <a:t>1,000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BE10F-13A2-4006-AAFF-F6BA51C1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生成候选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A1D79-4D3F-408A-B690-7EEAC92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491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4918B"/>
                </a:solidFill>
                <a:latin typeface="Microsoft YaHei"/>
                <a:ea typeface="Microsoft YaHei"/>
                <a:cs typeface="Microsoft YaHei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E2340-7E78-438A-BC2E-EA1740B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909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证据充分的排名候选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0169A-1712-40BA-B131-37FADAE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D985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D9853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ACA5-1305-4C2F-B4D4-B10E574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90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筛选策略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0DD02-4779-4D4A-B751-E17097C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GV02-03    发布批次 seed 42</a:t>
            </a:r>
          </a:p>
          <a:p xmlns:a="http://schemas.openxmlformats.org/drawingml/2006/main">
            <a:pPr>
              <a:defRPr sz="18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完整报告、候选名单和复现入口随仓库发布</a:t>
            </a:r>
          </a:p>
        </p:txBody>
      </p:sp>
    </p:spTree>
    <p:extLst>
      <p:ext uri="{BB962C8B-B14F-4D97-AF65-F5344CB8AC3E}">
        <p14:creationId xmlns:p14="http://schemas.microsoft.com/office/powerpoint/2010/main" val="346541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7DA63-9EC1-4A57-98F8-A2BB3071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研究问题与评价设计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581BD-1229-4B81-9ED4-8600941B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实验与判断依据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RQ1 目标之间如何冲突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Pearson / Spearman 与四维散点矩阵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RQ2 不同策略如何改变名单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加权、Pareto、轮转，同池比较质量与重叠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RQ3 名单对参数是否敏感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逐维消融、权重扰动与域/配对覆盖门槛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选做 同池随机筛选对照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 114 条中抽取 20 条，重复 1,000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88F97-CD26-46F8-A987-32109CF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主分析预算为 Top-20，同时发布 Top-10 和 Top-50。</a:t>
            </a:r>
          </a:p>
        </p:txBody>
      </p:sp>
    </p:spTree>
    <p:extLst>
      <p:ext uri="{BB962C8B-B14F-4D97-AF65-F5344CB8AC3E}">
        <p14:creationId xmlns:p14="http://schemas.microsoft.com/office/powerpoint/2010/main" val="1212048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964DF-1F17-4FCE-9EF8-4D71AC0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候选池与完整审计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451E8-9BB1-4830-BE54-F805E599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381125"/>
                <a:gridCol w="59721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筛选阶段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保留依据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/ 基础 QC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格式、长度、组成与生成元数据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GvpA 家族支持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竞争性家族证据，独立于域命中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 + 家族 + 域门槛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域分数 ≥25 bits，模型覆盖 ≥0.95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四维证据充分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天然参考已解析，可靠配对比例 ≥50%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75D72-4553-4146-B0B3-F612D40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346 条保守参考，按同源簇拆为 277 / 33 / 36。</a:t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47 条歧义候选和所有排除原因均保留在审计表。</a:t>
            </a:r>
          </a:p>
        </p:txBody>
      </p:sp>
    </p:spTree>
    <p:extLst>
      <p:ext uri="{BB962C8B-B14F-4D97-AF65-F5344CB8AC3E}">
        <p14:creationId xmlns:p14="http://schemas.microsoft.com/office/powerpoint/2010/main" val="1960933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CE502-34B2-4120-BE87-D7665C6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四个评价维度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5A138-756E-4FF3-BBB1-025CA00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686300"/>
              </a:tblGrid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计算含义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注意事项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约束满足度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PF00741 域支持和模型覆盖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域命中不能独立证明 GvpA 身份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个参考统计保守位点一致率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候选不参与定义参考位点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新颖性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到可靠天然参考的最近全局距离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无可靠参考匹配时保留缺失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候选独特性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到联合合格池的已解析距离均值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136 条参照池，记录覆盖率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9AF54-253B-48D9-BE28-6802E648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四维均为 [0, 1]，越大越好。集合多样性在入选集合内另行计算。</a:t>
            </a:r>
          </a:p>
        </p:txBody>
      </p:sp>
    </p:spTree>
    <p:extLst>
      <p:ext uri="{BB962C8B-B14F-4D97-AF65-F5344CB8AC3E}">
        <p14:creationId xmlns:p14="http://schemas.microsoft.com/office/powerpoint/2010/main" val="82836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E26AA-2304-4123-8A70-E142FF58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RQ1：当前候选池的目标冲突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85DD-AA8D-4567-B1E6-D195E142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95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96050"/>
                <a:gridCol w="2238375"/>
                <a:gridCol w="2238375"/>
              </a:tblGrid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维度对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Pearson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Spearman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约束满足度 / 保守性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0.3644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0.3362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约束满足度 / 新颖性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-0.3809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-0.3550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约束满足度 / 候选独特性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-0.4269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-0.4341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保守性 / 新颖性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-0.4460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-0.4267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保守性 / 候选独特性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-0.4885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-0.4474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3067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新颖性 / 候选独特性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5E6D3-BC80-4BBA-A3C8-5A7E74F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保守性与候选独特性负相关最强。</a:t>
            </a:r>
          </a:p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新颖性与候选独特性高度相关，两个排序目标在本批次有明显重叠。</a:t>
            </a:r>
          </a:p>
        </p:txBody>
      </p:sp>
    </p:spTree>
    <p:extLst>
      <p:ext uri="{BB962C8B-B14F-4D97-AF65-F5344CB8AC3E}">
        <p14:creationId xmlns:p14="http://schemas.microsoft.com/office/powerpoint/2010/main" val="979977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B3D6A-35E3-499D-B097-83B05498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目标空间中的候选与 Pareto 前沿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EB84-A48E-4FA6-9A79-FD389553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2768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e5ab242e984ee1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286500" y="1428750"/>
          <a:ext xmlns:a="http://schemas.openxmlformats.org/drawingml/2006/main" cx="52768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0ea611ac1f409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A2DFE-090F-4120-BDD6-292FA44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四维第一非支配前沿有 10 条。二维图是投影，前沿归属由全部四个目标共同决定。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147727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4192E-1F0F-4681-85F5-046AB265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RQ2：三种策略的 Top-20 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C552C-3D7A-4211-B102-227A2E3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7715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973bf2f1a048e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89FEC-2A6A-4A9A-AE96-20559AE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等权加权</a:t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约束、保守性均值最高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Pareto</a:t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新颖性、独特性最高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0FE8C-B737-41B0-8111-DEE8FD2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轮转覆盖各维度高分候选；完整九份名单同时保留预警和原始证据。</a:t>
            </a:r>
          </a:p>
        </p:txBody>
      </p:sp>
    </p:spTree>
    <p:extLst>
      <p:ext uri="{BB962C8B-B14F-4D97-AF65-F5344CB8AC3E}">
        <p14:creationId xmlns:p14="http://schemas.microsoft.com/office/powerpoint/2010/main" val="826639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E4196-8665-4668-93F6-DA73C1D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集合多样性与证据覆盖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2388F-7F59-4A9E-948A-34BFC11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428875"/>
                <a:gridCol w="2286000"/>
                <a:gridCol w="33051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Top-20 策略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已解析对均值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配对覆盖率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全部配对均值界限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等权加权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0.4122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79.5%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0.3276–0.5328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0.3745–0.6061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分维度轮转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0.4533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78.4%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0.3555–0.5713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D6489-BBF6-4467-A633-C461D24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Pareto 的条件均值较高，同时配对覆盖率较低。</a:t>
            </a:r>
          </a:p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三种策略的未知距离界限重叠，不能据此断言完整集合多样性严格更高。</a:t>
            </a:r>
          </a:p>
        </p:txBody>
      </p:sp>
    </p:spTree>
    <p:extLst>
      <p:ext uri="{BB962C8B-B14F-4D97-AF65-F5344CB8AC3E}">
        <p14:creationId xmlns:p14="http://schemas.microsoft.com/office/powerpoint/2010/main" val="913496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7C8C9-59D9-4325-ABF6-651CBF9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同一候选池的第一 Pareto 前沿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B1260-49E3-4A09-A100-47936CE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62250"/>
                <a:gridCol w="2762250"/>
                <a:gridCol w="2781300"/>
              </a:tblGrid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Top-10 前沿成员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Top-20 前沿成员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Top-50 前沿成员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等权加权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分维度轮转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F246F-40FA-405A-B52C-CE0ADB7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114 条候选形成 13 个非支配层。</a:t>
            </a:r>
          </a:p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前沿代表目标之间的计算取舍，不代表已验证功能最优。</a:t>
            </a:r>
          </a:p>
        </p:txBody>
      </p:sp>
    </p:spTree>
    <p:extLst>
      <p:ext uri="{BB962C8B-B14F-4D97-AF65-F5344CB8AC3E}">
        <p14:creationId xmlns:p14="http://schemas.microsoft.com/office/powerpoint/2010/main" val="949787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6C2F4-4FCF-4C4C-B31B-AF6FBBB8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消融：约束分对入选名单影响最大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26560-DBD0-40F2-972F-1C63FAC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7000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bb7ede91e4d2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6393A-866D-4927-BC3F-7901830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约束分移除后</a:t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名单 Jaccard 仅 0.3333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保守性在本批次接近饱和</a:t>
            </a:r>
          </a:p>
          <a:p xmlns:a="http://schemas.openxmlformats.org/drawingml/2006/main">
            <a:pPr>
              <a:def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移除后的名单变化最小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6E0F1-3AC0-4314-B034-C7EE989E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新颖性和候选独特性高度相关，但移除任一维仍会改变名单。</a:t>
            </a:r>
          </a:p>
        </p:txBody>
      </p:sp>
    </p:spTree>
    <p:extLst>
      <p:ext uri="{BB962C8B-B14F-4D97-AF65-F5344CB8AC3E}">
        <p14:creationId xmlns:p14="http://schemas.microsoft.com/office/powerpoint/2010/main" val="132854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E3897-117B-4C08-9554-67E53B0B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RQ3：覆盖门槛比局部域阈值更敏感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94E1A-5217-48F1-BF24-2A804FC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e36aaea81548ab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381750" y="1476375"/>
          <a:ext xmlns:a="http://schemas.openxmlformats.org/drawingml/2006/main" cx="52006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9edf3b12b6464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FF89D-BBF1-45E4-A6F7-6ACAA6C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权重扰动 Jaccard 均值 0.9385</a:t>
            </a:r>
          </a:p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门槛扰动范围 0.6000–1.0000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CB0F5-B397-4A46-BD79-F6590AB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48275"/>
            <a:ext cx="5200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50% 配对门槛下域阈值扰动不改变名单。</a:t>
            </a:r>
          </a:p>
          <a:p xmlns:a="http://schemas.openxmlformats.org/drawingml/2006/main">
            <a:pPr>
              <a:def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25% / 75% 门槛则明显改变选择。</a:t>
            </a:r>
          </a:p>
        </p:txBody>
      </p:sp>
    </p:spTree>
    <p:extLst>
      <p:ext uri="{BB962C8B-B14F-4D97-AF65-F5344CB8AC3E}">
        <p14:creationId xmlns:p14="http://schemas.microsoft.com/office/powerpoint/2010/main" val="2000523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1E1D-C150-4061-8A01-B3E17A3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随机对照：优势取决于目标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9CDA6-7214-41DB-B8F0-53FB1A9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2095500"/>
                <a:gridCol w="2095500"/>
                <a:gridCol w="2114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随机均值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等权加权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Pareto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分维度轮转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约束满足度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0.6811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0.8967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0.6070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0.6254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新颖性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多样性下界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0.3188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0.3276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0.3745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0.3555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配对覆盖率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C7C29-73BC-4E84-873C-42E415C5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三种策略提高新颖性，但 Pareto 与轮转的约束均值低于随机。</a:t>
            </a:r>
          </a:p>
          <a:p xmlns:a="http://schemas.openxmlformats.org/drawingml/2006/main">
            <a:pPr>
              <a:def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多目标筛选没有在所有指标上同时获胜。</a:t>
            </a:r>
          </a:p>
        </p:txBody>
      </p:sp>
    </p:spTree>
    <p:extLst>
      <p:ext uri="{BB962C8B-B14F-4D97-AF65-F5344CB8AC3E}">
        <p14:creationId xmlns:p14="http://schemas.microsoft.com/office/powerpoint/2010/main" val="106383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41EB-0FA2-460F-8BB0-2A5C5D8D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适用场景与复现边界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4D62A-DAD2-40F2-88CD-E92250A7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7019925"/>
              </a:tblGrid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使用场景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策略与检查重点</a:t>
                      </a:r>
                    </a:p>
                  </a:txBody>
                  <a:tcPr marL="91440" marR="91440" marT="45720" marB="45720">
                    <a:solidFill>
                      <a:srgbClr val="17324B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重视约束，验证预算有限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加权名单，预先声明权重并审阅预警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希望探索目标之间的取舍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Pareto 前沿，检查约束下降与未知距离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希望覆盖各维度高分候选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32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分维度轮转，固定总预算并检查均衡性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B1049-6895-4CD2-9D38-8CE395C1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评价复现入口：experiments/run_full_experiment.py</a:t>
            </a:r>
          </a:p>
          <a:p xmlns:a="http://schemas.openxmlformats.org/drawingml/2006/main">
            <a:pPr>
              <a:def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24B"/>
                </a:solidFill>
                <a:latin typeface="Microsoft YaHei"/>
                <a:ea typeface="Microsoft YaHei"/>
                <a:cs typeface="Microsoft YaHei"/>
              </a:rPr>
              <a:t>完整 QC / 比对复现：experiments/reproduce_project.py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B60FD-250D-4EE6-95F3-3603809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8"/>
                </a:solidFill>
                <a:latin typeface="Microsoft YaHei"/>
                <a:ea typeface="Microsoft YaHei"/>
                <a:cs typeface="Microsoft YaHei"/>
              </a:rPr>
              <a:t>参考仍为暂定版；原 VAE 权重缺失。候选尚无表达、结构、组装或功能确认。</a:t>
            </a:r>
          </a:p>
        </p:txBody>
      </p:sp>
    </p:spTree>
    <p:extLst>
      <p:ext uri="{BB962C8B-B14F-4D97-AF65-F5344CB8AC3E}">
        <p14:creationId xmlns:p14="http://schemas.microsoft.com/office/powerpoint/2010/main" val="1793297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2026-09-28T07:13:31.5700000Z</dcterms:created>
  <dcterms:modified xsi:type="dcterms:W3CDTF">2026-09-28T07:13:31.5700000Z</dcterms:modified>
</coreProperties>
</file>