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其他候选</c:f>
              <c:strCache>
                <c:ptCount val="1"/>
                <c:pt idx="0">
                  <c:v>其他候选</c:v>
                </c:pt>
              </c:strCache>
            </c:strRef>
          </c:tx>
          <c:spPr>
            <a:ln w="0" cap="rnd">
              <a:noFill/>
              <a:prstDash val="solid"/>
              <a:round/>
            </a:ln>
          </c:spPr>
          <c:marker>
            <c:symbol val="circle"/>
            <c:size val="5"/>
            <c:spPr>
              <a:noFill/>
            </c:spPr>
          </c:marker>
          <c:dLbls>
            <c:delete val="1"/>
          </c:dLbls>
          <c:xVal>
            <c:numRef>
              <c:f>'Chart Data'!$A$2:$A$105</c:f>
              <c:numCache>
                <c:formatCode>General</c:formatCode>
                <c:ptCount val="104"/>
                <c:pt idx="0">
                  <c:v>0.2540983607</c:v>
                </c:pt>
                <c:pt idx="1">
                  <c:v>0.4836065574</c:v>
                </c:pt>
                <c:pt idx="2">
                  <c:v>0.9590163934</c:v>
                </c:pt>
                <c:pt idx="3">
                  <c:v>0.9918032787</c:v>
                </c:pt>
                <c:pt idx="4">
                  <c:v>0.9590163934</c:v>
                </c:pt>
                <c:pt idx="5">
                  <c:v>0.1475409836</c:v>
                </c:pt>
                <c:pt idx="6">
                  <c:v>0.3606557377</c:v>
                </c:pt>
                <c:pt idx="7">
                  <c:v>0.6967213115</c:v>
                </c:pt>
                <c:pt idx="8">
                  <c:v>0.7704918033</c:v>
                </c:pt>
                <c:pt idx="9">
                  <c:v>0.7540983607</c:v>
                </c:pt>
                <c:pt idx="10">
                  <c:v>0.9836065574</c:v>
                </c:pt>
                <c:pt idx="11">
                  <c:v>0.7295081967</c:v>
                </c:pt>
                <c:pt idx="12">
                  <c:v>0.9836065574</c:v>
                </c:pt>
                <c:pt idx="13">
                  <c:v>0.09016393443</c:v>
                </c:pt>
                <c:pt idx="14">
                  <c:v>0</c:v>
                </c:pt>
                <c:pt idx="15">
                  <c:v>0.9590163934</c:v>
                </c:pt>
                <c:pt idx="16">
                  <c:v>0.868852459</c:v>
                </c:pt>
                <c:pt idx="17">
                  <c:v>0.9180327869</c:v>
                </c:pt>
                <c:pt idx="18">
                  <c:v>0.6803278689</c:v>
                </c:pt>
                <c:pt idx="19">
                  <c:v>0.5</c:v>
                </c:pt>
                <c:pt idx="20">
                  <c:v>0.9590163934</c:v>
                </c:pt>
                <c:pt idx="21">
                  <c:v>0.5245901639</c:v>
                </c:pt>
                <c:pt idx="22">
                  <c:v>0.237704918</c:v>
                </c:pt>
                <c:pt idx="23">
                  <c:v>0.9836065574</c:v>
                </c:pt>
                <c:pt idx="24">
                  <c:v>0.4344262295</c:v>
                </c:pt>
                <c:pt idx="25">
                  <c:v>0.06557377049</c:v>
                </c:pt>
                <c:pt idx="26">
                  <c:v>0.7540983607</c:v>
                </c:pt>
                <c:pt idx="27">
                  <c:v>0.7540983607</c:v>
                </c:pt>
                <c:pt idx="28">
                  <c:v>0.4918032787</c:v>
                </c:pt>
                <c:pt idx="29">
                  <c:v>0.9754098361</c:v>
                </c:pt>
                <c:pt idx="30">
                  <c:v>0.8606557377</c:v>
                </c:pt>
                <c:pt idx="31">
                  <c:v>0.5983606557</c:v>
                </c:pt>
                <c:pt idx="32">
                  <c:v>0.893442623</c:v>
                </c:pt>
                <c:pt idx="33">
                  <c:v>0.9180327869</c:v>
                </c:pt>
                <c:pt idx="34">
                  <c:v>0.4836065574</c:v>
                </c:pt>
                <c:pt idx="35">
                  <c:v>0.2540983607</c:v>
                </c:pt>
                <c:pt idx="36">
                  <c:v>0.3852459016</c:v>
                </c:pt>
                <c:pt idx="37">
                  <c:v>0.9836065574</c:v>
                </c:pt>
                <c:pt idx="38">
                  <c:v>0.9836065574</c:v>
                </c:pt>
                <c:pt idx="39">
                  <c:v>0.868852459</c:v>
                </c:pt>
                <c:pt idx="40">
                  <c:v>0.8606557377</c:v>
                </c:pt>
                <c:pt idx="41">
                  <c:v>0.893442623</c:v>
                </c:pt>
                <c:pt idx="42">
                  <c:v>0.5983606557</c:v>
                </c:pt>
                <c:pt idx="43">
                  <c:v>0.9590163934</c:v>
                </c:pt>
                <c:pt idx="44">
                  <c:v>0.5245901639</c:v>
                </c:pt>
                <c:pt idx="45">
                  <c:v>0.9344262295</c:v>
                </c:pt>
                <c:pt idx="46">
                  <c:v>0.893442623</c:v>
                </c:pt>
                <c:pt idx="47">
                  <c:v>0.4426229508</c:v>
                </c:pt>
                <c:pt idx="48">
                  <c:v>0.893442623</c:v>
                </c:pt>
                <c:pt idx="49">
                  <c:v>0.5655737705</c:v>
                </c:pt>
                <c:pt idx="50">
                  <c:v>0</c:v>
                </c:pt>
                <c:pt idx="51">
                  <c:v>0.9836065574</c:v>
                </c:pt>
                <c:pt idx="52">
                  <c:v>0.9754098361</c:v>
                </c:pt>
                <c:pt idx="53">
                  <c:v>0.9590163934</c:v>
                </c:pt>
                <c:pt idx="54">
                  <c:v>0.2049180328</c:v>
                </c:pt>
                <c:pt idx="55">
                  <c:v>0.868852459</c:v>
                </c:pt>
                <c:pt idx="56">
                  <c:v>0.5</c:v>
                </c:pt>
                <c:pt idx="57">
                  <c:v>0.8114754098</c:v>
                </c:pt>
                <c:pt idx="58">
                  <c:v>0.1803278689</c:v>
                </c:pt>
                <c:pt idx="59">
                  <c:v>0.8032786885</c:v>
                </c:pt>
                <c:pt idx="60">
                  <c:v>0.7131147541</c:v>
                </c:pt>
                <c:pt idx="61">
                  <c:v>0.7213114754</c:v>
                </c:pt>
                <c:pt idx="62">
                  <c:v>0.8606557377</c:v>
                </c:pt>
                <c:pt idx="63">
                  <c:v>0.2786885246</c:v>
                </c:pt>
                <c:pt idx="64">
                  <c:v>0.9754098361</c:v>
                </c:pt>
                <c:pt idx="65">
                  <c:v>0.7131147541</c:v>
                </c:pt>
                <c:pt idx="66">
                  <c:v>0.9836065574</c:v>
                </c:pt>
                <c:pt idx="67">
                  <c:v>0.8524590164</c:v>
                </c:pt>
                <c:pt idx="68">
                  <c:v>0.8114754098</c:v>
                </c:pt>
                <c:pt idx="69">
                  <c:v>0.9098360656</c:v>
                </c:pt>
                <c:pt idx="70">
                  <c:v>0.8442622951</c:v>
                </c:pt>
                <c:pt idx="71">
                  <c:v>0.9098360656</c:v>
                </c:pt>
                <c:pt idx="72">
                  <c:v>0.868852459</c:v>
                </c:pt>
                <c:pt idx="73">
                  <c:v>0.9754098361</c:v>
                </c:pt>
                <c:pt idx="74">
                  <c:v>0.9836065574</c:v>
                </c:pt>
                <c:pt idx="75">
                  <c:v>0.9836065574</c:v>
                </c:pt>
                <c:pt idx="76">
                  <c:v>0.7131147541</c:v>
                </c:pt>
                <c:pt idx="77">
                  <c:v>0</c:v>
                </c:pt>
                <c:pt idx="78">
                  <c:v>0.9098360656</c:v>
                </c:pt>
                <c:pt idx="79">
                  <c:v>0.8114754098</c:v>
                </c:pt>
                <c:pt idx="80">
                  <c:v>0.7540983607</c:v>
                </c:pt>
                <c:pt idx="81">
                  <c:v>0.8524590164</c:v>
                </c:pt>
                <c:pt idx="82">
                  <c:v>0.762295082</c:v>
                </c:pt>
                <c:pt idx="83">
                  <c:v>0.7786885246</c:v>
                </c:pt>
                <c:pt idx="84">
                  <c:v>0.8524590164</c:v>
                </c:pt>
                <c:pt idx="85">
                  <c:v>0.8114754098</c:v>
                </c:pt>
                <c:pt idx="86">
                  <c:v>0.8442622951</c:v>
                </c:pt>
                <c:pt idx="87">
                  <c:v>0.7540983607</c:v>
                </c:pt>
                <c:pt idx="88">
                  <c:v>0.8032786885</c:v>
                </c:pt>
                <c:pt idx="89">
                  <c:v>0.7786885246</c:v>
                </c:pt>
                <c:pt idx="90">
                  <c:v>0.737704918</c:v>
                </c:pt>
                <c:pt idx="91">
                  <c:v>0.7213114754</c:v>
                </c:pt>
                <c:pt idx="92">
                  <c:v>0</c:v>
                </c:pt>
                <c:pt idx="93">
                  <c:v>0.7540983607</c:v>
                </c:pt>
                <c:pt idx="94">
                  <c:v>0.7213114754</c:v>
                </c:pt>
                <c:pt idx="95">
                  <c:v>0.737704918</c:v>
                </c:pt>
                <c:pt idx="96">
                  <c:v>0.5983606557</c:v>
                </c:pt>
                <c:pt idx="97">
                  <c:v>0.7213114754</c:v>
                </c:pt>
                <c:pt idx="98">
                  <c:v>0.6393442623</c:v>
                </c:pt>
                <c:pt idx="99">
                  <c:v>0.6393442623</c:v>
                </c:pt>
                <c:pt idx="100">
                  <c:v>0.3606557377</c:v>
                </c:pt>
                <c:pt idx="101">
                  <c:v>0.5983606557</c:v>
                </c:pt>
                <c:pt idx="102">
                  <c:v>0.4918032787</c:v>
                </c:pt>
                <c:pt idx="103">
                  <c:v>0.2786885246</c:v>
                </c:pt>
              </c:numCache>
            </c:numRef>
          </c:xVal>
          <c:yVal>
            <c:numRef>
              <c:f>'Chart Data'!$B$2:$B$105</c:f>
              <c:numCache>
                <c:formatCode>General</c:formatCode>
                <c:ptCount val="104"/>
                <c:pt idx="0">
                  <c:v>0.388888888889</c:v>
                </c:pt>
                <c:pt idx="1">
                  <c:v>0.364705882353</c:v>
                </c:pt>
                <c:pt idx="2">
                  <c:v>0.298076923077</c:v>
                </c:pt>
                <c:pt idx="3">
                  <c:v>0.309523809524</c:v>
                </c:pt>
                <c:pt idx="4">
                  <c:v>0.313131313131</c:v>
                </c:pt>
                <c:pt idx="5">
                  <c:v>0.385416666667</c:v>
                </c:pt>
                <c:pt idx="6">
                  <c:v>0.367346938776</c:v>
                </c:pt>
                <c:pt idx="7">
                  <c:v>0.336842105263</c:v>
                </c:pt>
                <c:pt idx="8">
                  <c:v>0.330188679245</c:v>
                </c:pt>
                <c:pt idx="9">
                  <c:v>0.347368421053</c:v>
                </c:pt>
                <c:pt idx="10">
                  <c:v>0.336956521739</c:v>
                </c:pt>
                <c:pt idx="11">
                  <c:v>0.356435643564</c:v>
                </c:pt>
                <c:pt idx="12">
                  <c:v>0.217391304348</c:v>
                </c:pt>
                <c:pt idx="13">
                  <c:v>0.309278350515</c:v>
                </c:pt>
                <c:pt idx="14">
                  <c:v>0.34375</c:v>
                </c:pt>
                <c:pt idx="15">
                  <c:v>0.278846153846</c:v>
                </c:pt>
                <c:pt idx="16">
                  <c:v>0.297872340426</c:v>
                </c:pt>
                <c:pt idx="17">
                  <c:v>0.282608695652</c:v>
                </c:pt>
                <c:pt idx="18">
                  <c:v>0.336842105263</c:v>
                </c:pt>
                <c:pt idx="19">
                  <c:v>0.337078651685</c:v>
                </c:pt>
                <c:pt idx="20">
                  <c:v>0.304347826087</c:v>
                </c:pt>
                <c:pt idx="21">
                  <c:v>0.308411214953</c:v>
                </c:pt>
                <c:pt idx="22">
                  <c:v>0.306930693069</c:v>
                </c:pt>
                <c:pt idx="23">
                  <c:v>0.129032258065</c:v>
                </c:pt>
                <c:pt idx="24">
                  <c:v>0.305263157895</c:v>
                </c:pt>
                <c:pt idx="25">
                  <c:v>0.297872340426</c:v>
                </c:pt>
                <c:pt idx="26">
                  <c:v>0.28</c:v>
                </c:pt>
                <c:pt idx="27">
                  <c:v>0.233333333333</c:v>
                </c:pt>
                <c:pt idx="28">
                  <c:v>0.265957446809</c:v>
                </c:pt>
                <c:pt idx="29">
                  <c:v>0.173913043478</c:v>
                </c:pt>
                <c:pt idx="30">
                  <c:v>0.260869565217</c:v>
                </c:pt>
                <c:pt idx="31">
                  <c:v>0.26213592233</c:v>
                </c:pt>
                <c:pt idx="32">
                  <c:v>0.202127659574</c:v>
                </c:pt>
                <c:pt idx="33">
                  <c:v>0.193548387097</c:v>
                </c:pt>
                <c:pt idx="34">
                  <c:v>0.28431372549</c:v>
                </c:pt>
                <c:pt idx="35">
                  <c:v>0.268518518519</c:v>
                </c:pt>
                <c:pt idx="36">
                  <c:v>0.264150943396</c:v>
                </c:pt>
                <c:pt idx="37">
                  <c:v>0.105263157895</c:v>
                </c:pt>
                <c:pt idx="38">
                  <c:v>0.0851063829787</c:v>
                </c:pt>
                <c:pt idx="39">
                  <c:v>0.191489361702</c:v>
                </c:pt>
                <c:pt idx="40">
                  <c:v>0.238636363636</c:v>
                </c:pt>
                <c:pt idx="41">
                  <c:v>0.202127659574</c:v>
                </c:pt>
                <c:pt idx="42">
                  <c:v>0.224489795918</c:v>
                </c:pt>
                <c:pt idx="43">
                  <c:v>0.148936170213</c:v>
                </c:pt>
                <c:pt idx="44">
                  <c:v>0.18691588785</c:v>
                </c:pt>
                <c:pt idx="45">
                  <c:v>0.168421052632</c:v>
                </c:pt>
                <c:pt idx="46">
                  <c:v>0.166666666667</c:v>
                </c:pt>
                <c:pt idx="47">
                  <c:v>0.229885057471</c:v>
                </c:pt>
                <c:pt idx="48">
                  <c:v>0.131313131313</c:v>
                </c:pt>
                <c:pt idx="49">
                  <c:v>0.198113207547</c:v>
                </c:pt>
                <c:pt idx="50">
                  <c:v>0.229166666667</c:v>
                </c:pt>
                <c:pt idx="51">
                  <c:v>0.0752688172043</c:v>
                </c:pt>
                <c:pt idx="52">
                  <c:v>0.0736842105263</c:v>
                </c:pt>
                <c:pt idx="53">
                  <c:v>0.117021276596</c:v>
                </c:pt>
                <c:pt idx="54">
                  <c:v>0.202127659574</c:v>
                </c:pt>
                <c:pt idx="55">
                  <c:v>0.147058823529</c:v>
                </c:pt>
                <c:pt idx="56">
                  <c:v>0.20652173913</c:v>
                </c:pt>
                <c:pt idx="57">
                  <c:v>0.197916666667</c:v>
                </c:pt>
                <c:pt idx="58">
                  <c:v>0.225225225225</c:v>
                </c:pt>
                <c:pt idx="59">
                  <c:v>0.223404255319</c:v>
                </c:pt>
                <c:pt idx="60">
                  <c:v>0.202127659574</c:v>
                </c:pt>
                <c:pt idx="61">
                  <c:v>0.218390804598</c:v>
                </c:pt>
                <c:pt idx="62">
                  <c:v>0.2</c:v>
                </c:pt>
                <c:pt idx="63">
                  <c:v>0.177570093458</c:v>
                </c:pt>
                <c:pt idx="64">
                  <c:v>0.0631578947368</c:v>
                </c:pt>
                <c:pt idx="65">
                  <c:v>0.197916666667</c:v>
                </c:pt>
                <c:pt idx="66">
                  <c:v>0.063829787234</c:v>
                </c:pt>
                <c:pt idx="67">
                  <c:v>0.123711340206</c:v>
                </c:pt>
                <c:pt idx="68">
                  <c:v>0.191489361702</c:v>
                </c:pt>
                <c:pt idx="69">
                  <c:v>0.0947368421053</c:v>
                </c:pt>
                <c:pt idx="70">
                  <c:v>0.176470588235</c:v>
                </c:pt>
                <c:pt idx="71">
                  <c:v>0.117021276596</c:v>
                </c:pt>
                <c:pt idx="72">
                  <c:v>0.0736842105263</c:v>
                </c:pt>
                <c:pt idx="73">
                  <c:v>0.0736842105263</c:v>
                </c:pt>
                <c:pt idx="74">
                  <c:v>0.0631578947368</c:v>
                </c:pt>
                <c:pt idx="75">
                  <c:v>0.0526315789474</c:v>
                </c:pt>
                <c:pt idx="76">
                  <c:v>0.170212765957</c:v>
                </c:pt>
                <c:pt idx="77">
                  <c:v>0.138613861386</c:v>
                </c:pt>
                <c:pt idx="78">
                  <c:v>0.0526315789474</c:v>
                </c:pt>
                <c:pt idx="79">
                  <c:v>0.102040816327</c:v>
                </c:pt>
                <c:pt idx="80">
                  <c:v>0.168421052632</c:v>
                </c:pt>
                <c:pt idx="81">
                  <c:v>0.10752688172</c:v>
                </c:pt>
                <c:pt idx="82">
                  <c:v>0.117021276596</c:v>
                </c:pt>
                <c:pt idx="83">
                  <c:v>0.112244897959</c:v>
                </c:pt>
                <c:pt idx="84">
                  <c:v>0.105263157895</c:v>
                </c:pt>
                <c:pt idx="85">
                  <c:v>0.105263157895</c:v>
                </c:pt>
                <c:pt idx="86">
                  <c:v>0.0631578947368</c:v>
                </c:pt>
                <c:pt idx="87">
                  <c:v>0.157894736842</c:v>
                </c:pt>
                <c:pt idx="88">
                  <c:v>0.0842105263158</c:v>
                </c:pt>
                <c:pt idx="89">
                  <c:v>0.10752688172</c:v>
                </c:pt>
                <c:pt idx="90">
                  <c:v>0.115789473684</c:v>
                </c:pt>
                <c:pt idx="91">
                  <c:v>0.145833333333</c:v>
                </c:pt>
                <c:pt idx="92">
                  <c:v>0.150537634409</c:v>
                </c:pt>
                <c:pt idx="93">
                  <c:v>0.126315789474</c:v>
                </c:pt>
                <c:pt idx="94">
                  <c:v>0.148936170213</c:v>
                </c:pt>
                <c:pt idx="95">
                  <c:v>0.0909090909091</c:v>
                </c:pt>
                <c:pt idx="96">
                  <c:v>0.145833333333</c:v>
                </c:pt>
                <c:pt idx="97">
                  <c:v>0.105263157895</c:v>
                </c:pt>
                <c:pt idx="98">
                  <c:v>0.0967741935484</c:v>
                </c:pt>
                <c:pt idx="99">
                  <c:v>0.0526315789474</c:v>
                </c:pt>
                <c:pt idx="100">
                  <c:v>0.132653061224</c:v>
                </c:pt>
                <c:pt idx="101">
                  <c:v>0.114583333333</c:v>
                </c:pt>
                <c:pt idx="102">
                  <c:v>0.09375</c:v>
                </c:pt>
                <c:pt idx="103">
                  <c:v>0.103092783505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第一前沿</c:f>
              <c:strCache>
                <c:ptCount val="1"/>
                <c:pt idx="0">
                  <c:v>第一前沿</c:v>
                </c:pt>
              </c:strCache>
            </c:strRef>
          </c:tx>
          <c:spPr>
            <a:ln w="0" cap="rnd">
              <a:noFill/>
              <a:prstDash val="solid"/>
              <a:round/>
            </a:ln>
          </c:spPr>
          <c:marker>
            <c:symbol val="circle"/>
            <c:size val="7"/>
            <c:spPr>
              <a:noFill/>
            </c:spPr>
          </c:marker>
          <c:dLbls>
            <c:delete val="1"/>
          </c:dLbls>
          <c:xVal>
            <c:numRef>
              <c:f>'Chart Data'!$C$2:$C$11</c:f>
              <c:numCache>
                <c:formatCode>General</c:formatCode>
                <c:ptCount val="10"/>
                <c:pt idx="0">
                  <c:v>0.2786885246</c:v>
                </c:pt>
                <c:pt idx="1">
                  <c:v>0.9918032787</c:v>
                </c:pt>
                <c:pt idx="2">
                  <c:v>0.131147541</c:v>
                </c:pt>
                <c:pt idx="3">
                  <c:v>0.2786885246</c:v>
                </c:pt>
                <c:pt idx="4">
                  <c:v>1</c:v>
                </c:pt>
                <c:pt idx="5">
                  <c:v>0.4918032787</c:v>
                </c:pt>
                <c:pt idx="6">
                  <c:v>0.5163934426</c:v>
                </c:pt>
                <c:pt idx="7">
                  <c:v>0.3606557377</c:v>
                </c:pt>
                <c:pt idx="8">
                  <c:v>0.8524590164</c:v>
                </c:pt>
                <c:pt idx="9">
                  <c:v>0.8606557377</c:v>
                </c:pt>
              </c:numCache>
            </c:numRef>
          </c:xVal>
          <c:yVal>
            <c:numRef>
              <c:f>'Chart Data'!$D$2:$D$11</c:f>
              <c:numCache>
                <c:formatCode>General</c:formatCode>
                <c:ptCount val="10"/>
                <c:pt idx="0">
                  <c:v>0.581818181818</c:v>
                </c:pt>
                <c:pt idx="1">
                  <c:v>0.340425531915</c:v>
                </c:pt>
                <c:pt idx="2">
                  <c:v>0.440366972477</c:v>
                </c:pt>
                <c:pt idx="3">
                  <c:v>0.421052631579</c:v>
                </c:pt>
                <c:pt idx="4">
                  <c:v>0.388888888889</c:v>
                </c:pt>
                <c:pt idx="5">
                  <c:v>0.42</c:v>
                </c:pt>
                <c:pt idx="6">
                  <c:v>0.353535353535</c:v>
                </c:pt>
                <c:pt idx="7">
                  <c:v>0.37962962963</c:v>
                </c:pt>
                <c:pt idx="8">
                  <c:v>0.373737373737</c:v>
                </c:pt>
                <c:pt idx="9">
                  <c:v>0.36036036036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约束满足度</a:t>
                </a:r>
                <a:endParaRPr sz="1425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crossBetween val="midCat"/>
      </c:valAx>
      <c:valAx>
        <c:axId val="48672768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新颖性</a:t>
                </a:r>
                <a:endParaRPr sz="1425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midCat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75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74024d5-bb4b-4a36-8df9-e2dba0219637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其他候选</c:f>
              <c:strCache>
                <c:ptCount val="1"/>
                <c:pt idx="0">
                  <c:v>其他候选</c:v>
                </c:pt>
              </c:strCache>
            </c:strRef>
          </c:tx>
          <c:spPr>
            <a:ln w="0" cap="rnd">
              <a:noFill/>
              <a:prstDash val="solid"/>
              <a:round/>
            </a:ln>
          </c:spPr>
          <c:marker>
            <c:symbol val="circle"/>
            <c:size val="5"/>
            <c:spPr>
              <a:noFill/>
            </c:spPr>
          </c:marker>
          <c:dLbls>
            <c:delete val="1"/>
          </c:dLbls>
          <c:xVal>
            <c:numRef>
              <c:f>'Chart Data'!$A$2:$A$105</c:f>
              <c:numCache>
                <c:formatCode>General</c:formatCode>
                <c:ptCount val="104"/>
                <c:pt idx="0">
                  <c:v>0.388888888889</c:v>
                </c:pt>
                <c:pt idx="1">
                  <c:v>0.364705882353</c:v>
                </c:pt>
                <c:pt idx="2">
                  <c:v>0.298076923077</c:v>
                </c:pt>
                <c:pt idx="3">
                  <c:v>0.309523809524</c:v>
                </c:pt>
                <c:pt idx="4">
                  <c:v>0.313131313131</c:v>
                </c:pt>
                <c:pt idx="5">
                  <c:v>0.385416666667</c:v>
                </c:pt>
                <c:pt idx="6">
                  <c:v>0.367346938776</c:v>
                </c:pt>
                <c:pt idx="7">
                  <c:v>0.336842105263</c:v>
                </c:pt>
                <c:pt idx="8">
                  <c:v>0.330188679245</c:v>
                </c:pt>
                <c:pt idx="9">
                  <c:v>0.347368421053</c:v>
                </c:pt>
                <c:pt idx="10">
                  <c:v>0.336956521739</c:v>
                </c:pt>
                <c:pt idx="11">
                  <c:v>0.356435643564</c:v>
                </c:pt>
                <c:pt idx="12">
                  <c:v>0.217391304348</c:v>
                </c:pt>
                <c:pt idx="13">
                  <c:v>0.309278350515</c:v>
                </c:pt>
                <c:pt idx="14">
                  <c:v>0.34375</c:v>
                </c:pt>
                <c:pt idx="15">
                  <c:v>0.278846153846</c:v>
                </c:pt>
                <c:pt idx="16">
                  <c:v>0.297872340426</c:v>
                </c:pt>
                <c:pt idx="17">
                  <c:v>0.282608695652</c:v>
                </c:pt>
                <c:pt idx="18">
                  <c:v>0.336842105263</c:v>
                </c:pt>
                <c:pt idx="19">
                  <c:v>0.337078651685</c:v>
                </c:pt>
                <c:pt idx="20">
                  <c:v>0.304347826087</c:v>
                </c:pt>
                <c:pt idx="21">
                  <c:v>0.308411214953</c:v>
                </c:pt>
                <c:pt idx="22">
                  <c:v>0.306930693069</c:v>
                </c:pt>
                <c:pt idx="23">
                  <c:v>0.129032258065</c:v>
                </c:pt>
                <c:pt idx="24">
                  <c:v>0.305263157895</c:v>
                </c:pt>
                <c:pt idx="25">
                  <c:v>0.297872340426</c:v>
                </c:pt>
                <c:pt idx="26">
                  <c:v>0.28</c:v>
                </c:pt>
                <c:pt idx="27">
                  <c:v>0.233333333333</c:v>
                </c:pt>
                <c:pt idx="28">
                  <c:v>0.265957446809</c:v>
                </c:pt>
                <c:pt idx="29">
                  <c:v>0.173913043478</c:v>
                </c:pt>
                <c:pt idx="30">
                  <c:v>0.260869565217</c:v>
                </c:pt>
                <c:pt idx="31">
                  <c:v>0.26213592233</c:v>
                </c:pt>
                <c:pt idx="32">
                  <c:v>0.202127659574</c:v>
                </c:pt>
                <c:pt idx="33">
                  <c:v>0.193548387097</c:v>
                </c:pt>
                <c:pt idx="34">
                  <c:v>0.28431372549</c:v>
                </c:pt>
                <c:pt idx="35">
                  <c:v>0.268518518519</c:v>
                </c:pt>
                <c:pt idx="36">
                  <c:v>0.264150943396</c:v>
                </c:pt>
                <c:pt idx="37">
                  <c:v>0.105263157895</c:v>
                </c:pt>
                <c:pt idx="38">
                  <c:v>0.0851063829787</c:v>
                </c:pt>
                <c:pt idx="39">
                  <c:v>0.191489361702</c:v>
                </c:pt>
                <c:pt idx="40">
                  <c:v>0.238636363636</c:v>
                </c:pt>
                <c:pt idx="41">
                  <c:v>0.202127659574</c:v>
                </c:pt>
                <c:pt idx="42">
                  <c:v>0.224489795918</c:v>
                </c:pt>
                <c:pt idx="43">
                  <c:v>0.148936170213</c:v>
                </c:pt>
                <c:pt idx="44">
                  <c:v>0.18691588785</c:v>
                </c:pt>
                <c:pt idx="45">
                  <c:v>0.168421052632</c:v>
                </c:pt>
                <c:pt idx="46">
                  <c:v>0.166666666667</c:v>
                </c:pt>
                <c:pt idx="47">
                  <c:v>0.229885057471</c:v>
                </c:pt>
                <c:pt idx="48">
                  <c:v>0.131313131313</c:v>
                </c:pt>
                <c:pt idx="49">
                  <c:v>0.198113207547</c:v>
                </c:pt>
                <c:pt idx="50">
                  <c:v>0.229166666667</c:v>
                </c:pt>
                <c:pt idx="51">
                  <c:v>0.0752688172043</c:v>
                </c:pt>
                <c:pt idx="52">
                  <c:v>0.0736842105263</c:v>
                </c:pt>
                <c:pt idx="53">
                  <c:v>0.117021276596</c:v>
                </c:pt>
                <c:pt idx="54">
                  <c:v>0.202127659574</c:v>
                </c:pt>
                <c:pt idx="55">
                  <c:v>0.147058823529</c:v>
                </c:pt>
                <c:pt idx="56">
                  <c:v>0.20652173913</c:v>
                </c:pt>
                <c:pt idx="57">
                  <c:v>0.197916666667</c:v>
                </c:pt>
                <c:pt idx="58">
                  <c:v>0.225225225225</c:v>
                </c:pt>
                <c:pt idx="59">
                  <c:v>0.223404255319</c:v>
                </c:pt>
                <c:pt idx="60">
                  <c:v>0.202127659574</c:v>
                </c:pt>
                <c:pt idx="61">
                  <c:v>0.218390804598</c:v>
                </c:pt>
                <c:pt idx="62">
                  <c:v>0.2</c:v>
                </c:pt>
                <c:pt idx="63">
                  <c:v>0.177570093458</c:v>
                </c:pt>
                <c:pt idx="64">
                  <c:v>0.0631578947368</c:v>
                </c:pt>
                <c:pt idx="65">
                  <c:v>0.197916666667</c:v>
                </c:pt>
                <c:pt idx="66">
                  <c:v>0.063829787234</c:v>
                </c:pt>
                <c:pt idx="67">
                  <c:v>0.123711340206</c:v>
                </c:pt>
                <c:pt idx="68">
                  <c:v>0.191489361702</c:v>
                </c:pt>
                <c:pt idx="69">
                  <c:v>0.0947368421053</c:v>
                </c:pt>
                <c:pt idx="70">
                  <c:v>0.176470588235</c:v>
                </c:pt>
                <c:pt idx="71">
                  <c:v>0.117021276596</c:v>
                </c:pt>
                <c:pt idx="72">
                  <c:v>0.0736842105263</c:v>
                </c:pt>
                <c:pt idx="73">
                  <c:v>0.0736842105263</c:v>
                </c:pt>
                <c:pt idx="74">
                  <c:v>0.0631578947368</c:v>
                </c:pt>
                <c:pt idx="75">
                  <c:v>0.0526315789474</c:v>
                </c:pt>
                <c:pt idx="76">
                  <c:v>0.170212765957</c:v>
                </c:pt>
                <c:pt idx="77">
                  <c:v>0.138613861386</c:v>
                </c:pt>
                <c:pt idx="78">
                  <c:v>0.0526315789474</c:v>
                </c:pt>
                <c:pt idx="79">
                  <c:v>0.102040816327</c:v>
                </c:pt>
                <c:pt idx="80">
                  <c:v>0.168421052632</c:v>
                </c:pt>
                <c:pt idx="81">
                  <c:v>0.10752688172</c:v>
                </c:pt>
                <c:pt idx="82">
                  <c:v>0.117021276596</c:v>
                </c:pt>
                <c:pt idx="83">
                  <c:v>0.112244897959</c:v>
                </c:pt>
                <c:pt idx="84">
                  <c:v>0.105263157895</c:v>
                </c:pt>
                <c:pt idx="85">
                  <c:v>0.105263157895</c:v>
                </c:pt>
                <c:pt idx="86">
                  <c:v>0.0631578947368</c:v>
                </c:pt>
                <c:pt idx="87">
                  <c:v>0.157894736842</c:v>
                </c:pt>
                <c:pt idx="88">
                  <c:v>0.0842105263158</c:v>
                </c:pt>
                <c:pt idx="89">
                  <c:v>0.10752688172</c:v>
                </c:pt>
                <c:pt idx="90">
                  <c:v>0.115789473684</c:v>
                </c:pt>
                <c:pt idx="91">
                  <c:v>0.145833333333</c:v>
                </c:pt>
                <c:pt idx="92">
                  <c:v>0.150537634409</c:v>
                </c:pt>
                <c:pt idx="93">
                  <c:v>0.126315789474</c:v>
                </c:pt>
                <c:pt idx="94">
                  <c:v>0.148936170213</c:v>
                </c:pt>
                <c:pt idx="95">
                  <c:v>0.0909090909091</c:v>
                </c:pt>
                <c:pt idx="96">
                  <c:v>0.145833333333</c:v>
                </c:pt>
                <c:pt idx="97">
                  <c:v>0.105263157895</c:v>
                </c:pt>
                <c:pt idx="98">
                  <c:v>0.0967741935484</c:v>
                </c:pt>
                <c:pt idx="99">
                  <c:v>0.0526315789474</c:v>
                </c:pt>
                <c:pt idx="100">
                  <c:v>0.132653061224</c:v>
                </c:pt>
                <c:pt idx="101">
                  <c:v>0.114583333333</c:v>
                </c:pt>
                <c:pt idx="102">
                  <c:v>0.09375</c:v>
                </c:pt>
                <c:pt idx="103">
                  <c:v>0.103092783505</c:v>
                </c:pt>
              </c:numCache>
            </c:numRef>
          </c:xVal>
          <c:yVal>
            <c:numRef>
              <c:f>'Chart Data'!$B$2:$B$105</c:f>
              <c:numCache>
                <c:formatCode>General</c:formatCode>
                <c:ptCount val="104"/>
                <c:pt idx="0">
                  <c:v>0.459417647557</c:v>
                </c:pt>
                <c:pt idx="1">
                  <c:v>0.429511328099</c:v>
                </c:pt>
                <c:pt idx="2">
                  <c:v>0.431961594603</c:v>
                </c:pt>
                <c:pt idx="3">
                  <c:v>0.393835631502</c:v>
                </c:pt>
                <c:pt idx="4">
                  <c:v>0.408006361769</c:v>
                </c:pt>
                <c:pt idx="5">
                  <c:v>0.462970817659</c:v>
                </c:pt>
                <c:pt idx="6">
                  <c:v>0.447036214628</c:v>
                </c:pt>
                <c:pt idx="7">
                  <c:v>0.434315923854</c:v>
                </c:pt>
                <c:pt idx="8">
                  <c:v>0.434279097926</c:v>
                </c:pt>
                <c:pt idx="9">
                  <c:v>0.453849957453</c:v>
                </c:pt>
                <c:pt idx="10">
                  <c:v>0.407059844678</c:v>
                </c:pt>
                <c:pt idx="11">
                  <c:v>0.451204533627</c:v>
                </c:pt>
                <c:pt idx="12">
                  <c:v>0.326581450718</c:v>
                </c:pt>
                <c:pt idx="13">
                  <c:v>0.44068825349</c:v>
                </c:pt>
                <c:pt idx="14">
                  <c:v>0.420677667602</c:v>
                </c:pt>
                <c:pt idx="15">
                  <c:v>0.398532619551</c:v>
                </c:pt>
                <c:pt idx="16">
                  <c:v>0.367057183486</c:v>
                </c:pt>
                <c:pt idx="17">
                  <c:v>0.393131530621</c:v>
                </c:pt>
                <c:pt idx="18">
                  <c:v>0.412253793836</c:v>
                </c:pt>
                <c:pt idx="19">
                  <c:v>0.436414926012</c:v>
                </c:pt>
                <c:pt idx="20">
                  <c:v>0.385696326546</c:v>
                </c:pt>
                <c:pt idx="21">
                  <c:v>0.418909899002</c:v>
                </c:pt>
                <c:pt idx="22">
                  <c:v>0.424579883828</c:v>
                </c:pt>
                <c:pt idx="23">
                  <c:v>0.295790340028</c:v>
                </c:pt>
                <c:pt idx="24">
                  <c:v>0.411311471014</c:v>
                </c:pt>
                <c:pt idx="25">
                  <c:v>0.413660845192</c:v>
                </c:pt>
                <c:pt idx="26">
                  <c:v>0.386023298512</c:v>
                </c:pt>
                <c:pt idx="27">
                  <c:v>0.369018679857</c:v>
                </c:pt>
                <c:pt idx="28">
                  <c:v>0.328601641831</c:v>
                </c:pt>
                <c:pt idx="29">
                  <c:v>0.307004632168</c:v>
                </c:pt>
                <c:pt idx="30">
                  <c:v>0.349422103353</c:v>
                </c:pt>
                <c:pt idx="31">
                  <c:v>0.400124260869</c:v>
                </c:pt>
                <c:pt idx="32">
                  <c:v>0.33514508446</c:v>
                </c:pt>
                <c:pt idx="33">
                  <c:v>0.31801628488</c:v>
                </c:pt>
                <c:pt idx="34">
                  <c:v>0.40587543547</c:v>
                </c:pt>
                <c:pt idx="35">
                  <c:v>0.384588855719</c:v>
                </c:pt>
                <c:pt idx="36">
                  <c:v>0.39877749537</c:v>
                </c:pt>
                <c:pt idx="37">
                  <c:v>0.27537767825</c:v>
                </c:pt>
                <c:pt idx="38">
                  <c:v>0.278798732564</c:v>
                </c:pt>
                <c:pt idx="39">
                  <c:v>0.332993738511</c:v>
                </c:pt>
                <c:pt idx="40">
                  <c:v>0.344075207233</c:v>
                </c:pt>
                <c:pt idx="41">
                  <c:v>0.326860634998</c:v>
                </c:pt>
                <c:pt idx="42">
                  <c:v>0.359276367407</c:v>
                </c:pt>
                <c:pt idx="43">
                  <c:v>0.301107385929</c:v>
                </c:pt>
                <c:pt idx="44">
                  <c:v>0.350351023369</c:v>
                </c:pt>
                <c:pt idx="45">
                  <c:v>0.294206244096</c:v>
                </c:pt>
                <c:pt idx="46">
                  <c:v>0.326553896137</c:v>
                </c:pt>
                <c:pt idx="47">
                  <c:v>0.346671321551</c:v>
                </c:pt>
                <c:pt idx="48">
                  <c:v>0.327387981784</c:v>
                </c:pt>
                <c:pt idx="49">
                  <c:v>0.344114999328</c:v>
                </c:pt>
                <c:pt idx="50">
                  <c:v>0.372119855486</c:v>
                </c:pt>
                <c:pt idx="51">
                  <c:v>0.267822037976</c:v>
                </c:pt>
                <c:pt idx="52">
                  <c:v>0.278663153888</c:v>
                </c:pt>
                <c:pt idx="53">
                  <c:v>0.284272458007</c:v>
                </c:pt>
                <c:pt idx="54">
                  <c:v>0.355502642157</c:v>
                </c:pt>
                <c:pt idx="55">
                  <c:v>0.310257622568</c:v>
                </c:pt>
                <c:pt idx="56">
                  <c:v>0.343390459658</c:v>
                </c:pt>
                <c:pt idx="57">
                  <c:v>0.340136164412</c:v>
                </c:pt>
                <c:pt idx="58">
                  <c:v>0.358256151884</c:v>
                </c:pt>
                <c:pt idx="59">
                  <c:v>0.329315199642</c:v>
                </c:pt>
                <c:pt idx="60">
                  <c:v>0.336044369652</c:v>
                </c:pt>
                <c:pt idx="61">
                  <c:v>0.334733473187</c:v>
                </c:pt>
                <c:pt idx="62">
                  <c:v>0.33928209645</c:v>
                </c:pt>
                <c:pt idx="63">
                  <c:v>0.338296160573</c:v>
                </c:pt>
                <c:pt idx="64">
                  <c:v>0.274846293957</c:v>
                </c:pt>
                <c:pt idx="65">
                  <c:v>0.335193036713</c:v>
                </c:pt>
                <c:pt idx="66">
                  <c:v>0.264566262818</c:v>
                </c:pt>
                <c:pt idx="67">
                  <c:v>0.296675361852</c:v>
                </c:pt>
                <c:pt idx="68">
                  <c:v>0.329335578739</c:v>
                </c:pt>
                <c:pt idx="69">
                  <c:v>0.282159834769</c:v>
                </c:pt>
                <c:pt idx="70">
                  <c:v>0.33598744183</c:v>
                </c:pt>
                <c:pt idx="71">
                  <c:v>0.275367717543</c:v>
                </c:pt>
                <c:pt idx="72">
                  <c:v>0.28255740127</c:v>
                </c:pt>
                <c:pt idx="73">
                  <c:v>0.268520320945</c:v>
                </c:pt>
                <c:pt idx="74">
                  <c:v>0.257351464613</c:v>
                </c:pt>
                <c:pt idx="75">
                  <c:v>0.260164268482</c:v>
                </c:pt>
                <c:pt idx="76">
                  <c:v>0.313521755475</c:v>
                </c:pt>
                <c:pt idx="77">
                  <c:v>0.334580840169</c:v>
                </c:pt>
                <c:pt idx="78">
                  <c:v>0.264367320818</c:v>
                </c:pt>
                <c:pt idx="79">
                  <c:v>0.29459489063</c:v>
                </c:pt>
                <c:pt idx="80">
                  <c:v>0.331327120273</c:v>
                </c:pt>
                <c:pt idx="81">
                  <c:v>0.283075841844</c:v>
                </c:pt>
                <c:pt idx="82">
                  <c:v>0.28576932404</c:v>
                </c:pt>
                <c:pt idx="83">
                  <c:v>0.286177519644</c:v>
                </c:pt>
                <c:pt idx="84">
                  <c:v>0.289412722409</c:v>
                </c:pt>
                <c:pt idx="85">
                  <c:v>0.294015754569</c:v>
                </c:pt>
                <c:pt idx="86">
                  <c:v>0.269096599065</c:v>
                </c:pt>
                <c:pt idx="87">
                  <c:v>0.326732114127</c:v>
                </c:pt>
                <c:pt idx="88">
                  <c:v>0.294538453893</c:v>
                </c:pt>
                <c:pt idx="89">
                  <c:v>0.277514936028</c:v>
                </c:pt>
                <c:pt idx="90">
                  <c:v>0.297974569474</c:v>
                </c:pt>
                <c:pt idx="91">
                  <c:v>0.318456406707</c:v>
                </c:pt>
                <c:pt idx="92">
                  <c:v>0.299802980413</c:v>
                </c:pt>
                <c:pt idx="93">
                  <c:v>0.288953892905</c:v>
                </c:pt>
                <c:pt idx="94">
                  <c:v>0.305333713323</c:v>
                </c:pt>
                <c:pt idx="95">
                  <c:v>0.294517126965</c:v>
                </c:pt>
                <c:pt idx="96">
                  <c:v>0.314944814398</c:v>
                </c:pt>
                <c:pt idx="97">
                  <c:v>0.28969962302</c:v>
                </c:pt>
                <c:pt idx="98">
                  <c:v>0.296922940888</c:v>
                </c:pt>
                <c:pt idx="99">
                  <c:v>0.26073978656</c:v>
                </c:pt>
                <c:pt idx="100">
                  <c:v>0.303191378299</c:v>
                </c:pt>
                <c:pt idx="101">
                  <c:v>0.298946636174</c:v>
                </c:pt>
                <c:pt idx="102">
                  <c:v>0.29245787632</c:v>
                </c:pt>
                <c:pt idx="103">
                  <c:v>0.298040001535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第一前沿</c:f>
              <c:strCache>
                <c:ptCount val="1"/>
                <c:pt idx="0">
                  <c:v>第一前沿</c:v>
                </c:pt>
              </c:strCache>
            </c:strRef>
          </c:tx>
          <c:spPr>
            <a:ln w="0" cap="rnd">
              <a:noFill/>
              <a:prstDash val="solid"/>
              <a:round/>
            </a:ln>
          </c:spPr>
          <c:marker>
            <c:symbol val="circle"/>
            <c:size val="7"/>
            <c:spPr>
              <a:noFill/>
            </c:spPr>
          </c:marker>
          <c:dLbls>
            <c:delete val="1"/>
          </c:dLbls>
          <c:xVal>
            <c:numRef>
              <c:f>'Chart Data'!$C$2:$C$11</c:f>
              <c:numCache>
                <c:formatCode>General</c:formatCode>
                <c:ptCount val="10"/>
                <c:pt idx="0">
                  <c:v>0.581818181818</c:v>
                </c:pt>
                <c:pt idx="1">
                  <c:v>0.340425531915</c:v>
                </c:pt>
                <c:pt idx="2">
                  <c:v>0.440366972477</c:v>
                </c:pt>
                <c:pt idx="3">
                  <c:v>0.421052631579</c:v>
                </c:pt>
                <c:pt idx="4">
                  <c:v>0.388888888889</c:v>
                </c:pt>
                <c:pt idx="5">
                  <c:v>0.42</c:v>
                </c:pt>
                <c:pt idx="6">
                  <c:v>0.353535353535</c:v>
                </c:pt>
                <c:pt idx="7">
                  <c:v>0.37962962963</c:v>
                </c:pt>
                <c:pt idx="8">
                  <c:v>0.373737373737</c:v>
                </c:pt>
                <c:pt idx="9">
                  <c:v>0.36036036036</c:v>
                </c:pt>
              </c:numCache>
            </c:numRef>
          </c:xVal>
          <c:yVal>
            <c:numRef>
              <c:f>'Chart Data'!$D$2:$D$11</c:f>
              <c:numCache>
                <c:formatCode>General</c:formatCode>
                <c:ptCount val="10"/>
                <c:pt idx="0">
                  <c:v>0.624763575354</c:v>
                </c:pt>
                <c:pt idx="1">
                  <c:v>0.442429243082</c:v>
                </c:pt>
                <c:pt idx="2">
                  <c:v>0.50848145927</c:v>
                </c:pt>
                <c:pt idx="3">
                  <c:v>0.471714206591</c:v>
                </c:pt>
                <c:pt idx="4">
                  <c:v>0.465818454355</c:v>
                </c:pt>
                <c:pt idx="5">
                  <c:v>0.483634004626</c:v>
                </c:pt>
                <c:pt idx="6">
                  <c:v>0.476368138669</c:v>
                </c:pt>
                <c:pt idx="7">
                  <c:v>0.46561152698</c:v>
                </c:pt>
                <c:pt idx="8">
                  <c:v>0.46080210717</c:v>
                </c:pt>
                <c:pt idx="9">
                  <c:v>0.447498651083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新颖性</a:t>
                </a:r>
                <a:endParaRPr sz="1425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crossBetween val="midCat"/>
      </c:valAx>
      <c:valAx>
        <c:axId val="48672768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候选独特性</a:t>
                </a:r>
                <a:endParaRPr sz="1425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midCat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75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3949298-0ce5-4ba8-a52a-8c21a83ab2bb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等权加权</c:f>
              <c:strCache>
                <c:ptCount val="1"/>
                <c:pt idx="0">
                  <c:v>等权加权</c:v>
                </c:pt>
              </c:strCache>
            </c:strRef>
          </c:tx>
          <c:spPr>
            <a:solidFill>
              <a:srgbClr val="2563A6"/>
            </a:solidFill>
          </c:spPr>
          <c:invertIfNegative val="0"/>
          <c:dLbls>
            <c:delete val="1"/>
          </c:dLbls>
          <c:cat>
            <c:strRef>
              <c:f>'Chart Data'!$A$2:$A$5</c:f>
              <c:strCache>
                <c:ptCount val="4"/>
                <c:pt idx="0">
                  <c:v>约束满足度</c:v>
                </c:pt>
                <c:pt idx="1">
                  <c:v>保守性</c:v>
                </c:pt>
                <c:pt idx="2">
                  <c:v>新颖性</c:v>
                </c:pt>
                <c:pt idx="3">
                  <c:v>候选独特性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0.896721311475</c:v>
                </c:pt>
                <c:pt idx="1">
                  <c:v>0.989130434775</c:v>
                </c:pt>
                <c:pt idx="2">
                  <c:v>0.307321043209</c:v>
                </c:pt>
                <c:pt idx="3">
                  <c:v>0.405128122739</c:v>
                </c:pt>
              </c:numCache>
            </c:numRef>
          </c:val>
        </c:ser>
        <c:ser>
          <c:idx val="1"/>
          <c:order val="1"/>
          <c:tx>
            <c:strRef>
              <c:f>Pareto</c:f>
              <c:strCache>
                <c:ptCount val="1"/>
                <c:pt idx="0">
                  <c:v>Pareto</c:v>
                </c:pt>
              </c:strCache>
            </c:strRef>
          </c:tx>
          <c:spPr>
            <a:solidFill>
              <a:srgbClr val="14918B"/>
            </a:solidFill>
          </c:spPr>
          <c:invertIfNegative val="0"/>
          <c:dLbls>
            <c:delete val="1"/>
          </c:dLbls>
          <c:cat>
            <c:strRef>
              <c:f>'Chart Data'!$C$2:$C$5</c:f>
              <c:strCache>
                <c:ptCount val="4"/>
                <c:pt idx="0">
                  <c:v>约束满足度</c:v>
                </c:pt>
                <c:pt idx="1">
                  <c:v>保守性</c:v>
                </c:pt>
                <c:pt idx="2">
                  <c:v>新颖性</c:v>
                </c:pt>
                <c:pt idx="3">
                  <c:v>候选独特性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0.60696721312</c:v>
                </c:pt>
                <c:pt idx="1">
                  <c:v>0.973913043475</c:v>
                </c:pt>
                <c:pt idx="2">
                  <c:v>0.375065227596</c:v>
                </c:pt>
                <c:pt idx="3">
                  <c:v>0.460115297112</c:v>
                </c:pt>
              </c:numCache>
            </c:numRef>
          </c:val>
        </c:ser>
        <c:ser>
          <c:idx val="2"/>
          <c:order val="2"/>
          <c:tx>
            <c:strRef>
              <c:f>分维度轮转</c:f>
              <c:strCache>
                <c:ptCount val="1"/>
                <c:pt idx="0">
                  <c:v>分维度轮转</c:v>
                </c:pt>
              </c:strCache>
            </c:strRef>
          </c:tx>
          <c:spPr>
            <a:solidFill>
              <a:srgbClr val="D98532"/>
            </a:solidFill>
          </c:spPr>
          <c:invertIfNegative val="0"/>
          <c:dLbls>
            <c:delete val="1"/>
          </c:dLbls>
          <c:cat>
            <c:strRef>
              <c:f>'Chart Data'!$E$2:$E$5</c:f>
              <c:strCache>
                <c:ptCount val="4"/>
                <c:pt idx="0">
                  <c:v>约束满足度</c:v>
                </c:pt>
                <c:pt idx="1">
                  <c:v>保守性</c:v>
                </c:pt>
                <c:pt idx="2">
                  <c:v>新颖性</c:v>
                </c:pt>
                <c:pt idx="3">
                  <c:v>候选独特性</c:v>
                </c:pt>
              </c:strCache>
            </c:str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0.625409836075</c:v>
                </c:pt>
                <c:pt idx="1">
                  <c:v>0.97608695652</c:v>
                </c:pt>
                <c:pt idx="2">
                  <c:v>0.312139635658</c:v>
                </c:pt>
                <c:pt idx="3">
                  <c:v>0.417938325242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layout/>
          <c:overlay val="0"/>
          <c:txPr>
            <a:bodyPr rot="0" spcFirstLastPara="0" vertOverflow="ellipsis" vert="horz" wrap="square" anchor="ctr" anchorCtr="1"/>
            <a:lstStyle/>
            <a:p>
              <a:pPr>
                <a:defRPr lang="zh-CN" sz="1425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平均分</a:t>
                </a:r>
                <a:endParaRPr sz="1425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75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016a01e-f7ba-4816-8dee-939207e31e31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Top-20 Jaccard</c:f>
              <c:strCache>
                <c:ptCount val="1"/>
                <c:pt idx="0">
                  <c:v>Top-20 Jaccard</c:v>
                </c:pt>
              </c:strCache>
            </c:strRef>
          </c:tx>
          <c:spPr>
            <a:solidFill>
              <a:srgbClr val="2563A6"/>
            </a:solidFill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275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defRPr>
                    </a:pPr>
                    <a:r>
                      <a:rPr sz="1275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0.333</a:t>
                    </a:r>
                    <a:endParaRPr sz="1275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75" b="0" i="0" u="none" strike="noStrike" kern="1200" baseline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275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defRPr>
                    </a:pPr>
                    <a:r>
                      <a:rPr sz="1275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0.905</a:t>
                    </a:r>
                    <a:endParaRPr sz="1275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75" b="0" i="0" u="none" strike="noStrike" kern="1200" baseline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275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defRPr>
                    </a:pPr>
                    <a:r>
                      <a:rPr sz="1275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0.481</a:t>
                    </a:r>
                    <a:endParaRPr sz="1275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75" b="0" i="0" u="none" strike="noStrike" kern="1200" baseline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275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defRPr>
                    </a:pPr>
                    <a:r>
                      <a:rPr sz="1275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0.667</a:t>
                    </a:r>
                    <a:endParaRPr sz="1275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75" b="0" i="0" u="none" strike="noStrike" kern="1200" baseline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移除约束满足度</c:v>
                </c:pt>
                <c:pt idx="1">
                  <c:v>移除保守性</c:v>
                </c:pt>
                <c:pt idx="2">
                  <c:v>移除新颖性</c:v>
                </c:pt>
                <c:pt idx="3">
                  <c:v>移除候选独特性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0.333333333333</c:v>
                </c:pt>
                <c:pt idx="1">
                  <c:v>0.904761904762</c:v>
                </c:pt>
                <c:pt idx="2">
                  <c:v>0.481481481481</c:v>
                </c:pt>
                <c:pt idx="3">
                  <c:v>0.666666666667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与完整四维名单的 Jaccard</a:t>
                </a:r>
                <a:endParaRPr sz="1425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title>
          <c:layout/>
          <c:overlay val="0"/>
          <c:txPr>
            <a:bodyPr rot="0" spcFirstLastPara="0" vertOverflow="ellipsis" vert="horz" wrap="square" anchor="ctr" anchorCtr="1"/>
            <a:lstStyle/>
            <a:p>
              <a:pPr>
                <a:defRPr lang="zh-CN" sz="1425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</a:p>
          </c:txPr>
        </c:title>
        <c:numFmt formatCode="0.00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2c04ef7b-dd4b-4448-8353-7a385d1953d9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none"/>
        <c:varyColors val="0"/>
        <c:ser>
          <c:idx val="0"/>
          <c:order val="0"/>
          <c:tx>
            <c:strRef>
              <c:f>扰动次数</c:f>
              <c:strCache>
                <c:ptCount val="1"/>
                <c:pt idx="0">
                  <c:v>扰动次数</c:v>
                </c:pt>
              </c:strCache>
            </c:strRef>
          </c:tx>
          <c:spPr>
            <a:solidFill>
              <a:srgbClr val="2563A6"/>
            </a:solidFill>
          </c:spPr>
          <c:invertIfNegative val="0"/>
          <c:dLbls>
            <c:delete val="1"/>
          </c:dLbls>
          <c:cat>
            <c:strRef>
              <c:f>'Chart Data'!$A$2:$A$5</c:f>
              <c:strCache>
                <c:ptCount val="4"/>
                <c:pt idx="0">
                  <c:v>0.7–0.8</c:v>
                </c:pt>
                <c:pt idx="1">
                  <c:v>0.8–0.9</c:v>
                </c:pt>
                <c:pt idx="2">
                  <c:v>0.9–1</c:v>
                </c:pt>
                <c:pt idx="3">
                  <c:v>1.0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</c:v>
                </c:pt>
                <c:pt idx="1">
                  <c:v>39</c:v>
                </c:pt>
                <c:pt idx="2">
                  <c:v>52</c:v>
                </c:pt>
                <c:pt idx="3">
                  <c:v>108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Top-20 Jaccard</a:t>
                </a:r>
                <a:endParaRPr sz="1425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次数</a:t>
                </a:r>
                <a:endParaRPr sz="1425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2693d416-93ec-4ec3-8330-da6e095d75f9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域覆盖 0.85</c:f>
              <c:strCache>
                <c:ptCount val="1"/>
                <c:pt idx="0">
                  <c:v>域覆盖 0.85</c:v>
                </c:pt>
              </c:strCache>
            </c:strRef>
          </c:tx>
          <c:spPr>
            <a:ln w="28575" cap="rnd">
              <a:solidFill>
                <a:srgbClr val="2563A6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2563A6"/>
              </a:solidFill>
            </c:spPr>
          </c:marker>
          <c:dLbls>
            <c:delete val="1"/>
          </c:dLbls>
          <c:cat>
            <c:strRef>
              <c:f>'Chart Data'!$A$2:$A$4</c:f>
              <c:strCache>
                <c:ptCount val="3"/>
                <c:pt idx="0">
                  <c:v>25%</c:v>
                </c:pt>
                <c:pt idx="1">
                  <c:v>50%</c:v>
                </c:pt>
                <c:pt idx="2">
                  <c:v>75%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0.6</c:v>
                </c:pt>
                <c:pt idx="1">
                  <c:v>1</c:v>
                </c:pt>
                <c:pt idx="2">
                  <c:v>0.6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域覆盖 0.95</c:f>
              <c:strCache>
                <c:ptCount val="1"/>
                <c:pt idx="0">
                  <c:v>域覆盖 0.95</c:v>
                </c:pt>
              </c:strCache>
            </c:strRef>
          </c:tx>
          <c:spPr>
            <a:ln w="28575" cap="rnd">
              <a:solidFill>
                <a:srgbClr val="14918B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14918B"/>
              </a:solidFill>
            </c:spPr>
          </c:marker>
          <c:dLbls>
            <c:delete val="1"/>
          </c:dLbls>
          <c:cat>
            <c:strRef>
              <c:f>'Chart Data'!$C$2:$C$4</c:f>
              <c:strCache>
                <c:ptCount val="3"/>
                <c:pt idx="0">
                  <c:v>25%</c:v>
                </c:pt>
                <c:pt idx="1">
                  <c:v>50%</c:v>
                </c:pt>
                <c:pt idx="2">
                  <c:v>75%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0.6</c:v>
                </c:pt>
                <c:pt idx="1">
                  <c:v>1</c:v>
                </c:pt>
                <c:pt idx="2">
                  <c:v>0.666666666667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域覆盖 1.00</c:f>
              <c:strCache>
                <c:ptCount val="1"/>
                <c:pt idx="0">
                  <c:v>域覆盖 1.00</c:v>
                </c:pt>
              </c:strCache>
            </c:strRef>
          </c:tx>
          <c:spPr>
            <a:ln w="28575" cap="rnd">
              <a:solidFill>
                <a:srgbClr val="D98532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D98532"/>
              </a:solidFill>
            </c:spPr>
          </c:marker>
          <c:dLbls>
            <c:delete val="1"/>
          </c:dLbls>
          <c:cat>
            <c:strRef>
              <c:f>'Chart Data'!$E$2:$E$4</c:f>
              <c:strCache>
                <c:ptCount val="3"/>
                <c:pt idx="0">
                  <c:v>25%</c:v>
                </c:pt>
                <c:pt idx="1">
                  <c:v>50%</c:v>
                </c:pt>
                <c:pt idx="2">
                  <c:v>75%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0.6</c:v>
                </c:pt>
                <c:pt idx="1">
                  <c:v>1</c:v>
                </c:pt>
                <c:pt idx="2">
                  <c:v>0.666666666667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最低可靠配对比例</a:t>
                </a:r>
                <a:endParaRPr sz="1425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Top-20 Jaccard</a:t>
                </a:r>
                <a:endParaRPr sz="1425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75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8106d8f-a509-406b-8389-69aae4bffce6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研究目标是构建评价器。课程 GV02-03 不要求训练新模型，序列 VAE 是生成候选的扩展。</a:t>
            </a:r>
          </a:p>
          <a:p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RQ1–RQ3 对应原始任务第 20–22 页。三种策略必须在相同候选池、相同预算下比较。</a:t>
            </a:r>
          </a:p>
          <a:p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输入 1,000；基础 QC 1,000；家族支持 147，歧义 47，排除 806；联合门槛合格 136；最终排名 114。参考按簇隔离。</a:t>
            </a:r>
          </a:p>
          <a:p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使用域经验百分位、参考 MSA 的 23 个位点、天然参考最近全局距离及同池已解析距离均值。</a:t>
            </a:r>
          </a:p>
          <a:p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数值来自两个相关表。仅解释筛选后的 114 条候选，不推广到全部生成候选或天然蛋白。</a:t>
            </a:r>
          </a:p>
          <a:p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散点来自 reports/pareto_ranking.tsv。投影显示两组目标关系，第一前沿仍按完整四维定义，不按二维投影重新判定。完整散点矩阵在报告。</a:t>
            </a:r>
          </a:p>
          <a:p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数据来自 strategy_summary.tsv，固定同池、固定预算；均值不是功能成功率。</a:t>
            </a:r>
          </a:p>
          <a:p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 147 条主池的 10,731 对中有 3,377 对未解析。条件均值必须与有效配对比例和全部配对均值界限一起解释，界限不是置信区间。</a:t>
            </a:r>
          </a:p>
          <a:p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第一前沿共 10 条，统计每个策略名单从全池第一前沿纳入多少条；不将各子集自己的前沿混为全池前沿。</a:t>
            </a:r>
          </a:p>
          <a:p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消融仅移除排序目标，硬门槛仍保持。保守性影响较小不能推广为生物学冗余。</a:t>
            </a:r>
          </a:p>
          <a:p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200 次独立相对权重扰动 ±20%，重新归一化；门槛共 27 组，每组会重建合格参照池。</a:t>
            </a:r>
          </a:p>
          <a:p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 114 条候选池无放回抽取 20 条，重复 1,000 次。仅比较固定批次计算代理；经验比例不是生物学功能检验。</a:t>
            </a:r>
          </a:p>
          <a:p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评价及筛选链路已复现。原训练 checkpoint 未交付，不能声称原训练与原采样已重放。家族/Pfam/TM 本次校验证据而未完整重跑外部工具。</a:t>
            </a:r>
          </a:p>
          <a:p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3619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GvpA 候选序列的多目标评价与筛选</a:t>
            </a:r>
            <a:endParaRPr sz="2925" b="1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239500" y="6400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28750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四维证据、固定预算筛选与参数敏感性分析</a:t>
            </a:r>
            <a:endParaRPr sz="232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686050"/>
            <a:ext cx="333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850" b="1">
                <a:solidFill>
                  <a:srgbClr val="256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0" b="1">
                <a:solidFill>
                  <a:srgbClr val="256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1,000</a:t>
            </a:r>
            <a:endParaRPr sz="5850" b="1">
              <a:solidFill>
                <a:srgbClr val="256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37909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生成候选</a:t>
            </a:r>
            <a:endParaRPr sz="202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429125" y="2686050"/>
            <a:ext cx="31432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850" b="1">
                <a:solidFill>
                  <a:srgbClr val="1491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0" b="1">
                <a:solidFill>
                  <a:srgbClr val="1491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114</a:t>
            </a:r>
            <a:endParaRPr sz="5850" b="1">
              <a:solidFill>
                <a:srgbClr val="1491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429125" y="3790950"/>
            <a:ext cx="3714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证据充分的排名候选</a:t>
            </a:r>
            <a:endParaRPr sz="202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72550" y="2686050"/>
            <a:ext cx="20002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850" b="1">
                <a:solidFill>
                  <a:srgbClr val="D98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0" b="1">
                <a:solidFill>
                  <a:srgbClr val="D98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5850" b="1">
              <a:solidFill>
                <a:srgbClr val="D985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020175" y="3790950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筛选策略</a:t>
            </a:r>
            <a:endParaRPr sz="202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5181600"/>
            <a:ext cx="106680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GV02-03    发布批次 seed 42</a:t>
            </a:r>
            <a:endParaRPr sz="18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完整报告、候选名单和复现入口随仓库发布</a:t>
            </a:r>
            <a:endParaRPr sz="18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3619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研究问题与评价设计</a:t>
            </a:r>
            <a:endParaRPr sz="2925" b="1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239500" y="6400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409700"/>
          <a:ext cx="10972800" cy="3333750"/>
        </p:xfrm>
        <a:graphic>
          <a:graphicData uri="http://schemas.openxmlformats.org/drawingml/2006/table">
            <a:tbl>
              <a:tblPr/>
              <a:tblGrid>
                <a:gridCol w="3476625"/>
                <a:gridCol w="7496175"/>
              </a:tblGrid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研究问题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实验与判断依据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RQ1 目标之间如何冲突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Pearson / Spearman 与四维散点矩阵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RQ2 不同策略如何改变名单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加权、Pareto、轮转，同池比较质量与重叠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RQ3 名单对参数是否敏感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逐维消融、权重扰动与域/配对覆盖门槛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选做 同池随机筛选对照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 114 条中抽取 20 条，重复 1,000 次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257800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主分析预算为 Top-20，同时发布 Top-10 和 Top-50。</a:t>
            </a:r>
            <a:endParaRPr sz="2100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3619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候选池与完整审计</a:t>
            </a:r>
            <a:endParaRPr sz="2925" b="1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239500" y="6400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371600"/>
          <a:ext cx="10972800" cy="3333750"/>
        </p:xfrm>
        <a:graphic>
          <a:graphicData uri="http://schemas.openxmlformats.org/drawingml/2006/table">
            <a:tbl>
              <a:tblPr/>
              <a:tblGrid>
                <a:gridCol w="3619500"/>
                <a:gridCol w="1381125"/>
                <a:gridCol w="5972175"/>
              </a:tblGrid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筛选阶段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数量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保留依据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 / 基础 QC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1,000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格式、长度、组成与生成元数据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GvpA 家族支持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147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竞争性家族证据，独立于域命中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QC + 家族 + 域门槛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136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域分数 ≥25 bits，模型覆盖 ≥0.95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四维证据充分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114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天然参考已解析，可靠配对比例 ≥50%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143500"/>
            <a:ext cx="107632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346 条保守参考，按同源簇拆为 277 / 33 / 36。</a:t>
            </a:r>
            <a:endParaRPr sz="202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47 条歧义候选和所有排除原因均保留在审计表。</a:t>
            </a:r>
            <a:endParaRPr sz="202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3619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四个评价维度</a:t>
            </a:r>
            <a:endParaRPr sz="2925" b="1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239500" y="6400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371600"/>
          <a:ext cx="10972800" cy="3524250"/>
        </p:xfrm>
        <a:graphic>
          <a:graphicData uri="http://schemas.openxmlformats.org/drawingml/2006/table">
            <a:tbl>
              <a:tblPr/>
              <a:tblGrid>
                <a:gridCol w="2095500"/>
                <a:gridCol w="4191000"/>
                <a:gridCol w="4686300"/>
              </a:tblGrid>
              <a:tr h="7048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计算含义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注意事项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</a:tr>
              <a:tr h="7048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约束满足度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PF00741 域支持和模型覆盖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域命中不能独立证明 GvpA 身份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7048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保守性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 个参考统计保守位点一致率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候选不参与定义参考位点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新颖性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到可靠天然参考的最近全局距离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无可靠参考匹配时保留缺失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7048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候选独特性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到联合合格池的已解析距离均值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 136 条参照池，记录覆盖率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353050"/>
            <a:ext cx="107632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四维均为 [0, 1]，越大越好。集合多样性在入选集合内另行计算。</a:t>
            </a:r>
            <a:endParaRPr sz="1950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3619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RQ1：当前候选池的目标冲突</a:t>
            </a:r>
            <a:endParaRPr sz="2925" b="1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239500" y="6400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295400"/>
          <a:ext cx="10972800" cy="3714753"/>
        </p:xfrm>
        <a:graphic>
          <a:graphicData uri="http://schemas.openxmlformats.org/drawingml/2006/table">
            <a:tbl>
              <a:tblPr/>
              <a:tblGrid>
                <a:gridCol w="6496050"/>
                <a:gridCol w="2238375"/>
                <a:gridCol w="2238375"/>
              </a:tblGrid>
              <a:tr h="53067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维度对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Pearson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Spearman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</a:tr>
              <a:tr h="53067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约束满足度 / 保守性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0.3644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0.3362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53067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约束满足度 / 新颖性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-0.3809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-0.3550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约束满足度 / 候选独特性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-0.4269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-0.4341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53067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保守性 / 新颖性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-0.4460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-0.4267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保守性 / 候选独特性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-0.4885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-0.4474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53067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新颖性 / 候选独特性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0.9749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0.9694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257800"/>
            <a:ext cx="10763250" cy="933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保守性与候选独特性负相关最强。</a:t>
            </a:r>
            <a:endParaRPr sz="1950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新颖性与候选独特性高度相关，两个排序目标在本批次有明显重叠。</a:t>
            </a:r>
            <a:endParaRPr sz="1950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619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目标空间中的候选与 Pareto 前沿</a:t>
            </a:r>
            <a:endParaRPr sz="2925" b="1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239500" y="6400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Chart"/>
          <p:cNvGraphicFramePr/>
          <p:nvPr/>
        </p:nvGraphicFramePr>
        <p:xfrm>
          <a:off x="609600" y="1428750"/>
          <a:ext cx="52768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" name="Chart"/>
          <p:cNvGraphicFramePr/>
          <p:nvPr/>
        </p:nvGraphicFramePr>
        <p:xfrm>
          <a:off x="6286500" y="1428750"/>
          <a:ext cx="52768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09600" y="5667375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四维第一非支配前沿有 10 条。二维图是投影，前沿归属由全部四个目标共同决定。</a:t>
            </a:r>
            <a:endParaRPr sz="1800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619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RQ2：三种策略的 Top-20 质量</a:t>
            </a:r>
            <a:endParaRPr sz="2925" b="1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239500" y="6400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Chart"/>
          <p:cNvGraphicFramePr/>
          <p:nvPr/>
        </p:nvGraphicFramePr>
        <p:xfrm>
          <a:off x="609600" y="1381125"/>
          <a:ext cx="77152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8724900" y="1838325"/>
            <a:ext cx="2857500" cy="3238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等权加权</a:t>
            </a:r>
            <a:endParaRPr sz="202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约束、保守性均值最高</a:t>
            </a:r>
            <a:endParaRPr sz="202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>
              <a:def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Pareto</a:t>
            </a:r>
            <a:endParaRPr sz="202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新颖性、独特性最高</a:t>
            </a:r>
            <a:endParaRPr sz="202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69595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轮转覆盖各维度高分候选；完整九份名单同时保留预警和原始证据。</a:t>
            </a:r>
            <a:endParaRPr sz="1950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3619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集合多样性与证据覆盖</a:t>
            </a:r>
            <a:endParaRPr sz="2925" b="1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239500" y="6400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524000"/>
          <a:ext cx="10972800" cy="2667000"/>
        </p:xfrm>
        <a:graphic>
          <a:graphicData uri="http://schemas.openxmlformats.org/drawingml/2006/table">
            <a:tbl>
              <a:tblPr/>
              <a:tblGrid>
                <a:gridCol w="2952750"/>
                <a:gridCol w="2428875"/>
                <a:gridCol w="2286000"/>
                <a:gridCol w="3305175"/>
              </a:tblGrid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Top-20 策略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已解析对均值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配对覆盖率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全部配对均值界限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等权加权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0.4122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79.5%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0.3276–0.5328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Pareto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0.4874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76.8%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0.3745–0.6061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分维度轮转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0.4533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78.4%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0.3555–0.5713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4762500"/>
            <a:ext cx="107632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Pareto 的条件均值较高，同时配对覆盖率较低。</a:t>
            </a:r>
            <a:endParaRPr sz="217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三种策略的未知距离界限重叠，不能据此断言完整集合多样性严格更高。</a:t>
            </a:r>
            <a:endParaRPr sz="217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3619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同一候选池的第一 Pareto 前沿</a:t>
            </a:r>
            <a:endParaRPr sz="2925" b="1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239500" y="6400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581150"/>
          <a:ext cx="10972800" cy="2619376"/>
        </p:xfrm>
        <a:graphic>
          <a:graphicData uri="http://schemas.openxmlformats.org/drawingml/2006/table">
            <a:tbl>
              <a:tblPr/>
              <a:tblGrid>
                <a:gridCol w="2667000"/>
                <a:gridCol w="2762250"/>
                <a:gridCol w="2762250"/>
                <a:gridCol w="2781300"/>
              </a:tblGrid>
              <a:tr h="654844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Top-10 前沿成员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Top-20 前沿成员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Top-50 前沿成员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</a:tr>
              <a:tr h="654844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等权加权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654844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Pareto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分维度轮转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4886325"/>
            <a:ext cx="107632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114 条候选形成 13 个非支配层。</a:t>
            </a:r>
            <a:endParaRPr sz="217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前沿代表目标之间的计算取舍，不代表已验证功能最优。</a:t>
            </a:r>
            <a:endParaRPr sz="217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619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消融：约束分对入选名单影响最大</a:t>
            </a:r>
            <a:endParaRPr sz="2925" b="1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239500" y="6400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Chart"/>
          <p:cNvGraphicFramePr/>
          <p:nvPr/>
        </p:nvGraphicFramePr>
        <p:xfrm>
          <a:off x="609600" y="1381125"/>
          <a:ext cx="7000875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8153400" y="1809750"/>
            <a:ext cx="3429000" cy="3333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约束分移除后</a:t>
            </a:r>
            <a:endParaRPr sz="202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名单 Jaccard 仅 0.3333</a:t>
            </a:r>
            <a:endParaRPr sz="202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>
              <a:def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保守性在本批次接近饱和</a:t>
            </a:r>
            <a:endParaRPr sz="202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移除后的名单变化最小</a:t>
            </a:r>
            <a:endParaRPr sz="202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705475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新颖性和候选独特性高度相关，但移除任一维仍会改变名单。</a:t>
            </a:r>
            <a:endParaRPr sz="1950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3619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RQ3：覆盖门槛比局部域阈值更敏感</a:t>
            </a:r>
            <a:endParaRPr sz="2925" b="1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239500" y="6400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Chart"/>
          <p:cNvGraphicFramePr/>
          <p:nvPr/>
        </p:nvGraphicFramePr>
        <p:xfrm>
          <a:off x="609600" y="1476375"/>
          <a:ext cx="5286375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="6381750" y="1476375"/>
          <a:ext cx="520065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09600" y="5248275"/>
            <a:ext cx="5143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权重扰动 Jaccard 均值 0.9385</a:t>
            </a:r>
            <a:endParaRPr sz="1950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门槛扰动范围 0.6000–1.0000</a:t>
            </a:r>
            <a:endParaRPr sz="1950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381750" y="5248275"/>
            <a:ext cx="52006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50% 配对门槛下域阈值扰动不改变名单。</a:t>
            </a:r>
            <a:endParaRPr sz="1950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25% / 75% 门槛则明显改变选择。</a:t>
            </a:r>
            <a:endParaRPr sz="1950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3619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随机对照：优势取决于目标</a:t>
            </a:r>
            <a:endParaRPr sz="2925" b="1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239500" y="6400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409700"/>
          <a:ext cx="10972800" cy="3190875"/>
        </p:xfrm>
        <a:graphic>
          <a:graphicData uri="http://schemas.openxmlformats.org/drawingml/2006/table">
            <a:tbl>
              <a:tblPr/>
              <a:tblGrid>
                <a:gridCol w="2571750"/>
                <a:gridCol w="2095500"/>
                <a:gridCol w="2095500"/>
                <a:gridCol w="2095500"/>
                <a:gridCol w="2114550"/>
              </a:tblGrid>
              <a:tr h="6381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随机均值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等权加权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Pareto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分维度轮转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</a:tr>
              <a:tr h="6381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约束满足度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0.6811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0.8967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0.6070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0.6254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6381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新颖性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0.2126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0.3073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0.3751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0.3121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多样性下界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0.3188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0.3276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0.3745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0.3555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6381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配对覆盖率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0.9235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0.7947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0.7684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0.7842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5124450"/>
            <a:ext cx="107632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三种策略提高新颖性，但 Pareto 与轮转的约束均值低于随机。</a:t>
            </a:r>
            <a:endParaRPr sz="217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多目标筛选没有在所有指标上同时获胜。</a:t>
            </a:r>
            <a:endParaRPr sz="2175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6195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适用场景与复现边界</a:t>
            </a:r>
            <a:endParaRPr sz="2925" b="1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239500" y="6400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75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1381125"/>
          <a:ext cx="10972800" cy="2619376"/>
        </p:xfrm>
        <a:graphic>
          <a:graphicData uri="http://schemas.openxmlformats.org/drawingml/2006/table">
            <a:tbl>
              <a:tblPr/>
              <a:tblGrid>
                <a:gridCol w="3952875"/>
                <a:gridCol w="7019925"/>
              </a:tblGrid>
              <a:tr h="654844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使用场景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策略与检查重点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B"/>
                    </a:solidFill>
                  </a:tcPr>
                </a:tc>
              </a:tr>
              <a:tr h="654844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重视约束，验证预算有限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加权名单，预先声明权重并审阅预警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  <a:tr h="654844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希望探索目标之间的取舍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Pareto 前沿，检查约束下降与未知距离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希望覆盖各维度高分候选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分维度轮转，固定总预算并检查均衡性</a:t>
                      </a:r>
                      <a:endParaRPr sz="1650" b="0">
                        <a:solidFill>
                          <a:srgbClr val="17324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09600" y="4410075"/>
            <a:ext cx="1097280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评价复现入口：experiments/run_full_experiment.py</a:t>
            </a:r>
            <a:endParaRPr sz="1800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732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 QC / 比对复现：experiments/reproduce_project.py</a:t>
            </a:r>
            <a:endParaRPr sz="1800" b="0">
              <a:solidFill>
                <a:srgbClr val="1732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7150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266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参考仍为暂定版；原 VAE 权重缺失。候选尚无表达、结构、组装或功能确认。</a:t>
            </a:r>
            <a:endParaRPr sz="1800" b="0">
              <a:solidFill>
                <a:srgbClr val="5266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1983</Words>
  <Application>WPS 演示</Application>
  <PresentationFormat>Converted Presentation</PresentationFormat>
  <Paragraphs>369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李奕庆</cp:lastModifiedBy>
  <cp:revision>1</cp:revision>
  <dcterms:created xsi:type="dcterms:W3CDTF">2026-09-28T09:06:00Z</dcterms:created>
  <dcterms:modified xsi:type="dcterms:W3CDTF">2026-09-28T09:06:00Z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DA756C663492426D8F5969D1817E83F1_12</vt:lpwstr>
  </property>
  <property fmtid="{D5CDD505-2E9C-101B-9397-08002B2CF9AE}" pid="3" name="KSOProductBuildVer">
    <vt:lpwstr>2052-12.1.0.20305</vt:lpwstr>
  </property>
</Properties>
</file>