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427" r:id="rId5"/>
    <p:sldId id="428" r:id="rId6"/>
    <p:sldId id="429" r:id="rId7"/>
    <p:sldId id="430" r:id="rId8"/>
    <p:sldId id="431" r:id="rId9"/>
    <p:sldId id="432" r:id="rId10"/>
    <p:sldId id="433" r:id="rId11"/>
    <p:sldId id="424" r:id="rId12"/>
    <p:sldId id="425" r:id="rId13"/>
    <p:sldId id="434" r:id="rId14"/>
    <p:sldId id="382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96" y="104"/>
      </p:cViewPr>
      <p:guideLst>
        <p:guide orient="horz" pos="2160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047" y="124792"/>
            <a:ext cx="2348489" cy="733903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6019165" y="-7924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1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8540" y="311540"/>
            <a:ext cx="6234920" cy="62349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92" b="14592"/>
          <a:stretch>
            <a:fillRect/>
          </a:stretch>
        </p:blipFill>
        <p:spPr>
          <a:xfrm>
            <a:off x="191346" y="116631"/>
            <a:ext cx="11809309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45" y="110465"/>
            <a:ext cx="11809309" cy="5226782"/>
          </a:xfrm>
          <a:prstGeom prst="rect">
            <a:avLst/>
          </a:prstGeom>
          <a:solidFill>
            <a:schemeClr val="accent2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999656" y="5935211"/>
            <a:ext cx="2764598" cy="487239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748" y="5935210"/>
            <a:ext cx="2764598" cy="487239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汇报人：汪予涵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460218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指导老师：宫秀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GvpA 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候选序列的多目标评价、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筛选策略比较与鲁棒性分析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166827" y="4542358"/>
            <a:ext cx="9858345" cy="296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Multi-Objective Evaluation, Selection Strategy Comparison, and Robustness Analysis of GvpA Candidate Sequences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207568" y="4392452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515" y="531723"/>
            <a:ext cx="4906970" cy="15334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isteX0" fmla="*/ 0 w 12192000"/>
              <a:gd name="connsiteY0" fmla="*/ 0 h 6858000"/>
              <a:gd name="connisteX1" fmla="*/ 12192000 w 12192000"/>
              <a:gd name="connsiteY1" fmla="*/ 0 h 6858000"/>
              <a:gd name="connisteX2" fmla="*/ 12192000 w 12192000"/>
              <a:gd name="connsiteY2" fmla="*/ 6858000 h 6858000"/>
              <a:gd name="connisteX3" fmla="*/ 0 w 12192000"/>
              <a:gd name="connsiteY3" fmla="*/ 6858000 h 6858000"/>
              <a:gd name="connisteX4" fmla="*/ 0 w 12192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60350" y="76200"/>
            <a:ext cx="11506200" cy="723265"/>
            <a:chOff x="410" y="120"/>
            <a:chExt cx="18120" cy="1139"/>
          </a:xfrm>
        </p:grpSpPr>
        <p:grpSp>
          <p:nvGrpSpPr>
            <p:cNvPr id="6" name="组合 5"/>
            <p:cNvGrpSpPr/>
            <p:nvPr/>
          </p:nvGrpSpPr>
          <p:grpSpPr>
            <a:xfrm>
              <a:off x="410" y="170"/>
              <a:ext cx="990" cy="990"/>
              <a:chOff x="410" y="170"/>
              <a:chExt cx="990" cy="990"/>
            </a:xfrm>
          </p:grpSpPr>
          <p:sp>
            <p:nvSpPr>
              <p:cNvPr id="4" name="任意多边形 3"/>
              <p:cNvSpPr/>
              <p:nvPr/>
            </p:nvSpPr>
            <p:spPr>
              <a:xfrm>
                <a:off x="410" y="170"/>
                <a:ext cx="900" cy="900"/>
              </a:xfrm>
              <a:custGeom>
                <a:avLst/>
                <a:gdLst>
                  <a:gd name="connisteX0" fmla="*/ 133349 w 571500"/>
                  <a:gd name="connsiteY0" fmla="*/ 0 h 571500"/>
                  <a:gd name="connisteX1" fmla="*/ 571500 w 571500"/>
                  <a:gd name="connsiteY1" fmla="*/ 0 h 571500"/>
                  <a:gd name="connisteX2" fmla="*/ 444500 w 571500"/>
                  <a:gd name="connsiteY2" fmla="*/ 571500 h 571500"/>
                  <a:gd name="connisteX3" fmla="*/ 0 w 571500"/>
                  <a:gd name="connsiteY3" fmla="*/ 571500 h 571500"/>
                  <a:gd name="connisteX4" fmla="*/ 133349 w 571500"/>
                  <a:gd name="connsiteY4" fmla="*/ 0 h 5715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571500" h="571500">
                    <a:moveTo>
                      <a:pt x="133350" y="0"/>
                    </a:moveTo>
                    <a:lnTo>
                      <a:pt x="571500" y="0"/>
                    </a:lnTo>
                    <a:lnTo>
                      <a:pt x="444500" y="571500"/>
                    </a:lnTo>
                    <a:lnTo>
                      <a:pt x="0" y="571500"/>
                    </a:lnTo>
                    <a:lnTo>
                      <a:pt x="133350" y="0"/>
                    </a:lnTo>
                    <a:close/>
                  </a:path>
                </a:pathLst>
              </a:custGeom>
              <a:solidFill>
                <a:srgbClr val="0A5798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510" y="270"/>
                <a:ext cx="890" cy="890"/>
              </a:xfrm>
              <a:custGeom>
                <a:avLst/>
                <a:gdLst>
                  <a:gd name="connisteX0" fmla="*/ 520699 w 565150"/>
                  <a:gd name="connsiteY0" fmla="*/ 0 h 565150"/>
                  <a:gd name="connisteX1" fmla="*/ 565150 w 565150"/>
                  <a:gd name="connsiteY1" fmla="*/ 0 h 565150"/>
                  <a:gd name="connisteX2" fmla="*/ 450850 w 565150"/>
                  <a:gd name="connsiteY2" fmla="*/ 565150 h 565150"/>
                  <a:gd name="connisteX3" fmla="*/ 0 w 565150"/>
                  <a:gd name="connsiteY3" fmla="*/ 565150 h 5651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565150" h="565150">
                    <a:moveTo>
                      <a:pt x="520700" y="0"/>
                    </a:moveTo>
                    <a:lnTo>
                      <a:pt x="565150" y="0"/>
                    </a:lnTo>
                    <a:lnTo>
                      <a:pt x="450850" y="565150"/>
                    </a:lnTo>
                    <a:lnTo>
                      <a:pt x="0" y="565150"/>
                    </a:lnTo>
                  </a:path>
                </a:pathLst>
              </a:custGeom>
              <a:noFill/>
              <a:ln w="19050" cap="flat">
                <a:solidFill>
                  <a:srgbClr val="00549A"/>
                </a:solidFill>
                <a:miter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1616" y="388"/>
              <a:ext cx="5688" cy="87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30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项目背景与研究动机</a:t>
              </a:r>
              <a:endParaRPr lang="zh-CN" altLang="en-US" sz="30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890" y="120"/>
              <a:ext cx="3640" cy="105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sp>
        <p:nvSpPr>
          <p:cNvPr id="10" name="任意多边形 9"/>
          <p:cNvSpPr/>
          <p:nvPr/>
        </p:nvSpPr>
        <p:spPr>
          <a:xfrm>
            <a:off x="266700" y="1060450"/>
            <a:ext cx="5638800" cy="520700"/>
          </a:xfrm>
          <a:custGeom>
            <a:avLst/>
            <a:gdLst>
              <a:gd name="connisteX0" fmla="*/ 0 w 5638800"/>
              <a:gd name="connsiteY0" fmla="*/ 101536 h 520700"/>
              <a:gd name="connisteX1" fmla="*/ 84581 w 5638800"/>
              <a:gd name="connsiteY1" fmla="*/ 0 h 520700"/>
              <a:gd name="connisteX2" fmla="*/ 5554218 w 5638800"/>
              <a:gd name="connsiteY2" fmla="*/ 0 h 520700"/>
              <a:gd name="connisteX3" fmla="*/ 5638800 w 5638800"/>
              <a:gd name="connsiteY3" fmla="*/ 101536 h 520700"/>
              <a:gd name="connisteX4" fmla="*/ 5638800 w 5638800"/>
              <a:gd name="connsiteY4" fmla="*/ 419163 h 520700"/>
              <a:gd name="connisteX5" fmla="*/ 5554218 w 5638800"/>
              <a:gd name="connsiteY5" fmla="*/ 520700 h 520700"/>
              <a:gd name="connisteX6" fmla="*/ 84581 w 5638800"/>
              <a:gd name="connsiteY6" fmla="*/ 520700 h 520700"/>
              <a:gd name="connisteX7" fmla="*/ 0 w 5638800"/>
              <a:gd name="connsiteY7" fmla="*/ 419163 h 520700"/>
              <a:gd name="connisteX8" fmla="*/ 0 w 5638800"/>
              <a:gd name="connsiteY8" fmla="*/ 101536 h 520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638800" h="520700">
                <a:moveTo>
                  <a:pt x="0" y="101537"/>
                </a:moveTo>
                <a:cubicBezTo>
                  <a:pt x="0" y="45459"/>
                  <a:pt x="37869" y="0"/>
                  <a:pt x="84582" y="0"/>
                </a:cubicBezTo>
                <a:lnTo>
                  <a:pt x="5554218" y="0"/>
                </a:lnTo>
                <a:cubicBezTo>
                  <a:pt x="5600931" y="0"/>
                  <a:pt x="5638800" y="45459"/>
                  <a:pt x="5638800" y="101537"/>
                </a:cubicBezTo>
                <a:lnTo>
                  <a:pt x="5638800" y="419164"/>
                </a:lnTo>
                <a:cubicBezTo>
                  <a:pt x="5638800" y="475241"/>
                  <a:pt x="5600931" y="520700"/>
                  <a:pt x="5554218" y="520700"/>
                </a:cubicBezTo>
                <a:lnTo>
                  <a:pt x="84582" y="520700"/>
                </a:lnTo>
                <a:cubicBezTo>
                  <a:pt x="37869" y="520700"/>
                  <a:pt x="0" y="475241"/>
                  <a:pt x="0" y="419164"/>
                </a:cubicBezTo>
                <a:lnTo>
                  <a:pt x="0" y="101537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266700" y="1060450"/>
            <a:ext cx="101600" cy="520065"/>
          </a:xfrm>
          <a:custGeom>
            <a:avLst/>
            <a:gdLst>
              <a:gd name="connisteX0" fmla="*/ 0 w 101599"/>
              <a:gd name="connsiteY0" fmla="*/ 49466 h 520699"/>
              <a:gd name="connisteX1" fmla="*/ 50799 w 101599"/>
              <a:gd name="connsiteY1" fmla="*/ 0 h 520699"/>
              <a:gd name="connisteX2" fmla="*/ 101599 w 101599"/>
              <a:gd name="connsiteY2" fmla="*/ 49466 h 520699"/>
              <a:gd name="connisteX3" fmla="*/ 101599 w 101599"/>
              <a:gd name="connsiteY3" fmla="*/ 471233 h 520699"/>
              <a:gd name="connisteX4" fmla="*/ 50799 w 101599"/>
              <a:gd name="connsiteY4" fmla="*/ 520699 h 520699"/>
              <a:gd name="connisteX5" fmla="*/ 0 w 101599"/>
              <a:gd name="connsiteY5" fmla="*/ 471233 h 520699"/>
              <a:gd name="connisteX6" fmla="*/ 0 w 101599"/>
              <a:gd name="connsiteY6" fmla="*/ 49466 h 5206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520700">
                <a:moveTo>
                  <a:pt x="0" y="49466"/>
                </a:moveTo>
                <a:cubicBezTo>
                  <a:pt x="0" y="22147"/>
                  <a:pt x="22744" y="0"/>
                  <a:pt x="50800" y="0"/>
                </a:cubicBezTo>
                <a:cubicBezTo>
                  <a:pt x="78856" y="0"/>
                  <a:pt x="101600" y="22147"/>
                  <a:pt x="101600" y="49466"/>
                </a:cubicBezTo>
                <a:lnTo>
                  <a:pt x="101600" y="471233"/>
                </a:lnTo>
                <a:cubicBezTo>
                  <a:pt x="101600" y="498553"/>
                  <a:pt x="78856" y="520700"/>
                  <a:pt x="50800" y="520700"/>
                </a:cubicBezTo>
                <a:cubicBezTo>
                  <a:pt x="22744" y="520700"/>
                  <a:pt x="0" y="498553"/>
                  <a:pt x="0" y="471233"/>
                </a:cubicBezTo>
                <a:lnTo>
                  <a:pt x="0" y="4946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73075" y="1106170"/>
            <a:ext cx="2976880" cy="3987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20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为什么需要多目标筛选？</a:t>
            </a:r>
            <a:endParaRPr lang="zh-CN" altLang="en-US" sz="20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210300" y="1060450"/>
            <a:ext cx="5715000" cy="520700"/>
          </a:xfrm>
          <a:custGeom>
            <a:avLst/>
            <a:gdLst>
              <a:gd name="connisteX0" fmla="*/ 0 w 5715000"/>
              <a:gd name="connsiteY0" fmla="*/ 101536 h 520700"/>
              <a:gd name="connisteX1" fmla="*/ 85725 w 5715000"/>
              <a:gd name="connsiteY1" fmla="*/ 0 h 520700"/>
              <a:gd name="connisteX2" fmla="*/ 5629275 w 5715000"/>
              <a:gd name="connsiteY2" fmla="*/ 0 h 520700"/>
              <a:gd name="connisteX3" fmla="*/ 5715000 w 5715000"/>
              <a:gd name="connsiteY3" fmla="*/ 101536 h 520700"/>
              <a:gd name="connisteX4" fmla="*/ 5715000 w 5715000"/>
              <a:gd name="connsiteY4" fmla="*/ 419163 h 520700"/>
              <a:gd name="connisteX5" fmla="*/ 5629275 w 5715000"/>
              <a:gd name="connsiteY5" fmla="*/ 520700 h 520700"/>
              <a:gd name="connisteX6" fmla="*/ 85725 w 5715000"/>
              <a:gd name="connsiteY6" fmla="*/ 520700 h 520700"/>
              <a:gd name="connisteX7" fmla="*/ 0 w 5715000"/>
              <a:gd name="connsiteY7" fmla="*/ 419163 h 520700"/>
              <a:gd name="connisteX8" fmla="*/ 0 w 5715000"/>
              <a:gd name="connsiteY8" fmla="*/ 101536 h 520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715000" h="520700">
                <a:moveTo>
                  <a:pt x="0" y="101537"/>
                </a:moveTo>
                <a:cubicBezTo>
                  <a:pt x="0" y="45459"/>
                  <a:pt x="38380" y="0"/>
                  <a:pt x="85725" y="0"/>
                </a:cubicBezTo>
                <a:lnTo>
                  <a:pt x="5629275" y="0"/>
                </a:lnTo>
                <a:cubicBezTo>
                  <a:pt x="5676620" y="0"/>
                  <a:pt x="5715000" y="45459"/>
                  <a:pt x="5715000" y="101537"/>
                </a:cubicBezTo>
                <a:lnTo>
                  <a:pt x="5715000" y="419164"/>
                </a:lnTo>
                <a:cubicBezTo>
                  <a:pt x="5715000" y="475241"/>
                  <a:pt x="5676620" y="520700"/>
                  <a:pt x="5629275" y="520700"/>
                </a:cubicBezTo>
                <a:lnTo>
                  <a:pt x="85725" y="520700"/>
                </a:lnTo>
                <a:cubicBezTo>
                  <a:pt x="38380" y="520700"/>
                  <a:pt x="0" y="475241"/>
                  <a:pt x="0" y="419164"/>
                </a:cubicBezTo>
                <a:lnTo>
                  <a:pt x="0" y="101537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6210300" y="1060450"/>
            <a:ext cx="101600" cy="520065"/>
          </a:xfrm>
          <a:custGeom>
            <a:avLst/>
            <a:gdLst>
              <a:gd name="connisteX0" fmla="*/ 0 w 101599"/>
              <a:gd name="connsiteY0" fmla="*/ 49466 h 520699"/>
              <a:gd name="connisteX1" fmla="*/ 50799 w 101599"/>
              <a:gd name="connsiteY1" fmla="*/ 0 h 520699"/>
              <a:gd name="connisteX2" fmla="*/ 101599 w 101599"/>
              <a:gd name="connsiteY2" fmla="*/ 49466 h 520699"/>
              <a:gd name="connisteX3" fmla="*/ 101599 w 101599"/>
              <a:gd name="connsiteY3" fmla="*/ 471233 h 520699"/>
              <a:gd name="connisteX4" fmla="*/ 50799 w 101599"/>
              <a:gd name="connsiteY4" fmla="*/ 520699 h 520699"/>
              <a:gd name="connisteX5" fmla="*/ 0 w 101599"/>
              <a:gd name="connsiteY5" fmla="*/ 471233 h 520699"/>
              <a:gd name="connisteX6" fmla="*/ 0 w 101599"/>
              <a:gd name="connsiteY6" fmla="*/ 49466 h 5206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520700">
                <a:moveTo>
                  <a:pt x="0" y="49466"/>
                </a:moveTo>
                <a:cubicBezTo>
                  <a:pt x="0" y="22147"/>
                  <a:pt x="22744" y="0"/>
                  <a:pt x="50800" y="0"/>
                </a:cubicBezTo>
                <a:cubicBezTo>
                  <a:pt x="78856" y="0"/>
                  <a:pt x="101600" y="22147"/>
                  <a:pt x="101600" y="49466"/>
                </a:cubicBezTo>
                <a:lnTo>
                  <a:pt x="101600" y="471233"/>
                </a:lnTo>
                <a:cubicBezTo>
                  <a:pt x="101600" y="498553"/>
                  <a:pt x="78856" y="520700"/>
                  <a:pt x="50800" y="520700"/>
                </a:cubicBezTo>
                <a:cubicBezTo>
                  <a:pt x="22744" y="520700"/>
                  <a:pt x="0" y="498553"/>
                  <a:pt x="0" y="471233"/>
                </a:cubicBezTo>
                <a:lnTo>
                  <a:pt x="0" y="4946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410960" y="1106170"/>
            <a:ext cx="3484880" cy="3987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20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核心挑战：评价目标可能冲突</a:t>
            </a:r>
            <a:endParaRPr lang="zh-CN" altLang="en-US" sz="20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46710" y="1751330"/>
            <a:ext cx="3840480" cy="638810"/>
            <a:chOff x="546" y="2758"/>
            <a:chExt cx="6048" cy="1006"/>
          </a:xfrm>
        </p:grpSpPr>
        <p:sp>
          <p:nvSpPr>
            <p:cNvPr id="16" name="文本框 15"/>
            <p:cNvSpPr txBox="1"/>
            <p:nvPr/>
          </p:nvSpPr>
          <p:spPr>
            <a:xfrm>
              <a:off x="556" y="2758"/>
              <a:ext cx="4970" cy="54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50" b="1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生成模型提供 GvpA 候选序列。</a:t>
              </a:r>
              <a:endParaRPr lang="zh-CN" altLang="en-US" sz="1650" b="1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46" y="3233"/>
              <a:ext cx="6048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验证预算有限，需要先确定验证优先级。</a:t>
              </a:r>
              <a:endParaRPr lang="zh-CN" altLang="en-US" sz="16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46710" y="2520315"/>
            <a:ext cx="5393690" cy="1485265"/>
            <a:chOff x="546" y="3969"/>
            <a:chExt cx="8494" cy="2339"/>
          </a:xfrm>
        </p:grpSpPr>
        <p:sp>
          <p:nvSpPr>
            <p:cNvPr id="19" name="任意多边形 18"/>
            <p:cNvSpPr/>
            <p:nvPr/>
          </p:nvSpPr>
          <p:spPr>
            <a:xfrm>
              <a:off x="690" y="4080"/>
              <a:ext cx="2060" cy="1579"/>
            </a:xfrm>
            <a:custGeom>
              <a:avLst/>
              <a:gdLst>
                <a:gd name="connisteX0" fmla="*/ 0 w 1308099"/>
                <a:gd name="connsiteY0" fmla="*/ 100329 h 1003299"/>
                <a:gd name="connisteX1" fmla="*/ 98107 w 1308099"/>
                <a:gd name="connsiteY1" fmla="*/ 0 h 1003299"/>
                <a:gd name="connisteX2" fmla="*/ 1209992 w 1308099"/>
                <a:gd name="connsiteY2" fmla="*/ 0 h 1003299"/>
                <a:gd name="connisteX3" fmla="*/ 1308099 w 1308099"/>
                <a:gd name="connsiteY3" fmla="*/ 100329 h 1003299"/>
                <a:gd name="connisteX4" fmla="*/ 1308099 w 1308099"/>
                <a:gd name="connsiteY4" fmla="*/ 902969 h 1003299"/>
                <a:gd name="connisteX5" fmla="*/ 1209992 w 1308099"/>
                <a:gd name="connsiteY5" fmla="*/ 1003299 h 1003299"/>
                <a:gd name="connisteX6" fmla="*/ 98107 w 1308099"/>
                <a:gd name="connsiteY6" fmla="*/ 1003299 h 1003299"/>
                <a:gd name="connisteX7" fmla="*/ 0 w 1308099"/>
                <a:gd name="connsiteY7" fmla="*/ 902969 h 1003299"/>
                <a:gd name="connisteX8" fmla="*/ 0 w 1308099"/>
                <a:gd name="connsiteY8" fmla="*/ 100329 h 10032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308100" h="1003300">
                  <a:moveTo>
                    <a:pt x="0" y="100330"/>
                  </a:moveTo>
                  <a:cubicBezTo>
                    <a:pt x="0" y="44919"/>
                    <a:pt x="43924" y="0"/>
                    <a:pt x="98107" y="0"/>
                  </a:cubicBezTo>
                  <a:lnTo>
                    <a:pt x="1209993" y="0"/>
                  </a:lnTo>
                  <a:cubicBezTo>
                    <a:pt x="1264176" y="0"/>
                    <a:pt x="1308100" y="44919"/>
                    <a:pt x="1308100" y="100330"/>
                  </a:cubicBezTo>
                  <a:lnTo>
                    <a:pt x="1308100" y="902970"/>
                  </a:lnTo>
                  <a:cubicBezTo>
                    <a:pt x="1308100" y="958381"/>
                    <a:pt x="1264176" y="1003300"/>
                    <a:pt x="1209993" y="1003300"/>
                  </a:cubicBezTo>
                  <a:lnTo>
                    <a:pt x="98107" y="1003300"/>
                  </a:lnTo>
                  <a:cubicBezTo>
                    <a:pt x="43924" y="1003300"/>
                    <a:pt x="0" y="958381"/>
                    <a:pt x="0" y="902970"/>
                  </a:cubicBezTo>
                  <a:lnTo>
                    <a:pt x="0" y="100330"/>
                  </a:lnTo>
                  <a:close/>
                </a:path>
              </a:pathLst>
            </a:custGeom>
            <a:solidFill>
              <a:srgbClr val="F5FAFE"/>
            </a:solidFill>
            <a:ln w="12700" cap="flat">
              <a:solidFill>
                <a:srgbClr val="80B6E4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3500" y="3969"/>
              <a:ext cx="3080" cy="1801"/>
            </a:xfrm>
            <a:custGeom>
              <a:avLst/>
              <a:gdLst>
                <a:gd name="connisteX0" fmla="*/ 0 w 1955800"/>
                <a:gd name="connsiteY0" fmla="*/ 114300 h 1143000"/>
                <a:gd name="connisteX1" fmla="*/ 107569 w 1955800"/>
                <a:gd name="connsiteY1" fmla="*/ 0 h 1143000"/>
                <a:gd name="connisteX2" fmla="*/ 1848231 w 1955800"/>
                <a:gd name="connsiteY2" fmla="*/ 0 h 1143000"/>
                <a:gd name="connisteX3" fmla="*/ 1955800 w 1955800"/>
                <a:gd name="connsiteY3" fmla="*/ 114300 h 1143000"/>
                <a:gd name="connisteX4" fmla="*/ 1955800 w 1955800"/>
                <a:gd name="connsiteY4" fmla="*/ 1028700 h 1143000"/>
                <a:gd name="connisteX5" fmla="*/ 1848231 w 1955800"/>
                <a:gd name="connsiteY5" fmla="*/ 1143000 h 1143000"/>
                <a:gd name="connisteX6" fmla="*/ 107569 w 1955800"/>
                <a:gd name="connsiteY6" fmla="*/ 1143000 h 1143000"/>
                <a:gd name="connisteX7" fmla="*/ 0 w 1955800"/>
                <a:gd name="connsiteY7" fmla="*/ 1028700 h 1143000"/>
                <a:gd name="connisteX8" fmla="*/ 0 w 1955800"/>
                <a:gd name="connsiteY8" fmla="*/ 114300 h 11430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955800" h="1143000">
                  <a:moveTo>
                    <a:pt x="0" y="114300"/>
                  </a:moveTo>
                  <a:cubicBezTo>
                    <a:pt x="0" y="51174"/>
                    <a:pt x="48160" y="0"/>
                    <a:pt x="107569" y="0"/>
                  </a:cubicBezTo>
                  <a:lnTo>
                    <a:pt x="1848231" y="0"/>
                  </a:lnTo>
                  <a:cubicBezTo>
                    <a:pt x="1907640" y="0"/>
                    <a:pt x="1955800" y="51174"/>
                    <a:pt x="1955800" y="114300"/>
                  </a:cubicBezTo>
                  <a:lnTo>
                    <a:pt x="1955800" y="1028700"/>
                  </a:lnTo>
                  <a:cubicBezTo>
                    <a:pt x="1955800" y="1091826"/>
                    <a:pt x="1907640" y="1143000"/>
                    <a:pt x="1848231" y="1143000"/>
                  </a:cubicBezTo>
                  <a:lnTo>
                    <a:pt x="107569" y="1143000"/>
                  </a:lnTo>
                  <a:cubicBezTo>
                    <a:pt x="48160" y="1143000"/>
                    <a:pt x="0" y="1091826"/>
                    <a:pt x="0" y="1028700"/>
                  </a:cubicBezTo>
                  <a:lnTo>
                    <a:pt x="0" y="114300"/>
                  </a:lnTo>
                  <a:close/>
                </a:path>
              </a:pathLst>
            </a:custGeom>
            <a:solidFill>
              <a:srgbClr val="DEEFFC"/>
            </a:solidFill>
            <a:ln w="19050" cap="flat">
              <a:solidFill>
                <a:srgbClr val="5197D5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7330" y="4080"/>
              <a:ext cx="1710" cy="1579"/>
            </a:xfrm>
            <a:custGeom>
              <a:avLst/>
              <a:gdLst>
                <a:gd name="connisteX0" fmla="*/ 0 w 1085850"/>
                <a:gd name="connsiteY0" fmla="*/ 100329 h 1003299"/>
                <a:gd name="connisteX1" fmla="*/ 97726 w 1085850"/>
                <a:gd name="connsiteY1" fmla="*/ 0 h 1003299"/>
                <a:gd name="connisteX2" fmla="*/ 988123 w 1085850"/>
                <a:gd name="connsiteY2" fmla="*/ 0 h 1003299"/>
                <a:gd name="connisteX3" fmla="*/ 1085850 w 1085850"/>
                <a:gd name="connsiteY3" fmla="*/ 100329 h 1003299"/>
                <a:gd name="connisteX4" fmla="*/ 1085850 w 1085850"/>
                <a:gd name="connsiteY4" fmla="*/ 902969 h 1003299"/>
                <a:gd name="connisteX5" fmla="*/ 988123 w 1085850"/>
                <a:gd name="connsiteY5" fmla="*/ 1003299 h 1003299"/>
                <a:gd name="connisteX6" fmla="*/ 97726 w 1085850"/>
                <a:gd name="connsiteY6" fmla="*/ 1003299 h 1003299"/>
                <a:gd name="connisteX7" fmla="*/ 0 w 1085850"/>
                <a:gd name="connsiteY7" fmla="*/ 902969 h 1003299"/>
                <a:gd name="connisteX8" fmla="*/ 0 w 1085850"/>
                <a:gd name="connsiteY8" fmla="*/ 100329 h 10032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085850" h="1003300">
                  <a:moveTo>
                    <a:pt x="0" y="100330"/>
                  </a:moveTo>
                  <a:cubicBezTo>
                    <a:pt x="0" y="44919"/>
                    <a:pt x="43754" y="0"/>
                    <a:pt x="97726" y="0"/>
                  </a:cubicBezTo>
                  <a:lnTo>
                    <a:pt x="988124" y="0"/>
                  </a:lnTo>
                  <a:cubicBezTo>
                    <a:pt x="1042096" y="0"/>
                    <a:pt x="1085850" y="44919"/>
                    <a:pt x="1085850" y="100330"/>
                  </a:cubicBezTo>
                  <a:lnTo>
                    <a:pt x="1085850" y="902970"/>
                  </a:lnTo>
                  <a:cubicBezTo>
                    <a:pt x="1085850" y="958381"/>
                    <a:pt x="1042096" y="1003300"/>
                    <a:pt x="988124" y="1003300"/>
                  </a:cubicBezTo>
                  <a:lnTo>
                    <a:pt x="97726" y="1003300"/>
                  </a:lnTo>
                  <a:cubicBezTo>
                    <a:pt x="43754" y="1003300"/>
                    <a:pt x="0" y="958381"/>
                    <a:pt x="0" y="902970"/>
                  </a:cubicBezTo>
                  <a:lnTo>
                    <a:pt x="0" y="100330"/>
                  </a:lnTo>
                  <a:close/>
                </a:path>
              </a:pathLst>
            </a:custGeom>
            <a:solidFill>
              <a:srgbClr val="F5FAFE"/>
            </a:solidFill>
            <a:ln w="12700" cap="flat">
              <a:solidFill>
                <a:srgbClr val="80B6E4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1500" y="4299"/>
              <a:ext cx="460" cy="501"/>
            </a:xfrm>
            <a:custGeom>
              <a:avLst/>
              <a:gdLst>
                <a:gd name="connisteX0" fmla="*/ 0 w 292099"/>
                <a:gd name="connsiteY0" fmla="*/ 0 h 317500"/>
                <a:gd name="connisteX1" fmla="*/ 209550 w 292099"/>
                <a:gd name="connsiteY1" fmla="*/ 0 h 317500"/>
                <a:gd name="connisteX2" fmla="*/ 292099 w 292099"/>
                <a:gd name="connsiteY2" fmla="*/ 82550 h 317500"/>
                <a:gd name="connisteX3" fmla="*/ 292099 w 292099"/>
                <a:gd name="connsiteY3" fmla="*/ 317500 h 317500"/>
                <a:gd name="connisteX4" fmla="*/ 0 w 292099"/>
                <a:gd name="connsiteY4" fmla="*/ 317500 h 317500"/>
                <a:gd name="connisteX5" fmla="*/ 0 w 292099"/>
                <a:gd name="connsiteY5" fmla="*/ 0 h 317500"/>
                <a:gd name="connisteX6" fmla="*/ 209550 w 292099"/>
                <a:gd name="connsiteY6" fmla="*/ 0 h 317500"/>
                <a:gd name="connisteX7" fmla="*/ 209550 w 292099"/>
                <a:gd name="connsiteY7" fmla="*/ 82550 h 317500"/>
                <a:gd name="connisteX8" fmla="*/ 292099 w 292099"/>
                <a:gd name="connsiteY8" fmla="*/ 82550 h 3175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92100" h="317500">
                  <a:moveTo>
                    <a:pt x="0" y="0"/>
                  </a:moveTo>
                  <a:lnTo>
                    <a:pt x="209550" y="0"/>
                  </a:lnTo>
                  <a:lnTo>
                    <a:pt x="292100" y="82550"/>
                  </a:lnTo>
                  <a:lnTo>
                    <a:pt x="292100" y="317500"/>
                  </a:lnTo>
                  <a:lnTo>
                    <a:pt x="0" y="317500"/>
                  </a:lnTo>
                  <a:lnTo>
                    <a:pt x="0" y="0"/>
                  </a:lnTo>
                  <a:moveTo>
                    <a:pt x="209550" y="0"/>
                  </a:moveTo>
                  <a:lnTo>
                    <a:pt x="209550" y="82550"/>
                  </a:lnTo>
                  <a:lnTo>
                    <a:pt x="292100" y="82550"/>
                  </a:lnTo>
                </a:path>
              </a:pathLst>
            </a:custGeom>
            <a:noFill/>
            <a:ln w="19050" cap="flat">
              <a:solidFill>
                <a:srgbClr val="5197D5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1590" y="4490"/>
              <a:ext cx="250" cy="0"/>
            </a:xfrm>
            <a:custGeom>
              <a:avLst/>
              <a:gdLst>
                <a:gd name="connisteX0" fmla="*/ 0 w 158749"/>
                <a:gd name="connsiteY0" fmla="*/ 0 h 0"/>
                <a:gd name="connisteX1" fmla="*/ 158749 w 158749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58750">
                  <a:moveTo>
                    <a:pt x="0" y="0"/>
                  </a:moveTo>
                  <a:lnTo>
                    <a:pt x="158750" y="0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5197D5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590" y="4590"/>
              <a:ext cx="310" cy="0"/>
            </a:xfrm>
            <a:custGeom>
              <a:avLst/>
              <a:gdLst>
                <a:gd name="connisteX0" fmla="*/ 0 w 196849"/>
                <a:gd name="connsiteY0" fmla="*/ 0 h 0"/>
                <a:gd name="connisteX1" fmla="*/ 196849 w 196849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96850">
                  <a:moveTo>
                    <a:pt x="0" y="0"/>
                  </a:moveTo>
                  <a:lnTo>
                    <a:pt x="196850" y="0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5197D5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1590" y="4689"/>
              <a:ext cx="210" cy="0"/>
            </a:xfrm>
            <a:custGeom>
              <a:avLst/>
              <a:gdLst>
                <a:gd name="connisteX0" fmla="*/ 0 w 133350"/>
                <a:gd name="connsiteY0" fmla="*/ 0 h 0"/>
                <a:gd name="connisteX1" fmla="*/ 133350 w 133350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5197D5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26" y="4918"/>
              <a:ext cx="1608" cy="54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生成候选</a:t>
              </a:r>
              <a:endPara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4520" y="4599"/>
              <a:ext cx="170" cy="181"/>
            </a:xfrm>
            <a:custGeom>
              <a:avLst/>
              <a:gdLst>
                <a:gd name="connisteX0" fmla="*/ 0 w 107950"/>
                <a:gd name="connsiteY0" fmla="*/ 18859 h 114300"/>
                <a:gd name="connisteX1" fmla="*/ 18891 w 107950"/>
                <a:gd name="connsiteY1" fmla="*/ 0 h 114300"/>
                <a:gd name="connisteX2" fmla="*/ 89058 w 107950"/>
                <a:gd name="connsiteY2" fmla="*/ 0 h 114300"/>
                <a:gd name="connisteX3" fmla="*/ 107950 w 107950"/>
                <a:gd name="connsiteY3" fmla="*/ 18859 h 114300"/>
                <a:gd name="connisteX4" fmla="*/ 107950 w 107950"/>
                <a:gd name="connsiteY4" fmla="*/ 95440 h 114300"/>
                <a:gd name="connisteX5" fmla="*/ 89058 w 107950"/>
                <a:gd name="connsiteY5" fmla="*/ 114300 h 114300"/>
                <a:gd name="connisteX6" fmla="*/ 18891 w 107950"/>
                <a:gd name="connsiteY6" fmla="*/ 114300 h 114300"/>
                <a:gd name="connisteX7" fmla="*/ 0 w 107950"/>
                <a:gd name="connsiteY7" fmla="*/ 95440 h 114300"/>
                <a:gd name="connisteX8" fmla="*/ 0 w 107950"/>
                <a:gd name="connsiteY8" fmla="*/ 18859 h 1143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07950" h="114300">
                  <a:moveTo>
                    <a:pt x="0" y="18860"/>
                  </a:moveTo>
                  <a:cubicBezTo>
                    <a:pt x="0" y="8444"/>
                    <a:pt x="8458" y="0"/>
                    <a:pt x="18891" y="0"/>
                  </a:cubicBezTo>
                  <a:lnTo>
                    <a:pt x="89059" y="0"/>
                  </a:lnTo>
                  <a:cubicBezTo>
                    <a:pt x="99492" y="0"/>
                    <a:pt x="107950" y="8444"/>
                    <a:pt x="107950" y="18860"/>
                  </a:cubicBezTo>
                  <a:lnTo>
                    <a:pt x="107950" y="95441"/>
                  </a:lnTo>
                  <a:cubicBezTo>
                    <a:pt x="107950" y="105856"/>
                    <a:pt x="99492" y="114300"/>
                    <a:pt x="89059" y="114300"/>
                  </a:cubicBezTo>
                  <a:lnTo>
                    <a:pt x="18891" y="114300"/>
                  </a:lnTo>
                  <a:cubicBezTo>
                    <a:pt x="8458" y="114300"/>
                    <a:pt x="0" y="105856"/>
                    <a:pt x="0" y="95441"/>
                  </a:cubicBezTo>
                  <a:lnTo>
                    <a:pt x="0" y="18860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8" name="任意多边形 27"/>
            <p:cNvSpPr/>
            <p:nvPr/>
          </p:nvSpPr>
          <p:spPr>
            <a:xfrm>
              <a:off x="4790" y="4430"/>
              <a:ext cx="170" cy="350"/>
            </a:xfrm>
            <a:custGeom>
              <a:avLst/>
              <a:gdLst>
                <a:gd name="connisteX0" fmla="*/ 0 w 107950"/>
                <a:gd name="connsiteY0" fmla="*/ 18891 h 222250"/>
                <a:gd name="connisteX1" fmla="*/ 18891 w 107950"/>
                <a:gd name="connsiteY1" fmla="*/ 0 h 222250"/>
                <a:gd name="connisteX2" fmla="*/ 89058 w 107950"/>
                <a:gd name="connsiteY2" fmla="*/ 0 h 222250"/>
                <a:gd name="connisteX3" fmla="*/ 107950 w 107950"/>
                <a:gd name="connsiteY3" fmla="*/ 18891 h 222250"/>
                <a:gd name="connisteX4" fmla="*/ 107950 w 107950"/>
                <a:gd name="connsiteY4" fmla="*/ 203358 h 222250"/>
                <a:gd name="connisteX5" fmla="*/ 89058 w 107950"/>
                <a:gd name="connsiteY5" fmla="*/ 222250 h 222250"/>
                <a:gd name="connisteX6" fmla="*/ 18891 w 107950"/>
                <a:gd name="connsiteY6" fmla="*/ 222250 h 222250"/>
                <a:gd name="connisteX7" fmla="*/ 0 w 107950"/>
                <a:gd name="connsiteY7" fmla="*/ 203358 h 222250"/>
                <a:gd name="connisteX8" fmla="*/ 0 w 107950"/>
                <a:gd name="connsiteY8" fmla="*/ 18891 h 2222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07950" h="222250">
                  <a:moveTo>
                    <a:pt x="0" y="18891"/>
                  </a:moveTo>
                  <a:cubicBezTo>
                    <a:pt x="0" y="8458"/>
                    <a:pt x="8458" y="0"/>
                    <a:pt x="18891" y="0"/>
                  </a:cubicBezTo>
                  <a:lnTo>
                    <a:pt x="89059" y="0"/>
                  </a:lnTo>
                  <a:cubicBezTo>
                    <a:pt x="99492" y="0"/>
                    <a:pt x="107950" y="8458"/>
                    <a:pt x="107950" y="18891"/>
                  </a:cubicBezTo>
                  <a:lnTo>
                    <a:pt x="107950" y="203359"/>
                  </a:lnTo>
                  <a:cubicBezTo>
                    <a:pt x="107950" y="213792"/>
                    <a:pt x="99492" y="222250"/>
                    <a:pt x="89059" y="222250"/>
                  </a:cubicBezTo>
                  <a:lnTo>
                    <a:pt x="18891" y="222250"/>
                  </a:lnTo>
                  <a:cubicBezTo>
                    <a:pt x="8458" y="222250"/>
                    <a:pt x="0" y="213792"/>
                    <a:pt x="0" y="203359"/>
                  </a:cubicBezTo>
                  <a:lnTo>
                    <a:pt x="0" y="18891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5060" y="4520"/>
              <a:ext cx="170" cy="259"/>
            </a:xfrm>
            <a:custGeom>
              <a:avLst/>
              <a:gdLst>
                <a:gd name="connisteX0" fmla="*/ 0 w 107949"/>
                <a:gd name="connsiteY0" fmla="*/ 18986 h 165099"/>
                <a:gd name="connisteX1" fmla="*/ 18891 w 107949"/>
                <a:gd name="connsiteY1" fmla="*/ 0 h 165099"/>
                <a:gd name="connisteX2" fmla="*/ 89058 w 107949"/>
                <a:gd name="connsiteY2" fmla="*/ 0 h 165099"/>
                <a:gd name="connisteX3" fmla="*/ 107949 w 107949"/>
                <a:gd name="connsiteY3" fmla="*/ 18986 h 165099"/>
                <a:gd name="connisteX4" fmla="*/ 107949 w 107949"/>
                <a:gd name="connsiteY4" fmla="*/ 146113 h 165099"/>
                <a:gd name="connisteX5" fmla="*/ 89058 w 107949"/>
                <a:gd name="connsiteY5" fmla="*/ 165099 h 165099"/>
                <a:gd name="connisteX6" fmla="*/ 18891 w 107949"/>
                <a:gd name="connsiteY6" fmla="*/ 165099 h 165099"/>
                <a:gd name="connisteX7" fmla="*/ 0 w 107949"/>
                <a:gd name="connsiteY7" fmla="*/ 146113 h 165099"/>
                <a:gd name="connisteX8" fmla="*/ 0 w 107949"/>
                <a:gd name="connsiteY8" fmla="*/ 18986 h 1650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07950" h="165100">
                  <a:moveTo>
                    <a:pt x="0" y="18987"/>
                  </a:moveTo>
                  <a:cubicBezTo>
                    <a:pt x="0" y="8501"/>
                    <a:pt x="8458" y="0"/>
                    <a:pt x="18891" y="0"/>
                  </a:cubicBezTo>
                  <a:lnTo>
                    <a:pt x="89059" y="0"/>
                  </a:lnTo>
                  <a:cubicBezTo>
                    <a:pt x="99492" y="0"/>
                    <a:pt x="107950" y="8501"/>
                    <a:pt x="107950" y="18987"/>
                  </a:cubicBezTo>
                  <a:lnTo>
                    <a:pt x="107950" y="146113"/>
                  </a:lnTo>
                  <a:cubicBezTo>
                    <a:pt x="107950" y="156599"/>
                    <a:pt x="99492" y="165100"/>
                    <a:pt x="89059" y="165100"/>
                  </a:cubicBezTo>
                  <a:lnTo>
                    <a:pt x="18891" y="165100"/>
                  </a:lnTo>
                  <a:cubicBezTo>
                    <a:pt x="8458" y="165100"/>
                    <a:pt x="0" y="156599"/>
                    <a:pt x="0" y="146113"/>
                  </a:cubicBezTo>
                  <a:lnTo>
                    <a:pt x="0" y="18987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5330" y="4340"/>
              <a:ext cx="170" cy="439"/>
            </a:xfrm>
            <a:custGeom>
              <a:avLst/>
              <a:gdLst>
                <a:gd name="connisteX0" fmla="*/ 0 w 107949"/>
                <a:gd name="connsiteY0" fmla="*/ 18161 h 279399"/>
                <a:gd name="connisteX1" fmla="*/ 18891 w 107949"/>
                <a:gd name="connsiteY1" fmla="*/ 0 h 279399"/>
                <a:gd name="connisteX2" fmla="*/ 89058 w 107949"/>
                <a:gd name="connsiteY2" fmla="*/ 0 h 279399"/>
                <a:gd name="connisteX3" fmla="*/ 107949 w 107949"/>
                <a:gd name="connsiteY3" fmla="*/ 18161 h 279399"/>
                <a:gd name="connisteX4" fmla="*/ 107949 w 107949"/>
                <a:gd name="connsiteY4" fmla="*/ 261239 h 279399"/>
                <a:gd name="connisteX5" fmla="*/ 89058 w 107949"/>
                <a:gd name="connsiteY5" fmla="*/ 279399 h 279399"/>
                <a:gd name="connisteX6" fmla="*/ 18891 w 107949"/>
                <a:gd name="connsiteY6" fmla="*/ 279399 h 279399"/>
                <a:gd name="connisteX7" fmla="*/ 0 w 107949"/>
                <a:gd name="connsiteY7" fmla="*/ 261239 h 279399"/>
                <a:gd name="connisteX8" fmla="*/ 0 w 107949"/>
                <a:gd name="connsiteY8" fmla="*/ 18161 h 2793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07950" h="279400">
                  <a:moveTo>
                    <a:pt x="0" y="18161"/>
                  </a:moveTo>
                  <a:cubicBezTo>
                    <a:pt x="0" y="8131"/>
                    <a:pt x="8458" y="0"/>
                    <a:pt x="18891" y="0"/>
                  </a:cubicBezTo>
                  <a:lnTo>
                    <a:pt x="89059" y="0"/>
                  </a:lnTo>
                  <a:cubicBezTo>
                    <a:pt x="99492" y="0"/>
                    <a:pt x="107950" y="8131"/>
                    <a:pt x="107950" y="18161"/>
                  </a:cubicBezTo>
                  <a:lnTo>
                    <a:pt x="107950" y="261239"/>
                  </a:lnTo>
                  <a:cubicBezTo>
                    <a:pt x="107950" y="271269"/>
                    <a:pt x="99492" y="279400"/>
                    <a:pt x="89059" y="279400"/>
                  </a:cubicBezTo>
                  <a:lnTo>
                    <a:pt x="18891" y="279400"/>
                  </a:lnTo>
                  <a:cubicBezTo>
                    <a:pt x="8458" y="279400"/>
                    <a:pt x="0" y="271269"/>
                    <a:pt x="0" y="261239"/>
                  </a:cubicBezTo>
                  <a:lnTo>
                    <a:pt x="0" y="18161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625" y="4803"/>
              <a:ext cx="2848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多目标评价与筛选</a:t>
              </a:r>
              <a:endPara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246" y="5233"/>
              <a:ext cx="1588" cy="45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300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本项目核心</a:t>
              </a:r>
              <a:endParaRPr lang="zh-CN" altLang="en-US" sz="1300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8020" y="4320"/>
              <a:ext cx="300" cy="489"/>
            </a:xfrm>
            <a:custGeom>
              <a:avLst/>
              <a:gdLst>
                <a:gd name="connisteX0" fmla="*/ 0 w 190500"/>
                <a:gd name="connsiteY0" fmla="*/ 0 h 311149"/>
                <a:gd name="connisteX1" fmla="*/ 190500 w 190500"/>
                <a:gd name="connsiteY1" fmla="*/ 0 h 311149"/>
                <a:gd name="connisteX2" fmla="*/ 31750 w 190500"/>
                <a:gd name="connsiteY2" fmla="*/ 0 h 311149"/>
                <a:gd name="connisteX3" fmla="*/ 31750 w 190500"/>
                <a:gd name="connsiteY3" fmla="*/ 215899 h 311149"/>
                <a:gd name="connisteX4" fmla="*/ 101599 w 190500"/>
                <a:gd name="connsiteY4" fmla="*/ 311149 h 311149"/>
                <a:gd name="connisteX5" fmla="*/ 171450 w 190500"/>
                <a:gd name="connsiteY5" fmla="*/ 215899 h 311149"/>
                <a:gd name="connisteX6" fmla="*/ 171450 w 190500"/>
                <a:gd name="connsiteY6" fmla="*/ 0 h 311149"/>
                <a:gd name="connisteX7" fmla="*/ 38100 w 190500"/>
                <a:gd name="connsiteY7" fmla="*/ 165099 h 311149"/>
                <a:gd name="connisteX8" fmla="*/ 165100 w 190500"/>
                <a:gd name="connsiteY8" fmla="*/ 165099 h 3111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90500" h="311150">
                  <a:moveTo>
                    <a:pt x="0" y="0"/>
                  </a:moveTo>
                  <a:lnTo>
                    <a:pt x="190500" y="0"/>
                  </a:lnTo>
                  <a:moveTo>
                    <a:pt x="31750" y="0"/>
                  </a:moveTo>
                  <a:lnTo>
                    <a:pt x="31750" y="215900"/>
                  </a:lnTo>
                  <a:cubicBezTo>
                    <a:pt x="31750" y="279400"/>
                    <a:pt x="55033" y="311150"/>
                    <a:pt x="101600" y="311150"/>
                  </a:cubicBezTo>
                  <a:cubicBezTo>
                    <a:pt x="148167" y="311150"/>
                    <a:pt x="171450" y="279400"/>
                    <a:pt x="171450" y="215900"/>
                  </a:cubicBezTo>
                  <a:lnTo>
                    <a:pt x="171450" y="0"/>
                  </a:lnTo>
                  <a:moveTo>
                    <a:pt x="38100" y="165100"/>
                  </a:moveTo>
                  <a:lnTo>
                    <a:pt x="165100" y="165100"/>
                  </a:lnTo>
                </a:path>
              </a:pathLst>
            </a:custGeom>
            <a:noFill/>
            <a:ln w="19050" cap="flat">
              <a:solidFill>
                <a:srgbClr val="5197D5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400" y="4928"/>
              <a:ext cx="1568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下游验证</a:t>
              </a:r>
              <a:endPara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2890" y="4869"/>
              <a:ext cx="330" cy="0"/>
            </a:xfrm>
            <a:custGeom>
              <a:avLst/>
              <a:gdLst>
                <a:gd name="connisteX0" fmla="*/ 0 w 209550"/>
                <a:gd name="connsiteY0" fmla="*/ 0 h 0"/>
                <a:gd name="connisteX1" fmla="*/ 209550 w 209550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09550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solidFill>
              <a:srgbClr val="000000"/>
            </a:solidFill>
            <a:ln w="25400" cap="flat">
              <a:solidFill>
                <a:srgbClr val="5197D5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3190" y="4749"/>
              <a:ext cx="180" cy="240"/>
            </a:xfrm>
            <a:custGeom>
              <a:avLst/>
              <a:gdLst>
                <a:gd name="connisteX0" fmla="*/ 0 w 114300"/>
                <a:gd name="connsiteY0" fmla="*/ 0 h 152400"/>
                <a:gd name="connisteX1" fmla="*/ 114300 w 114300"/>
                <a:gd name="connsiteY1" fmla="*/ 76200 h 152400"/>
                <a:gd name="connisteX2" fmla="*/ 0 w 114300"/>
                <a:gd name="connsiteY2" fmla="*/ 152400 h 152400"/>
                <a:gd name="connisteX3" fmla="*/ 0 w 114300"/>
                <a:gd name="connsiteY3" fmla="*/ 0 h 1524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14300" h="152400">
                  <a:moveTo>
                    <a:pt x="0" y="0"/>
                  </a:moveTo>
                  <a:lnTo>
                    <a:pt x="114300" y="762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6720" y="4869"/>
              <a:ext cx="330" cy="0"/>
            </a:xfrm>
            <a:custGeom>
              <a:avLst/>
              <a:gdLst>
                <a:gd name="connisteX0" fmla="*/ 0 w 209550"/>
                <a:gd name="connsiteY0" fmla="*/ 0 h 0"/>
                <a:gd name="connisteX1" fmla="*/ 209550 w 209550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09550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solidFill>
              <a:srgbClr val="000000"/>
            </a:solidFill>
            <a:ln w="25400" cap="flat">
              <a:solidFill>
                <a:srgbClr val="5197D5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" name="任意多边形 37"/>
            <p:cNvSpPr/>
            <p:nvPr/>
          </p:nvSpPr>
          <p:spPr>
            <a:xfrm>
              <a:off x="7020" y="4749"/>
              <a:ext cx="180" cy="240"/>
            </a:xfrm>
            <a:custGeom>
              <a:avLst/>
              <a:gdLst>
                <a:gd name="connisteX0" fmla="*/ 0 w 114300"/>
                <a:gd name="connsiteY0" fmla="*/ 0 h 152400"/>
                <a:gd name="connisteX1" fmla="*/ 114300 w 114300"/>
                <a:gd name="connsiteY1" fmla="*/ 76200 h 152400"/>
                <a:gd name="connisteX2" fmla="*/ 0 w 114300"/>
                <a:gd name="connsiteY2" fmla="*/ 152400 h 152400"/>
                <a:gd name="connisteX3" fmla="*/ 0 w 114300"/>
                <a:gd name="connsiteY3" fmla="*/ 0 h 1524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14300" h="152400">
                  <a:moveTo>
                    <a:pt x="0" y="0"/>
                  </a:moveTo>
                  <a:lnTo>
                    <a:pt x="114300" y="762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546" y="5813"/>
              <a:ext cx="521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筛选输出：有限预算下的验证优先名单</a:t>
              </a:r>
              <a:endParaRPr lang="zh-CN" altLang="en-US" sz="14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266700" y="4210050"/>
            <a:ext cx="5638800" cy="1574800"/>
            <a:chOff x="420" y="6630"/>
            <a:chExt cx="8880" cy="2480"/>
          </a:xfrm>
        </p:grpSpPr>
        <p:grpSp>
          <p:nvGrpSpPr>
            <p:cNvPr id="44" name="组合 43"/>
            <p:cNvGrpSpPr/>
            <p:nvPr/>
          </p:nvGrpSpPr>
          <p:grpSpPr>
            <a:xfrm>
              <a:off x="420" y="6630"/>
              <a:ext cx="4320" cy="1130"/>
              <a:chOff x="420" y="6630"/>
              <a:chExt cx="4320" cy="1130"/>
            </a:xfrm>
          </p:grpSpPr>
          <p:sp>
            <p:nvSpPr>
              <p:cNvPr id="41" name="任意多边形 40"/>
              <p:cNvSpPr/>
              <p:nvPr/>
            </p:nvSpPr>
            <p:spPr>
              <a:xfrm>
                <a:off x="420" y="6630"/>
                <a:ext cx="4320" cy="1130"/>
              </a:xfrm>
              <a:custGeom>
                <a:avLst/>
                <a:gdLst>
                  <a:gd name="connisteX0" fmla="*/ 0 w 2743200"/>
                  <a:gd name="connsiteY0" fmla="*/ 100457 h 717550"/>
                  <a:gd name="connisteX1" fmla="*/ 96012 w 2743200"/>
                  <a:gd name="connsiteY1" fmla="*/ 0 h 717550"/>
                  <a:gd name="connisteX2" fmla="*/ 2647187 w 2743200"/>
                  <a:gd name="connsiteY2" fmla="*/ 0 h 717550"/>
                  <a:gd name="connisteX3" fmla="*/ 2743200 w 2743200"/>
                  <a:gd name="connsiteY3" fmla="*/ 100457 h 717550"/>
                  <a:gd name="connisteX4" fmla="*/ 2743200 w 2743200"/>
                  <a:gd name="connsiteY4" fmla="*/ 617093 h 717550"/>
                  <a:gd name="connisteX5" fmla="*/ 2647187 w 2743200"/>
                  <a:gd name="connsiteY5" fmla="*/ 717550 h 717550"/>
                  <a:gd name="connisteX6" fmla="*/ 96012 w 2743200"/>
                  <a:gd name="connsiteY6" fmla="*/ 717550 h 717550"/>
                  <a:gd name="connisteX7" fmla="*/ 0 w 2743200"/>
                  <a:gd name="connsiteY7" fmla="*/ 617093 h 717550"/>
                  <a:gd name="connisteX8" fmla="*/ 0 w 2743200"/>
                  <a:gd name="connsiteY8" fmla="*/ 100457 h 7175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l" t="t" r="r" b="b"/>
                <a:pathLst>
                  <a:path w="2743200" h="717550">
                    <a:moveTo>
                      <a:pt x="0" y="100457"/>
                    </a:moveTo>
                    <a:cubicBezTo>
                      <a:pt x="0" y="44976"/>
                      <a:pt x="42986" y="0"/>
                      <a:pt x="96012" y="0"/>
                    </a:cubicBezTo>
                    <a:lnTo>
                      <a:pt x="2647188" y="0"/>
                    </a:lnTo>
                    <a:cubicBezTo>
                      <a:pt x="2700214" y="0"/>
                      <a:pt x="2743200" y="44976"/>
                      <a:pt x="2743200" y="100457"/>
                    </a:cubicBezTo>
                    <a:lnTo>
                      <a:pt x="2743200" y="617093"/>
                    </a:lnTo>
                    <a:cubicBezTo>
                      <a:pt x="2743200" y="672574"/>
                      <a:pt x="2700214" y="717550"/>
                      <a:pt x="2647188" y="717550"/>
                    </a:cubicBezTo>
                    <a:lnTo>
                      <a:pt x="96012" y="717550"/>
                    </a:lnTo>
                    <a:cubicBezTo>
                      <a:pt x="42986" y="717550"/>
                      <a:pt x="0" y="672574"/>
                      <a:pt x="0" y="617093"/>
                    </a:cubicBezTo>
                    <a:lnTo>
                      <a:pt x="0" y="100457"/>
                    </a:lnTo>
                    <a:close/>
                  </a:path>
                </a:pathLst>
              </a:custGeom>
              <a:solidFill>
                <a:srgbClr val="EDF6FE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566" y="6663"/>
                <a:ext cx="1888" cy="531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600" b="1">
                    <a:solidFill>
                      <a:srgbClr val="00549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约束满足度</a:t>
                </a:r>
                <a:endPara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596" y="7158"/>
                <a:ext cx="3528" cy="471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350">
                    <a:solidFill>
                      <a:srgbClr val="35516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目标结构域证据是否充分？</a:t>
                </a:r>
                <a:endParaRPr lang="zh-CN" altLang="en-US" sz="13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4980" y="6630"/>
              <a:ext cx="4320" cy="1130"/>
              <a:chOff x="4980" y="6630"/>
              <a:chExt cx="4320" cy="1130"/>
            </a:xfrm>
          </p:grpSpPr>
          <p:sp>
            <p:nvSpPr>
              <p:cNvPr id="45" name="任意多边形 44"/>
              <p:cNvSpPr/>
              <p:nvPr/>
            </p:nvSpPr>
            <p:spPr>
              <a:xfrm>
                <a:off x="4980" y="6630"/>
                <a:ext cx="4320" cy="1130"/>
              </a:xfrm>
              <a:custGeom>
                <a:avLst/>
                <a:gdLst>
                  <a:gd name="connisteX0" fmla="*/ 0 w 2743200"/>
                  <a:gd name="connsiteY0" fmla="*/ 100457 h 717550"/>
                  <a:gd name="connisteX1" fmla="*/ 96011 w 2743200"/>
                  <a:gd name="connsiteY1" fmla="*/ 0 h 717550"/>
                  <a:gd name="connisteX2" fmla="*/ 2647187 w 2743200"/>
                  <a:gd name="connsiteY2" fmla="*/ 0 h 717550"/>
                  <a:gd name="connisteX3" fmla="*/ 2743200 w 2743200"/>
                  <a:gd name="connsiteY3" fmla="*/ 100457 h 717550"/>
                  <a:gd name="connisteX4" fmla="*/ 2743200 w 2743200"/>
                  <a:gd name="connsiteY4" fmla="*/ 617093 h 717550"/>
                  <a:gd name="connisteX5" fmla="*/ 2647187 w 2743200"/>
                  <a:gd name="connsiteY5" fmla="*/ 717550 h 717550"/>
                  <a:gd name="connisteX6" fmla="*/ 96011 w 2743200"/>
                  <a:gd name="connsiteY6" fmla="*/ 717550 h 717550"/>
                  <a:gd name="connisteX7" fmla="*/ 0 w 2743200"/>
                  <a:gd name="connsiteY7" fmla="*/ 617093 h 717550"/>
                  <a:gd name="connisteX8" fmla="*/ 0 w 2743200"/>
                  <a:gd name="connsiteY8" fmla="*/ 100457 h 7175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l" t="t" r="r" b="b"/>
                <a:pathLst>
                  <a:path w="2743200" h="717550">
                    <a:moveTo>
                      <a:pt x="0" y="100457"/>
                    </a:moveTo>
                    <a:cubicBezTo>
                      <a:pt x="0" y="44976"/>
                      <a:pt x="42986" y="0"/>
                      <a:pt x="96012" y="0"/>
                    </a:cubicBezTo>
                    <a:lnTo>
                      <a:pt x="2647188" y="0"/>
                    </a:lnTo>
                    <a:cubicBezTo>
                      <a:pt x="2700214" y="0"/>
                      <a:pt x="2743200" y="44976"/>
                      <a:pt x="2743200" y="100457"/>
                    </a:cubicBezTo>
                    <a:lnTo>
                      <a:pt x="2743200" y="617093"/>
                    </a:lnTo>
                    <a:cubicBezTo>
                      <a:pt x="2743200" y="672574"/>
                      <a:pt x="2700214" y="717550"/>
                      <a:pt x="2647188" y="717550"/>
                    </a:cubicBezTo>
                    <a:lnTo>
                      <a:pt x="96012" y="717550"/>
                    </a:lnTo>
                    <a:cubicBezTo>
                      <a:pt x="42986" y="717550"/>
                      <a:pt x="0" y="672574"/>
                      <a:pt x="0" y="617093"/>
                    </a:cubicBezTo>
                    <a:lnTo>
                      <a:pt x="0" y="100457"/>
                    </a:lnTo>
                    <a:close/>
                  </a:path>
                </a:pathLst>
              </a:custGeom>
              <a:solidFill>
                <a:srgbClr val="EDF6FE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5115" y="6663"/>
                <a:ext cx="1248" cy="531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600" b="1">
                    <a:solidFill>
                      <a:srgbClr val="00549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保守性</a:t>
                </a:r>
                <a:endPara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5115" y="7158"/>
                <a:ext cx="3258" cy="471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350">
                    <a:solidFill>
                      <a:srgbClr val="35516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关键保守模式是否保留？</a:t>
                </a:r>
                <a:endParaRPr lang="zh-CN" altLang="en-US" sz="13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420" y="7980"/>
              <a:ext cx="4320" cy="1130"/>
              <a:chOff x="420" y="7980"/>
              <a:chExt cx="4320" cy="1130"/>
            </a:xfrm>
          </p:grpSpPr>
          <p:sp>
            <p:nvSpPr>
              <p:cNvPr id="49" name="任意多边形 48"/>
              <p:cNvSpPr/>
              <p:nvPr/>
            </p:nvSpPr>
            <p:spPr>
              <a:xfrm>
                <a:off x="420" y="7980"/>
                <a:ext cx="4320" cy="1130"/>
              </a:xfrm>
              <a:custGeom>
                <a:avLst/>
                <a:gdLst>
                  <a:gd name="connisteX0" fmla="*/ 0 w 2743200"/>
                  <a:gd name="connsiteY0" fmla="*/ 100456 h 717550"/>
                  <a:gd name="connisteX1" fmla="*/ 96012 w 2743200"/>
                  <a:gd name="connsiteY1" fmla="*/ 0 h 717550"/>
                  <a:gd name="connisteX2" fmla="*/ 2647187 w 2743200"/>
                  <a:gd name="connsiteY2" fmla="*/ 0 h 717550"/>
                  <a:gd name="connisteX3" fmla="*/ 2743200 w 2743200"/>
                  <a:gd name="connsiteY3" fmla="*/ 100456 h 717550"/>
                  <a:gd name="connisteX4" fmla="*/ 2743200 w 2743200"/>
                  <a:gd name="connsiteY4" fmla="*/ 617092 h 717550"/>
                  <a:gd name="connisteX5" fmla="*/ 2647187 w 2743200"/>
                  <a:gd name="connsiteY5" fmla="*/ 717550 h 717550"/>
                  <a:gd name="connisteX6" fmla="*/ 96012 w 2743200"/>
                  <a:gd name="connsiteY6" fmla="*/ 717550 h 717550"/>
                  <a:gd name="connisteX7" fmla="*/ 0 w 2743200"/>
                  <a:gd name="connsiteY7" fmla="*/ 617092 h 717550"/>
                  <a:gd name="connisteX8" fmla="*/ 0 w 2743200"/>
                  <a:gd name="connsiteY8" fmla="*/ 100456 h 7175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l" t="t" r="r" b="b"/>
                <a:pathLst>
                  <a:path w="2743200" h="717550">
                    <a:moveTo>
                      <a:pt x="0" y="100457"/>
                    </a:moveTo>
                    <a:cubicBezTo>
                      <a:pt x="0" y="44976"/>
                      <a:pt x="42986" y="0"/>
                      <a:pt x="96012" y="0"/>
                    </a:cubicBezTo>
                    <a:lnTo>
                      <a:pt x="2647188" y="0"/>
                    </a:lnTo>
                    <a:cubicBezTo>
                      <a:pt x="2700214" y="0"/>
                      <a:pt x="2743200" y="44976"/>
                      <a:pt x="2743200" y="100457"/>
                    </a:cubicBezTo>
                    <a:lnTo>
                      <a:pt x="2743200" y="617093"/>
                    </a:lnTo>
                    <a:cubicBezTo>
                      <a:pt x="2743200" y="672574"/>
                      <a:pt x="2700214" y="717550"/>
                      <a:pt x="2647188" y="717550"/>
                    </a:cubicBezTo>
                    <a:lnTo>
                      <a:pt x="96012" y="717550"/>
                    </a:lnTo>
                    <a:cubicBezTo>
                      <a:pt x="42986" y="717550"/>
                      <a:pt x="0" y="672574"/>
                      <a:pt x="0" y="617093"/>
                    </a:cubicBezTo>
                    <a:lnTo>
                      <a:pt x="0" y="100457"/>
                    </a:lnTo>
                    <a:close/>
                  </a:path>
                </a:pathLst>
              </a:custGeom>
              <a:solidFill>
                <a:srgbClr val="EDF6FE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555" y="8013"/>
                <a:ext cx="1248" cy="531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600" b="1">
                    <a:solidFill>
                      <a:srgbClr val="00549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新颖性</a:t>
                </a:r>
                <a:endPara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566" y="8502"/>
                <a:ext cx="3258" cy="471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350">
                    <a:solidFill>
                      <a:srgbClr val="35516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与天然参考是否有差异？</a:t>
                </a:r>
                <a:endParaRPr lang="zh-CN" altLang="en-US" sz="13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4980" y="7980"/>
              <a:ext cx="4320" cy="1130"/>
              <a:chOff x="4980" y="7980"/>
              <a:chExt cx="4320" cy="1130"/>
            </a:xfrm>
          </p:grpSpPr>
          <p:sp>
            <p:nvSpPr>
              <p:cNvPr id="53" name="任意多边形 52"/>
              <p:cNvSpPr/>
              <p:nvPr/>
            </p:nvSpPr>
            <p:spPr>
              <a:xfrm>
                <a:off x="4980" y="7980"/>
                <a:ext cx="4320" cy="1130"/>
              </a:xfrm>
              <a:custGeom>
                <a:avLst/>
                <a:gdLst>
                  <a:gd name="connisteX0" fmla="*/ 0 w 2743200"/>
                  <a:gd name="connsiteY0" fmla="*/ 100456 h 717550"/>
                  <a:gd name="connisteX1" fmla="*/ 96011 w 2743200"/>
                  <a:gd name="connsiteY1" fmla="*/ 0 h 717550"/>
                  <a:gd name="connisteX2" fmla="*/ 2647187 w 2743200"/>
                  <a:gd name="connsiteY2" fmla="*/ 0 h 717550"/>
                  <a:gd name="connisteX3" fmla="*/ 2743200 w 2743200"/>
                  <a:gd name="connsiteY3" fmla="*/ 100456 h 717550"/>
                  <a:gd name="connisteX4" fmla="*/ 2743200 w 2743200"/>
                  <a:gd name="connsiteY4" fmla="*/ 617092 h 717550"/>
                  <a:gd name="connisteX5" fmla="*/ 2647187 w 2743200"/>
                  <a:gd name="connsiteY5" fmla="*/ 717550 h 717550"/>
                  <a:gd name="connisteX6" fmla="*/ 96011 w 2743200"/>
                  <a:gd name="connsiteY6" fmla="*/ 717550 h 717550"/>
                  <a:gd name="connisteX7" fmla="*/ 0 w 2743200"/>
                  <a:gd name="connsiteY7" fmla="*/ 617092 h 717550"/>
                  <a:gd name="connisteX8" fmla="*/ 0 w 2743200"/>
                  <a:gd name="connsiteY8" fmla="*/ 100456 h 7175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l" t="t" r="r" b="b"/>
                <a:pathLst>
                  <a:path w="2743200" h="717550">
                    <a:moveTo>
                      <a:pt x="0" y="100457"/>
                    </a:moveTo>
                    <a:cubicBezTo>
                      <a:pt x="0" y="44976"/>
                      <a:pt x="42986" y="0"/>
                      <a:pt x="96012" y="0"/>
                    </a:cubicBezTo>
                    <a:lnTo>
                      <a:pt x="2647188" y="0"/>
                    </a:lnTo>
                    <a:cubicBezTo>
                      <a:pt x="2700214" y="0"/>
                      <a:pt x="2743200" y="44976"/>
                      <a:pt x="2743200" y="100457"/>
                    </a:cubicBezTo>
                    <a:lnTo>
                      <a:pt x="2743200" y="617093"/>
                    </a:lnTo>
                    <a:cubicBezTo>
                      <a:pt x="2743200" y="672574"/>
                      <a:pt x="2700214" y="717550"/>
                      <a:pt x="2647188" y="717550"/>
                    </a:cubicBezTo>
                    <a:lnTo>
                      <a:pt x="96012" y="717550"/>
                    </a:lnTo>
                    <a:cubicBezTo>
                      <a:pt x="42986" y="717550"/>
                      <a:pt x="0" y="672574"/>
                      <a:pt x="0" y="617093"/>
                    </a:cubicBezTo>
                    <a:lnTo>
                      <a:pt x="0" y="100457"/>
                    </a:lnTo>
                    <a:close/>
                  </a:path>
                </a:pathLst>
              </a:custGeom>
              <a:solidFill>
                <a:srgbClr val="EDF6FE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5126" y="8022"/>
                <a:ext cx="1248" cy="531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600" b="1">
                    <a:solidFill>
                      <a:srgbClr val="00549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多样性</a:t>
                </a:r>
                <a:endPara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5126" y="8508"/>
                <a:ext cx="3258" cy="471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350">
                    <a:solidFill>
                      <a:srgbClr val="35516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入选名单是否过于趋同？</a:t>
                </a:r>
                <a:endParaRPr lang="zh-CN" altLang="en-US" sz="13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</p:grpSp>
      </p:grpSp>
      <p:grpSp>
        <p:nvGrpSpPr>
          <p:cNvPr id="72" name="组合 71"/>
          <p:cNvGrpSpPr/>
          <p:nvPr/>
        </p:nvGrpSpPr>
        <p:grpSpPr>
          <a:xfrm>
            <a:off x="6210300" y="1668145"/>
            <a:ext cx="5715000" cy="2523490"/>
            <a:chOff x="9780" y="2627"/>
            <a:chExt cx="9000" cy="3974"/>
          </a:xfrm>
        </p:grpSpPr>
        <p:sp>
          <p:nvSpPr>
            <p:cNvPr id="58" name="文本框 57"/>
            <p:cNvSpPr txBox="1"/>
            <p:nvPr/>
          </p:nvSpPr>
          <p:spPr>
            <a:xfrm>
              <a:off x="9935" y="2627"/>
              <a:ext cx="405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两种可能的取舍（动机示意）</a:t>
              </a:r>
              <a:endParaRPr lang="zh-CN" altLang="en-US" sz="14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9780" y="3260"/>
              <a:ext cx="9000" cy="1270"/>
              <a:chOff x="9780" y="3260"/>
              <a:chExt cx="9000" cy="1270"/>
            </a:xfrm>
          </p:grpSpPr>
          <p:sp>
            <p:nvSpPr>
              <p:cNvPr id="59" name="任意多边形 58"/>
              <p:cNvSpPr/>
              <p:nvPr/>
            </p:nvSpPr>
            <p:spPr>
              <a:xfrm>
                <a:off x="9780" y="3260"/>
                <a:ext cx="9000" cy="1270"/>
              </a:xfrm>
              <a:custGeom>
                <a:avLst/>
                <a:gdLst>
                  <a:gd name="connisteX0" fmla="*/ 0 w 5715000"/>
                  <a:gd name="connsiteY0" fmla="*/ 100806 h 806450"/>
                  <a:gd name="connisteX1" fmla="*/ 85725 w 5715000"/>
                  <a:gd name="connsiteY1" fmla="*/ 0 h 806450"/>
                  <a:gd name="connisteX2" fmla="*/ 5629275 w 5715000"/>
                  <a:gd name="connsiteY2" fmla="*/ 0 h 806450"/>
                  <a:gd name="connisteX3" fmla="*/ 5715000 w 5715000"/>
                  <a:gd name="connsiteY3" fmla="*/ 100806 h 806450"/>
                  <a:gd name="connisteX4" fmla="*/ 5715000 w 5715000"/>
                  <a:gd name="connsiteY4" fmla="*/ 705643 h 806450"/>
                  <a:gd name="connisteX5" fmla="*/ 5629275 w 5715000"/>
                  <a:gd name="connsiteY5" fmla="*/ 806450 h 806450"/>
                  <a:gd name="connisteX6" fmla="*/ 85725 w 5715000"/>
                  <a:gd name="connsiteY6" fmla="*/ 806450 h 806450"/>
                  <a:gd name="connisteX7" fmla="*/ 0 w 5715000"/>
                  <a:gd name="connsiteY7" fmla="*/ 705643 h 806450"/>
                  <a:gd name="connisteX8" fmla="*/ 0 w 5715000"/>
                  <a:gd name="connsiteY8" fmla="*/ 100806 h 8064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l" t="t" r="r" b="b"/>
                <a:pathLst>
                  <a:path w="5715000" h="806450">
                    <a:moveTo>
                      <a:pt x="0" y="100806"/>
                    </a:moveTo>
                    <a:cubicBezTo>
                      <a:pt x="0" y="45132"/>
                      <a:pt x="38380" y="0"/>
                      <a:pt x="85725" y="0"/>
                    </a:cubicBezTo>
                    <a:lnTo>
                      <a:pt x="5629275" y="0"/>
                    </a:lnTo>
                    <a:cubicBezTo>
                      <a:pt x="5676620" y="0"/>
                      <a:pt x="5715000" y="45132"/>
                      <a:pt x="5715000" y="100806"/>
                    </a:cubicBezTo>
                    <a:lnTo>
                      <a:pt x="5715000" y="705644"/>
                    </a:lnTo>
                    <a:cubicBezTo>
                      <a:pt x="5715000" y="761318"/>
                      <a:pt x="5676620" y="806450"/>
                      <a:pt x="5629275" y="806450"/>
                    </a:cubicBezTo>
                    <a:lnTo>
                      <a:pt x="85725" y="806450"/>
                    </a:lnTo>
                    <a:cubicBezTo>
                      <a:pt x="38380" y="806450"/>
                      <a:pt x="0" y="761318"/>
                      <a:pt x="0" y="705644"/>
                    </a:cubicBezTo>
                    <a:lnTo>
                      <a:pt x="0" y="100806"/>
                    </a:lnTo>
                    <a:close/>
                  </a:path>
                </a:pathLst>
              </a:custGeom>
              <a:solidFill>
                <a:srgbClr val="F5FAFE"/>
              </a:solidFill>
              <a:ln w="12700" cap="flat">
                <a:solidFill>
                  <a:srgbClr val="80B6E4"/>
                </a:solidFill>
                <a:miter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0" name="任意多边形 59"/>
              <p:cNvSpPr/>
              <p:nvPr/>
            </p:nvSpPr>
            <p:spPr>
              <a:xfrm>
                <a:off x="10020" y="3440"/>
                <a:ext cx="460" cy="460"/>
              </a:xfrm>
              <a:custGeom>
                <a:avLst/>
                <a:gdLst>
                  <a:gd name="connisteX0" fmla="*/ 292099 w 292099"/>
                  <a:gd name="connsiteY0" fmla="*/ 146050 h 292100"/>
                  <a:gd name="connisteX1" fmla="*/ 146049 w 292099"/>
                  <a:gd name="connsiteY1" fmla="*/ 292100 h 292100"/>
                  <a:gd name="connisteX2" fmla="*/ 0 w 292099"/>
                  <a:gd name="connsiteY2" fmla="*/ 146050 h 292100"/>
                  <a:gd name="connisteX3" fmla="*/ 146049 w 292099"/>
                  <a:gd name="connsiteY3" fmla="*/ 0 h 292100"/>
                  <a:gd name="connisteX4" fmla="*/ 292099 w 292099"/>
                  <a:gd name="connsiteY4" fmla="*/ 146050 h 2921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292100" h="292100">
                    <a:moveTo>
                      <a:pt x="292100" y="146050"/>
                    </a:moveTo>
                    <a:cubicBezTo>
                      <a:pt x="292100" y="226711"/>
                      <a:pt x="226711" y="292100"/>
                      <a:pt x="146050" y="292100"/>
                    </a:cubicBezTo>
                    <a:cubicBezTo>
                      <a:pt x="65389" y="292100"/>
                      <a:pt x="0" y="226711"/>
                      <a:pt x="0" y="146050"/>
                    </a:cubicBezTo>
                    <a:cubicBezTo>
                      <a:pt x="0" y="65389"/>
                      <a:pt x="65389" y="0"/>
                      <a:pt x="146050" y="0"/>
                    </a:cubicBezTo>
                    <a:cubicBezTo>
                      <a:pt x="226711" y="0"/>
                      <a:pt x="292100" y="65389"/>
                      <a:pt x="292100" y="146050"/>
                    </a:cubicBezTo>
                    <a:close/>
                  </a:path>
                </a:pathLst>
              </a:custGeom>
              <a:solidFill>
                <a:srgbClr val="5197D5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10061" y="3413"/>
                <a:ext cx="433" cy="459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300" b="1">
                    <a:solidFill>
                      <a:srgbClr val="FFFFFF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1</a:t>
                </a:r>
                <a:endParaRPr lang="zh-CN" altLang="en-US" sz="1300" b="1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10516" y="3372"/>
                <a:ext cx="2528" cy="531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600" b="1">
                    <a:solidFill>
                      <a:srgbClr val="00549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追求更高新颖性</a:t>
                </a:r>
                <a:endPara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10516" y="3872"/>
                <a:ext cx="4188" cy="50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500">
                    <a:solidFill>
                      <a:srgbClr val="35516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可能降低关键位点的保守性。</a:t>
                </a:r>
                <a:endParaRPr lang="zh-CN" altLang="en-US" sz="15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9780" y="4689"/>
              <a:ext cx="9000" cy="1271"/>
              <a:chOff x="9780" y="4689"/>
              <a:chExt cx="9000" cy="1271"/>
            </a:xfrm>
          </p:grpSpPr>
          <p:sp>
            <p:nvSpPr>
              <p:cNvPr id="65" name="任意多边形 64"/>
              <p:cNvSpPr/>
              <p:nvPr/>
            </p:nvSpPr>
            <p:spPr>
              <a:xfrm>
                <a:off x="9780" y="4689"/>
                <a:ext cx="9000" cy="1271"/>
              </a:xfrm>
              <a:custGeom>
                <a:avLst/>
                <a:gdLst>
                  <a:gd name="connisteX0" fmla="*/ 0 w 5715000"/>
                  <a:gd name="connsiteY0" fmla="*/ 100806 h 806450"/>
                  <a:gd name="connisteX1" fmla="*/ 85725 w 5715000"/>
                  <a:gd name="connsiteY1" fmla="*/ 0 h 806450"/>
                  <a:gd name="connisteX2" fmla="*/ 5629275 w 5715000"/>
                  <a:gd name="connsiteY2" fmla="*/ 0 h 806450"/>
                  <a:gd name="connisteX3" fmla="*/ 5715000 w 5715000"/>
                  <a:gd name="connsiteY3" fmla="*/ 100806 h 806450"/>
                  <a:gd name="connisteX4" fmla="*/ 5715000 w 5715000"/>
                  <a:gd name="connsiteY4" fmla="*/ 705643 h 806450"/>
                  <a:gd name="connisteX5" fmla="*/ 5629275 w 5715000"/>
                  <a:gd name="connsiteY5" fmla="*/ 806450 h 806450"/>
                  <a:gd name="connisteX6" fmla="*/ 85725 w 5715000"/>
                  <a:gd name="connsiteY6" fmla="*/ 806450 h 806450"/>
                  <a:gd name="connisteX7" fmla="*/ 0 w 5715000"/>
                  <a:gd name="connsiteY7" fmla="*/ 705643 h 806450"/>
                  <a:gd name="connisteX8" fmla="*/ 0 w 5715000"/>
                  <a:gd name="connsiteY8" fmla="*/ 100806 h 8064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l" t="t" r="r" b="b"/>
                <a:pathLst>
                  <a:path w="5715000" h="806450">
                    <a:moveTo>
                      <a:pt x="0" y="100806"/>
                    </a:moveTo>
                    <a:cubicBezTo>
                      <a:pt x="0" y="45132"/>
                      <a:pt x="38380" y="0"/>
                      <a:pt x="85725" y="0"/>
                    </a:cubicBezTo>
                    <a:lnTo>
                      <a:pt x="5629275" y="0"/>
                    </a:lnTo>
                    <a:cubicBezTo>
                      <a:pt x="5676620" y="0"/>
                      <a:pt x="5715000" y="45132"/>
                      <a:pt x="5715000" y="100806"/>
                    </a:cubicBezTo>
                    <a:lnTo>
                      <a:pt x="5715000" y="705644"/>
                    </a:lnTo>
                    <a:cubicBezTo>
                      <a:pt x="5715000" y="761318"/>
                      <a:pt x="5676620" y="806450"/>
                      <a:pt x="5629275" y="806450"/>
                    </a:cubicBezTo>
                    <a:lnTo>
                      <a:pt x="85725" y="806450"/>
                    </a:lnTo>
                    <a:cubicBezTo>
                      <a:pt x="38380" y="806450"/>
                      <a:pt x="0" y="761318"/>
                      <a:pt x="0" y="705644"/>
                    </a:cubicBezTo>
                    <a:lnTo>
                      <a:pt x="0" y="100806"/>
                    </a:lnTo>
                    <a:close/>
                  </a:path>
                </a:pathLst>
              </a:custGeom>
              <a:solidFill>
                <a:srgbClr val="F5FAFE"/>
              </a:solidFill>
              <a:ln w="12700" cap="flat">
                <a:solidFill>
                  <a:srgbClr val="80B6E4"/>
                </a:solidFill>
                <a:miter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10020" y="4869"/>
                <a:ext cx="460" cy="461"/>
              </a:xfrm>
              <a:custGeom>
                <a:avLst/>
                <a:gdLst>
                  <a:gd name="connisteX0" fmla="*/ 292099 w 292099"/>
                  <a:gd name="connsiteY0" fmla="*/ 146050 h 292100"/>
                  <a:gd name="connisteX1" fmla="*/ 146049 w 292099"/>
                  <a:gd name="connsiteY1" fmla="*/ 292100 h 292100"/>
                  <a:gd name="connisteX2" fmla="*/ 0 w 292099"/>
                  <a:gd name="connsiteY2" fmla="*/ 146050 h 292100"/>
                  <a:gd name="connisteX3" fmla="*/ 146049 w 292099"/>
                  <a:gd name="connsiteY3" fmla="*/ 0 h 292100"/>
                  <a:gd name="connisteX4" fmla="*/ 292099 w 292099"/>
                  <a:gd name="connsiteY4" fmla="*/ 146050 h 2921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292100" h="292100">
                    <a:moveTo>
                      <a:pt x="292100" y="146050"/>
                    </a:moveTo>
                    <a:cubicBezTo>
                      <a:pt x="292100" y="226711"/>
                      <a:pt x="226711" y="292100"/>
                      <a:pt x="146050" y="292100"/>
                    </a:cubicBezTo>
                    <a:cubicBezTo>
                      <a:pt x="65389" y="292100"/>
                      <a:pt x="0" y="226711"/>
                      <a:pt x="0" y="146050"/>
                    </a:cubicBezTo>
                    <a:cubicBezTo>
                      <a:pt x="0" y="65389"/>
                      <a:pt x="65389" y="0"/>
                      <a:pt x="146050" y="0"/>
                    </a:cubicBezTo>
                    <a:cubicBezTo>
                      <a:pt x="226711" y="0"/>
                      <a:pt x="292100" y="65389"/>
                      <a:pt x="292100" y="146050"/>
                    </a:cubicBezTo>
                    <a:close/>
                  </a:path>
                </a:pathLst>
              </a:custGeom>
              <a:solidFill>
                <a:srgbClr val="5197D5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10051" y="4843"/>
                <a:ext cx="433" cy="459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300" b="1">
                    <a:solidFill>
                      <a:srgbClr val="FFFFFF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2</a:t>
                </a:r>
                <a:endParaRPr lang="zh-CN" altLang="en-US" sz="1300" b="1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10506" y="4808"/>
                <a:ext cx="3488" cy="531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600" b="1">
                    <a:solidFill>
                      <a:srgbClr val="00549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提高入选集合的多样性</a:t>
                </a:r>
                <a:endPara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10516" y="5303"/>
                <a:ext cx="4788" cy="50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500">
                    <a:solidFill>
                      <a:srgbClr val="35516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可能纳入结构域支持较弱的序列。</a:t>
                </a:r>
                <a:endParaRPr lang="zh-CN" altLang="en-US" sz="15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</p:grpSp>
        <p:sp>
          <p:nvSpPr>
            <p:cNvPr id="71" name="文本框 70"/>
            <p:cNvSpPr txBox="1"/>
            <p:nvPr/>
          </p:nvSpPr>
          <p:spPr>
            <a:xfrm>
              <a:off x="9946" y="6058"/>
              <a:ext cx="4908" cy="54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单一策略难以适应所有验证需求</a:t>
              </a:r>
              <a:endPara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6210300" y="4267200"/>
            <a:ext cx="5715000" cy="1517015"/>
            <a:chOff x="9780" y="6720"/>
            <a:chExt cx="9000" cy="2389"/>
          </a:xfrm>
        </p:grpSpPr>
        <p:grpSp>
          <p:nvGrpSpPr>
            <p:cNvPr id="77" name="组合 76"/>
            <p:cNvGrpSpPr/>
            <p:nvPr/>
          </p:nvGrpSpPr>
          <p:grpSpPr>
            <a:xfrm>
              <a:off x="9780" y="6720"/>
              <a:ext cx="9000" cy="690"/>
              <a:chOff x="9780" y="6720"/>
              <a:chExt cx="9000" cy="690"/>
            </a:xfrm>
          </p:grpSpPr>
          <p:sp>
            <p:nvSpPr>
              <p:cNvPr id="73" name="任意多边形 72"/>
              <p:cNvSpPr/>
              <p:nvPr/>
            </p:nvSpPr>
            <p:spPr>
              <a:xfrm>
                <a:off x="9780" y="6720"/>
                <a:ext cx="9000" cy="690"/>
              </a:xfrm>
              <a:custGeom>
                <a:avLst/>
                <a:gdLst>
                  <a:gd name="connisteX0" fmla="*/ 0 w 5715000"/>
                  <a:gd name="connsiteY0" fmla="*/ 100774 h 438150"/>
                  <a:gd name="connisteX1" fmla="*/ 85725 w 5715000"/>
                  <a:gd name="connsiteY1" fmla="*/ 0 h 438150"/>
                  <a:gd name="connisteX2" fmla="*/ 5629275 w 5715000"/>
                  <a:gd name="connsiteY2" fmla="*/ 0 h 438150"/>
                  <a:gd name="connisteX3" fmla="*/ 5715000 w 5715000"/>
                  <a:gd name="connsiteY3" fmla="*/ 100774 h 438150"/>
                  <a:gd name="connisteX4" fmla="*/ 5715000 w 5715000"/>
                  <a:gd name="connsiteY4" fmla="*/ 337375 h 438150"/>
                  <a:gd name="connisteX5" fmla="*/ 5629275 w 5715000"/>
                  <a:gd name="connsiteY5" fmla="*/ 438150 h 438150"/>
                  <a:gd name="connisteX6" fmla="*/ 85725 w 5715000"/>
                  <a:gd name="connsiteY6" fmla="*/ 438150 h 438150"/>
                  <a:gd name="connisteX7" fmla="*/ 0 w 5715000"/>
                  <a:gd name="connsiteY7" fmla="*/ 337375 h 438150"/>
                  <a:gd name="connisteX8" fmla="*/ 0 w 5715000"/>
                  <a:gd name="connsiteY8" fmla="*/ 100774 h 4381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l" t="t" r="r" b="b"/>
                <a:pathLst>
                  <a:path w="5715000" h="438150">
                    <a:moveTo>
                      <a:pt x="0" y="100774"/>
                    </a:moveTo>
                    <a:cubicBezTo>
                      <a:pt x="0" y="45118"/>
                      <a:pt x="38380" y="0"/>
                      <a:pt x="85725" y="0"/>
                    </a:cubicBezTo>
                    <a:lnTo>
                      <a:pt x="5629275" y="0"/>
                    </a:lnTo>
                    <a:cubicBezTo>
                      <a:pt x="5676620" y="0"/>
                      <a:pt x="5715000" y="45118"/>
                      <a:pt x="5715000" y="100774"/>
                    </a:cubicBezTo>
                    <a:lnTo>
                      <a:pt x="5715000" y="337375"/>
                    </a:lnTo>
                    <a:cubicBezTo>
                      <a:pt x="5715000" y="393032"/>
                      <a:pt x="5676620" y="438150"/>
                      <a:pt x="5629275" y="438150"/>
                    </a:cubicBezTo>
                    <a:lnTo>
                      <a:pt x="85725" y="438150"/>
                    </a:lnTo>
                    <a:cubicBezTo>
                      <a:pt x="38380" y="438150"/>
                      <a:pt x="0" y="393032"/>
                      <a:pt x="0" y="337375"/>
                    </a:cubicBezTo>
                    <a:lnTo>
                      <a:pt x="0" y="100774"/>
                    </a:lnTo>
                    <a:close/>
                  </a:path>
                </a:pathLst>
              </a:custGeom>
              <a:solidFill>
                <a:srgbClr val="EDF6FE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4" name="任意多边形 73"/>
              <p:cNvSpPr/>
              <p:nvPr/>
            </p:nvSpPr>
            <p:spPr>
              <a:xfrm>
                <a:off x="9960" y="6840"/>
                <a:ext cx="930" cy="450"/>
              </a:xfrm>
              <a:custGeom>
                <a:avLst/>
                <a:gdLst>
                  <a:gd name="connisteX0" fmla="*/ 0 w 590550"/>
                  <a:gd name="connsiteY0" fmla="*/ 62864 h 285750"/>
                  <a:gd name="connisteX1" fmla="*/ 62007 w 590550"/>
                  <a:gd name="connsiteY1" fmla="*/ 0 h 285750"/>
                  <a:gd name="connisteX2" fmla="*/ 528542 w 590550"/>
                  <a:gd name="connsiteY2" fmla="*/ 0 h 285750"/>
                  <a:gd name="connisteX3" fmla="*/ 590550 w 590550"/>
                  <a:gd name="connsiteY3" fmla="*/ 62864 h 285750"/>
                  <a:gd name="connisteX4" fmla="*/ 590550 w 590550"/>
                  <a:gd name="connsiteY4" fmla="*/ 222884 h 285750"/>
                  <a:gd name="connisteX5" fmla="*/ 528542 w 590550"/>
                  <a:gd name="connsiteY5" fmla="*/ 285750 h 285750"/>
                  <a:gd name="connisteX6" fmla="*/ 62007 w 590550"/>
                  <a:gd name="connsiteY6" fmla="*/ 285750 h 285750"/>
                  <a:gd name="connisteX7" fmla="*/ 0 w 590550"/>
                  <a:gd name="connsiteY7" fmla="*/ 222884 h 285750"/>
                  <a:gd name="connisteX8" fmla="*/ 0 w 590550"/>
                  <a:gd name="connsiteY8" fmla="*/ 62864 h 2857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l" t="t" r="r" b="b"/>
                <a:pathLst>
                  <a:path w="590550" h="285750">
                    <a:moveTo>
                      <a:pt x="0" y="62865"/>
                    </a:moveTo>
                    <a:cubicBezTo>
                      <a:pt x="0" y="28146"/>
                      <a:pt x="27762" y="0"/>
                      <a:pt x="62008" y="0"/>
                    </a:cubicBezTo>
                    <a:lnTo>
                      <a:pt x="528542" y="0"/>
                    </a:lnTo>
                    <a:cubicBezTo>
                      <a:pt x="562788" y="0"/>
                      <a:pt x="590550" y="28146"/>
                      <a:pt x="590550" y="62865"/>
                    </a:cubicBezTo>
                    <a:lnTo>
                      <a:pt x="590550" y="222885"/>
                    </a:lnTo>
                    <a:cubicBezTo>
                      <a:pt x="590550" y="257604"/>
                      <a:pt x="562788" y="285750"/>
                      <a:pt x="528542" y="285750"/>
                    </a:cubicBezTo>
                    <a:lnTo>
                      <a:pt x="62008" y="285750"/>
                    </a:lnTo>
                    <a:cubicBezTo>
                      <a:pt x="27762" y="285750"/>
                      <a:pt x="0" y="257604"/>
                      <a:pt x="0" y="222885"/>
                    </a:cubicBezTo>
                    <a:lnTo>
                      <a:pt x="0" y="62865"/>
                    </a:lnTo>
                    <a:close/>
                  </a:path>
                </a:pathLst>
              </a:custGeom>
              <a:solidFill>
                <a:srgbClr val="D6EAFB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5" name="文本框 74"/>
              <p:cNvSpPr txBox="1"/>
              <p:nvPr/>
            </p:nvSpPr>
            <p:spPr>
              <a:xfrm>
                <a:off x="10026" y="6808"/>
                <a:ext cx="864" cy="483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400" b="1">
                    <a:solidFill>
                      <a:srgbClr val="00549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RQ1</a:t>
                </a:r>
                <a:endParaRPr lang="zh-CN" altLang="en-US" sz="14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11026" y="6783"/>
                <a:ext cx="4188" cy="50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500">
                    <a:solidFill>
                      <a:srgbClr val="35516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目标之间有哪些冲突与重叠？</a:t>
                </a:r>
                <a:endParaRPr lang="zh-CN" altLang="en-US" sz="15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9780" y="7570"/>
              <a:ext cx="9000" cy="690"/>
              <a:chOff x="9780" y="7570"/>
              <a:chExt cx="9000" cy="690"/>
            </a:xfrm>
          </p:grpSpPr>
          <p:sp>
            <p:nvSpPr>
              <p:cNvPr id="78" name="任意多边形 77"/>
              <p:cNvSpPr/>
              <p:nvPr/>
            </p:nvSpPr>
            <p:spPr>
              <a:xfrm>
                <a:off x="9780" y="7570"/>
                <a:ext cx="9000" cy="690"/>
              </a:xfrm>
              <a:custGeom>
                <a:avLst/>
                <a:gdLst>
                  <a:gd name="connisteX0" fmla="*/ 0 w 5715000"/>
                  <a:gd name="connsiteY0" fmla="*/ 100774 h 438150"/>
                  <a:gd name="connisteX1" fmla="*/ 85725 w 5715000"/>
                  <a:gd name="connsiteY1" fmla="*/ 0 h 438150"/>
                  <a:gd name="connisteX2" fmla="*/ 5629275 w 5715000"/>
                  <a:gd name="connsiteY2" fmla="*/ 0 h 438150"/>
                  <a:gd name="connisteX3" fmla="*/ 5715000 w 5715000"/>
                  <a:gd name="connsiteY3" fmla="*/ 100774 h 438150"/>
                  <a:gd name="connisteX4" fmla="*/ 5715000 w 5715000"/>
                  <a:gd name="connsiteY4" fmla="*/ 337375 h 438150"/>
                  <a:gd name="connisteX5" fmla="*/ 5629275 w 5715000"/>
                  <a:gd name="connsiteY5" fmla="*/ 438150 h 438150"/>
                  <a:gd name="connisteX6" fmla="*/ 85725 w 5715000"/>
                  <a:gd name="connsiteY6" fmla="*/ 438150 h 438150"/>
                  <a:gd name="connisteX7" fmla="*/ 0 w 5715000"/>
                  <a:gd name="connsiteY7" fmla="*/ 337375 h 438150"/>
                  <a:gd name="connisteX8" fmla="*/ 0 w 5715000"/>
                  <a:gd name="connsiteY8" fmla="*/ 100774 h 4381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l" t="t" r="r" b="b"/>
                <a:pathLst>
                  <a:path w="5715000" h="438150">
                    <a:moveTo>
                      <a:pt x="0" y="100775"/>
                    </a:moveTo>
                    <a:cubicBezTo>
                      <a:pt x="0" y="45118"/>
                      <a:pt x="38380" y="0"/>
                      <a:pt x="85725" y="0"/>
                    </a:cubicBezTo>
                    <a:lnTo>
                      <a:pt x="5629275" y="0"/>
                    </a:lnTo>
                    <a:cubicBezTo>
                      <a:pt x="5676620" y="0"/>
                      <a:pt x="5715000" y="45118"/>
                      <a:pt x="5715000" y="100775"/>
                    </a:cubicBezTo>
                    <a:lnTo>
                      <a:pt x="5715000" y="337375"/>
                    </a:lnTo>
                    <a:cubicBezTo>
                      <a:pt x="5715000" y="393032"/>
                      <a:pt x="5676620" y="438150"/>
                      <a:pt x="5629275" y="438150"/>
                    </a:cubicBezTo>
                    <a:lnTo>
                      <a:pt x="85725" y="438150"/>
                    </a:lnTo>
                    <a:cubicBezTo>
                      <a:pt x="38380" y="438150"/>
                      <a:pt x="0" y="393032"/>
                      <a:pt x="0" y="337375"/>
                    </a:cubicBezTo>
                    <a:lnTo>
                      <a:pt x="0" y="100775"/>
                    </a:lnTo>
                    <a:close/>
                  </a:path>
                </a:pathLst>
              </a:custGeom>
              <a:solidFill>
                <a:srgbClr val="EDF6FE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9" name="任意多边形 78"/>
              <p:cNvSpPr/>
              <p:nvPr/>
            </p:nvSpPr>
            <p:spPr>
              <a:xfrm>
                <a:off x="9960" y="7690"/>
                <a:ext cx="930" cy="450"/>
              </a:xfrm>
              <a:custGeom>
                <a:avLst/>
                <a:gdLst>
                  <a:gd name="connisteX0" fmla="*/ 0 w 590550"/>
                  <a:gd name="connsiteY0" fmla="*/ 62865 h 285750"/>
                  <a:gd name="connisteX1" fmla="*/ 62007 w 590550"/>
                  <a:gd name="connsiteY1" fmla="*/ 0 h 285750"/>
                  <a:gd name="connisteX2" fmla="*/ 528542 w 590550"/>
                  <a:gd name="connsiteY2" fmla="*/ 0 h 285750"/>
                  <a:gd name="connisteX3" fmla="*/ 590550 w 590550"/>
                  <a:gd name="connsiteY3" fmla="*/ 62865 h 285750"/>
                  <a:gd name="connisteX4" fmla="*/ 590550 w 590550"/>
                  <a:gd name="connsiteY4" fmla="*/ 222884 h 285750"/>
                  <a:gd name="connisteX5" fmla="*/ 528542 w 590550"/>
                  <a:gd name="connsiteY5" fmla="*/ 285750 h 285750"/>
                  <a:gd name="connisteX6" fmla="*/ 62007 w 590550"/>
                  <a:gd name="connsiteY6" fmla="*/ 285750 h 285750"/>
                  <a:gd name="connisteX7" fmla="*/ 0 w 590550"/>
                  <a:gd name="connsiteY7" fmla="*/ 222884 h 285750"/>
                  <a:gd name="connisteX8" fmla="*/ 0 w 590550"/>
                  <a:gd name="connsiteY8" fmla="*/ 62865 h 2857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l" t="t" r="r" b="b"/>
                <a:pathLst>
                  <a:path w="590550" h="285750">
                    <a:moveTo>
                      <a:pt x="0" y="62865"/>
                    </a:moveTo>
                    <a:cubicBezTo>
                      <a:pt x="0" y="28146"/>
                      <a:pt x="27762" y="0"/>
                      <a:pt x="62008" y="0"/>
                    </a:cubicBezTo>
                    <a:lnTo>
                      <a:pt x="528542" y="0"/>
                    </a:lnTo>
                    <a:cubicBezTo>
                      <a:pt x="562788" y="0"/>
                      <a:pt x="590550" y="28146"/>
                      <a:pt x="590550" y="62865"/>
                    </a:cubicBezTo>
                    <a:lnTo>
                      <a:pt x="590550" y="222885"/>
                    </a:lnTo>
                    <a:cubicBezTo>
                      <a:pt x="590550" y="257604"/>
                      <a:pt x="562788" y="285750"/>
                      <a:pt x="528542" y="285750"/>
                    </a:cubicBezTo>
                    <a:lnTo>
                      <a:pt x="62008" y="285750"/>
                    </a:lnTo>
                    <a:cubicBezTo>
                      <a:pt x="27762" y="285750"/>
                      <a:pt x="0" y="257604"/>
                      <a:pt x="0" y="222885"/>
                    </a:cubicBezTo>
                    <a:lnTo>
                      <a:pt x="0" y="62865"/>
                    </a:lnTo>
                    <a:close/>
                  </a:path>
                </a:pathLst>
              </a:custGeom>
              <a:solidFill>
                <a:srgbClr val="D6EAFB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0" name="文本框 79"/>
              <p:cNvSpPr txBox="1"/>
              <p:nvPr/>
            </p:nvSpPr>
            <p:spPr>
              <a:xfrm>
                <a:off x="10026" y="7657"/>
                <a:ext cx="864" cy="483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400" b="1">
                    <a:solidFill>
                      <a:srgbClr val="00549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RQ2</a:t>
                </a:r>
                <a:endParaRPr lang="zh-CN" altLang="en-US" sz="14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10996" y="7633"/>
                <a:ext cx="4488" cy="50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500">
                    <a:solidFill>
                      <a:srgbClr val="35516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不同筛选策略适用于什么需求？</a:t>
                </a:r>
                <a:endParaRPr lang="zh-CN" altLang="en-US" sz="15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9780" y="8419"/>
              <a:ext cx="9000" cy="690"/>
              <a:chOff x="9780" y="8419"/>
              <a:chExt cx="9000" cy="690"/>
            </a:xfrm>
          </p:grpSpPr>
          <p:sp>
            <p:nvSpPr>
              <p:cNvPr id="83" name="任意多边形 82"/>
              <p:cNvSpPr/>
              <p:nvPr/>
            </p:nvSpPr>
            <p:spPr>
              <a:xfrm>
                <a:off x="9780" y="8419"/>
                <a:ext cx="9000" cy="690"/>
              </a:xfrm>
              <a:custGeom>
                <a:avLst/>
                <a:gdLst>
                  <a:gd name="connisteX0" fmla="*/ 0 w 5715000"/>
                  <a:gd name="connsiteY0" fmla="*/ 100774 h 438150"/>
                  <a:gd name="connisteX1" fmla="*/ 85725 w 5715000"/>
                  <a:gd name="connsiteY1" fmla="*/ 0 h 438150"/>
                  <a:gd name="connisteX2" fmla="*/ 5629275 w 5715000"/>
                  <a:gd name="connsiteY2" fmla="*/ 0 h 438150"/>
                  <a:gd name="connisteX3" fmla="*/ 5715000 w 5715000"/>
                  <a:gd name="connsiteY3" fmla="*/ 100774 h 438150"/>
                  <a:gd name="connisteX4" fmla="*/ 5715000 w 5715000"/>
                  <a:gd name="connsiteY4" fmla="*/ 337375 h 438150"/>
                  <a:gd name="connisteX5" fmla="*/ 5629275 w 5715000"/>
                  <a:gd name="connsiteY5" fmla="*/ 438150 h 438150"/>
                  <a:gd name="connisteX6" fmla="*/ 85725 w 5715000"/>
                  <a:gd name="connsiteY6" fmla="*/ 438150 h 438150"/>
                  <a:gd name="connisteX7" fmla="*/ 0 w 5715000"/>
                  <a:gd name="connsiteY7" fmla="*/ 337375 h 438150"/>
                  <a:gd name="connisteX8" fmla="*/ 0 w 5715000"/>
                  <a:gd name="connsiteY8" fmla="*/ 100774 h 4381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l" t="t" r="r" b="b"/>
                <a:pathLst>
                  <a:path w="5715000" h="438150">
                    <a:moveTo>
                      <a:pt x="0" y="100775"/>
                    </a:moveTo>
                    <a:cubicBezTo>
                      <a:pt x="0" y="45118"/>
                      <a:pt x="38380" y="0"/>
                      <a:pt x="85725" y="0"/>
                    </a:cubicBezTo>
                    <a:lnTo>
                      <a:pt x="5629275" y="0"/>
                    </a:lnTo>
                    <a:cubicBezTo>
                      <a:pt x="5676620" y="0"/>
                      <a:pt x="5715000" y="45118"/>
                      <a:pt x="5715000" y="100775"/>
                    </a:cubicBezTo>
                    <a:lnTo>
                      <a:pt x="5715000" y="337376"/>
                    </a:lnTo>
                    <a:cubicBezTo>
                      <a:pt x="5715000" y="393032"/>
                      <a:pt x="5676620" y="438150"/>
                      <a:pt x="5629275" y="438150"/>
                    </a:cubicBezTo>
                    <a:lnTo>
                      <a:pt x="85725" y="438150"/>
                    </a:lnTo>
                    <a:cubicBezTo>
                      <a:pt x="38380" y="438150"/>
                      <a:pt x="0" y="393032"/>
                      <a:pt x="0" y="337376"/>
                    </a:cubicBezTo>
                    <a:lnTo>
                      <a:pt x="0" y="100775"/>
                    </a:lnTo>
                    <a:close/>
                  </a:path>
                </a:pathLst>
              </a:custGeom>
              <a:solidFill>
                <a:srgbClr val="EDF6FE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" name="任意多边形 83"/>
              <p:cNvSpPr/>
              <p:nvPr/>
            </p:nvSpPr>
            <p:spPr>
              <a:xfrm>
                <a:off x="9960" y="8539"/>
                <a:ext cx="930" cy="450"/>
              </a:xfrm>
              <a:custGeom>
                <a:avLst/>
                <a:gdLst>
                  <a:gd name="connisteX0" fmla="*/ 0 w 590550"/>
                  <a:gd name="connsiteY0" fmla="*/ 62865 h 285750"/>
                  <a:gd name="connisteX1" fmla="*/ 62007 w 590550"/>
                  <a:gd name="connsiteY1" fmla="*/ 0 h 285750"/>
                  <a:gd name="connisteX2" fmla="*/ 528542 w 590550"/>
                  <a:gd name="connsiteY2" fmla="*/ 0 h 285750"/>
                  <a:gd name="connisteX3" fmla="*/ 590550 w 590550"/>
                  <a:gd name="connsiteY3" fmla="*/ 62865 h 285750"/>
                  <a:gd name="connisteX4" fmla="*/ 590550 w 590550"/>
                  <a:gd name="connsiteY4" fmla="*/ 222885 h 285750"/>
                  <a:gd name="connisteX5" fmla="*/ 528542 w 590550"/>
                  <a:gd name="connsiteY5" fmla="*/ 285750 h 285750"/>
                  <a:gd name="connisteX6" fmla="*/ 62007 w 590550"/>
                  <a:gd name="connsiteY6" fmla="*/ 285750 h 285750"/>
                  <a:gd name="connisteX7" fmla="*/ 0 w 590550"/>
                  <a:gd name="connsiteY7" fmla="*/ 222885 h 285750"/>
                  <a:gd name="connisteX8" fmla="*/ 0 w 590550"/>
                  <a:gd name="connsiteY8" fmla="*/ 62865 h 2857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</a:cxnLst>
                <a:rect l="l" t="t" r="r" b="b"/>
                <a:pathLst>
                  <a:path w="590550" h="285750">
                    <a:moveTo>
                      <a:pt x="0" y="62865"/>
                    </a:moveTo>
                    <a:cubicBezTo>
                      <a:pt x="0" y="28146"/>
                      <a:pt x="27762" y="0"/>
                      <a:pt x="62008" y="0"/>
                    </a:cubicBezTo>
                    <a:lnTo>
                      <a:pt x="528542" y="0"/>
                    </a:lnTo>
                    <a:cubicBezTo>
                      <a:pt x="562788" y="0"/>
                      <a:pt x="590550" y="28146"/>
                      <a:pt x="590550" y="62865"/>
                    </a:cubicBezTo>
                    <a:lnTo>
                      <a:pt x="590550" y="222885"/>
                    </a:lnTo>
                    <a:cubicBezTo>
                      <a:pt x="590550" y="257604"/>
                      <a:pt x="562788" y="285750"/>
                      <a:pt x="528542" y="285750"/>
                    </a:cubicBezTo>
                    <a:lnTo>
                      <a:pt x="62008" y="285750"/>
                    </a:lnTo>
                    <a:cubicBezTo>
                      <a:pt x="27762" y="285750"/>
                      <a:pt x="0" y="257604"/>
                      <a:pt x="0" y="222885"/>
                    </a:cubicBezTo>
                    <a:lnTo>
                      <a:pt x="0" y="62865"/>
                    </a:lnTo>
                    <a:close/>
                  </a:path>
                </a:pathLst>
              </a:custGeom>
              <a:solidFill>
                <a:srgbClr val="D6EAFB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10026" y="8508"/>
                <a:ext cx="864" cy="483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400" b="1">
                    <a:solidFill>
                      <a:srgbClr val="00549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RQ3</a:t>
                </a:r>
                <a:endParaRPr lang="zh-CN" altLang="en-US" sz="14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  <p:sp>
            <p:nvSpPr>
              <p:cNvPr id="86" name="文本框 85"/>
              <p:cNvSpPr txBox="1"/>
              <p:nvPr/>
            </p:nvSpPr>
            <p:spPr>
              <a:xfrm>
                <a:off x="10986" y="8488"/>
                <a:ext cx="4788" cy="50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p>
                <a:r>
                  <a:rPr lang="zh-CN" altLang="en-US" sz="1500">
                    <a:solidFill>
                      <a:srgbClr val="35516A">
                        <a:alpha val="100000"/>
                      </a:srgbClr>
                    </a:solidFill>
                    <a:latin typeface="Arial" panose="020B0604020202020204" pitchFamily="34" charset="0"/>
                    <a:ea typeface="Microsoft YaHei UI" panose="020B0503020204020204" charset="-122"/>
                  </a:rPr>
                  <a:t>权重、门槛变化后名单是否稳定？</a:t>
                </a:r>
                <a:endParaRPr lang="zh-CN" altLang="en-US" sz="15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endParaRPr>
              </a:p>
            </p:txBody>
          </p:sp>
        </p:grpSp>
      </p:grpSp>
      <p:grpSp>
        <p:nvGrpSpPr>
          <p:cNvPr id="93" name="组合 92"/>
          <p:cNvGrpSpPr/>
          <p:nvPr/>
        </p:nvGrpSpPr>
        <p:grpSpPr>
          <a:xfrm>
            <a:off x="266700" y="6050915"/>
            <a:ext cx="11658600" cy="565785"/>
            <a:chOff x="420" y="9529"/>
            <a:chExt cx="18360" cy="891"/>
          </a:xfrm>
        </p:grpSpPr>
        <p:sp>
          <p:nvSpPr>
            <p:cNvPr id="89" name="任意多边形 88"/>
            <p:cNvSpPr/>
            <p:nvPr/>
          </p:nvSpPr>
          <p:spPr>
            <a:xfrm>
              <a:off x="420" y="9529"/>
              <a:ext cx="18360" cy="891"/>
            </a:xfrm>
            <a:custGeom>
              <a:avLst/>
              <a:gdLst>
                <a:gd name="connisteX0" fmla="*/ 0 w 11658600"/>
                <a:gd name="connsiteY0" fmla="*/ 98901 h 565150"/>
                <a:gd name="connisteX1" fmla="*/ 58292 w 11658600"/>
                <a:gd name="connsiteY1" fmla="*/ 0 h 565150"/>
                <a:gd name="connisteX2" fmla="*/ 11600307 w 11658600"/>
                <a:gd name="connsiteY2" fmla="*/ 0 h 565150"/>
                <a:gd name="connisteX3" fmla="*/ 11658600 w 11658600"/>
                <a:gd name="connsiteY3" fmla="*/ 98901 h 565150"/>
                <a:gd name="connisteX4" fmla="*/ 11658600 w 11658600"/>
                <a:gd name="connsiteY4" fmla="*/ 466248 h 565150"/>
                <a:gd name="connisteX5" fmla="*/ 11600307 w 11658600"/>
                <a:gd name="connsiteY5" fmla="*/ 565150 h 565150"/>
                <a:gd name="connisteX6" fmla="*/ 58292 w 11658600"/>
                <a:gd name="connsiteY6" fmla="*/ 565150 h 565150"/>
                <a:gd name="connisteX7" fmla="*/ 0 w 11658600"/>
                <a:gd name="connsiteY7" fmla="*/ 466248 h 565150"/>
                <a:gd name="connisteX8" fmla="*/ 0 w 11658600"/>
                <a:gd name="connsiteY8" fmla="*/ 98901 h 5651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1658600" h="565150">
                  <a:moveTo>
                    <a:pt x="0" y="98901"/>
                  </a:moveTo>
                  <a:cubicBezTo>
                    <a:pt x="0" y="44280"/>
                    <a:pt x="26099" y="0"/>
                    <a:pt x="58293" y="0"/>
                  </a:cubicBezTo>
                  <a:lnTo>
                    <a:pt x="11600307" y="0"/>
                  </a:lnTo>
                  <a:cubicBezTo>
                    <a:pt x="11632501" y="0"/>
                    <a:pt x="11658600" y="44280"/>
                    <a:pt x="11658600" y="98901"/>
                  </a:cubicBezTo>
                  <a:lnTo>
                    <a:pt x="11658600" y="466249"/>
                  </a:lnTo>
                  <a:cubicBezTo>
                    <a:pt x="11658600" y="520870"/>
                    <a:pt x="11632501" y="565150"/>
                    <a:pt x="11600307" y="565150"/>
                  </a:cubicBezTo>
                  <a:lnTo>
                    <a:pt x="58293" y="565150"/>
                  </a:lnTo>
                  <a:cubicBezTo>
                    <a:pt x="26099" y="565150"/>
                    <a:pt x="0" y="520870"/>
                    <a:pt x="0" y="466249"/>
                  </a:cubicBezTo>
                  <a:lnTo>
                    <a:pt x="0" y="98901"/>
                  </a:lnTo>
                  <a:close/>
                </a:path>
              </a:pathLst>
            </a:custGeom>
            <a:solidFill>
              <a:srgbClr val="E5F3FC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90" name="任意多边形 89"/>
            <p:cNvSpPr/>
            <p:nvPr/>
          </p:nvSpPr>
          <p:spPr>
            <a:xfrm>
              <a:off x="420" y="9529"/>
              <a:ext cx="160" cy="891"/>
            </a:xfrm>
            <a:custGeom>
              <a:avLst/>
              <a:gdLst>
                <a:gd name="connisteX0" fmla="*/ 0 w 101599"/>
                <a:gd name="connsiteY0" fmla="*/ 48037 h 565150"/>
                <a:gd name="connisteX1" fmla="*/ 50799 w 101599"/>
                <a:gd name="connsiteY1" fmla="*/ 0 h 565150"/>
                <a:gd name="connisteX2" fmla="*/ 101599 w 101599"/>
                <a:gd name="connsiteY2" fmla="*/ 48037 h 565150"/>
                <a:gd name="connisteX3" fmla="*/ 101599 w 101599"/>
                <a:gd name="connsiteY3" fmla="*/ 517112 h 565150"/>
                <a:gd name="connisteX4" fmla="*/ 50799 w 101599"/>
                <a:gd name="connsiteY4" fmla="*/ 565150 h 565150"/>
                <a:gd name="connisteX5" fmla="*/ 0 w 101599"/>
                <a:gd name="connsiteY5" fmla="*/ 517112 h 565150"/>
                <a:gd name="connisteX6" fmla="*/ 0 w 101599"/>
                <a:gd name="connsiteY6" fmla="*/ 48037 h 5651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rect l="l" t="t" r="r" b="b"/>
              <a:pathLst>
                <a:path w="101600" h="565150">
                  <a:moveTo>
                    <a:pt x="0" y="48038"/>
                  </a:moveTo>
                  <a:cubicBezTo>
                    <a:pt x="0" y="21507"/>
                    <a:pt x="22744" y="0"/>
                    <a:pt x="50800" y="0"/>
                  </a:cubicBezTo>
                  <a:cubicBezTo>
                    <a:pt x="78856" y="0"/>
                    <a:pt x="101600" y="21507"/>
                    <a:pt x="101600" y="48038"/>
                  </a:cubicBezTo>
                  <a:lnTo>
                    <a:pt x="101600" y="517112"/>
                  </a:lnTo>
                  <a:cubicBezTo>
                    <a:pt x="101600" y="543643"/>
                    <a:pt x="78856" y="565150"/>
                    <a:pt x="50800" y="565150"/>
                  </a:cubicBezTo>
                  <a:cubicBezTo>
                    <a:pt x="22744" y="565150"/>
                    <a:pt x="0" y="543643"/>
                    <a:pt x="0" y="517112"/>
                  </a:cubicBezTo>
                  <a:lnTo>
                    <a:pt x="0" y="48038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706" y="9673"/>
              <a:ext cx="1728" cy="580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研究目标</a:t>
              </a:r>
              <a:endParaRPr lang="zh-CN" altLang="en-US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2615" y="9698"/>
              <a:ext cx="10528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比较多目标之间的取舍，按验证需求提供可解释、稳定的候选优先名单。</a:t>
              </a:r>
              <a:endPara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isteX0" fmla="*/ 0 w 12192000"/>
              <a:gd name="connsiteY0" fmla="*/ 0 h 6858000"/>
              <a:gd name="connisteX1" fmla="*/ 12192000 w 12192000"/>
              <a:gd name="connsiteY1" fmla="*/ 0 h 6858000"/>
              <a:gd name="connisteX2" fmla="*/ 12192000 w 12192000"/>
              <a:gd name="connsiteY2" fmla="*/ 6858000 h 6858000"/>
              <a:gd name="connisteX3" fmla="*/ 0 w 12192000"/>
              <a:gd name="connsiteY3" fmla="*/ 6858000 h 6858000"/>
              <a:gd name="connisteX4" fmla="*/ 0 w 12192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60350" y="76200"/>
            <a:ext cx="11506200" cy="716915"/>
            <a:chOff x="410" y="120"/>
            <a:chExt cx="18120" cy="1129"/>
          </a:xfrm>
        </p:grpSpPr>
        <p:grpSp>
          <p:nvGrpSpPr>
            <p:cNvPr id="6" name="组合 5"/>
            <p:cNvGrpSpPr/>
            <p:nvPr/>
          </p:nvGrpSpPr>
          <p:grpSpPr>
            <a:xfrm>
              <a:off x="410" y="170"/>
              <a:ext cx="990" cy="990"/>
              <a:chOff x="410" y="170"/>
              <a:chExt cx="990" cy="990"/>
            </a:xfrm>
          </p:grpSpPr>
          <p:sp>
            <p:nvSpPr>
              <p:cNvPr id="4" name="任意多边形 3"/>
              <p:cNvSpPr/>
              <p:nvPr/>
            </p:nvSpPr>
            <p:spPr>
              <a:xfrm>
                <a:off x="410" y="170"/>
                <a:ext cx="900" cy="900"/>
              </a:xfrm>
              <a:custGeom>
                <a:avLst/>
                <a:gdLst>
                  <a:gd name="connisteX0" fmla="*/ 133349 w 571500"/>
                  <a:gd name="connsiteY0" fmla="*/ 0 h 571500"/>
                  <a:gd name="connisteX1" fmla="*/ 571500 w 571500"/>
                  <a:gd name="connsiteY1" fmla="*/ 0 h 571500"/>
                  <a:gd name="connisteX2" fmla="*/ 444500 w 571500"/>
                  <a:gd name="connsiteY2" fmla="*/ 571500 h 571500"/>
                  <a:gd name="connisteX3" fmla="*/ 0 w 571500"/>
                  <a:gd name="connsiteY3" fmla="*/ 571500 h 571500"/>
                  <a:gd name="connisteX4" fmla="*/ 133349 w 571500"/>
                  <a:gd name="connsiteY4" fmla="*/ 0 h 5715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571500" h="571500">
                    <a:moveTo>
                      <a:pt x="133350" y="0"/>
                    </a:moveTo>
                    <a:lnTo>
                      <a:pt x="571500" y="0"/>
                    </a:lnTo>
                    <a:lnTo>
                      <a:pt x="444500" y="571500"/>
                    </a:lnTo>
                    <a:lnTo>
                      <a:pt x="0" y="571500"/>
                    </a:lnTo>
                    <a:lnTo>
                      <a:pt x="133350" y="0"/>
                    </a:lnTo>
                    <a:close/>
                  </a:path>
                </a:pathLst>
              </a:custGeom>
              <a:solidFill>
                <a:srgbClr val="0A5798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510" y="270"/>
                <a:ext cx="890" cy="890"/>
              </a:xfrm>
              <a:custGeom>
                <a:avLst/>
                <a:gdLst>
                  <a:gd name="connisteX0" fmla="*/ 520699 w 565150"/>
                  <a:gd name="connsiteY0" fmla="*/ 0 h 565150"/>
                  <a:gd name="connisteX1" fmla="*/ 565150 w 565150"/>
                  <a:gd name="connsiteY1" fmla="*/ 0 h 565150"/>
                  <a:gd name="connisteX2" fmla="*/ 450850 w 565150"/>
                  <a:gd name="connsiteY2" fmla="*/ 565150 h 565150"/>
                  <a:gd name="connisteX3" fmla="*/ 0 w 565150"/>
                  <a:gd name="connsiteY3" fmla="*/ 565150 h 5651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565150" h="565150">
                    <a:moveTo>
                      <a:pt x="520700" y="0"/>
                    </a:moveTo>
                    <a:lnTo>
                      <a:pt x="565150" y="0"/>
                    </a:lnTo>
                    <a:lnTo>
                      <a:pt x="450850" y="565150"/>
                    </a:lnTo>
                    <a:lnTo>
                      <a:pt x="0" y="565150"/>
                    </a:lnTo>
                  </a:path>
                </a:pathLst>
              </a:custGeom>
              <a:noFill/>
              <a:ln w="19050" cap="flat">
                <a:solidFill>
                  <a:srgbClr val="00549A"/>
                </a:solidFill>
                <a:custDash/>
                <a:miter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1616" y="403"/>
              <a:ext cx="5508" cy="846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9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数据基础与筛选流程</a:t>
              </a:r>
              <a:endParaRPr lang="zh-CN" altLang="en-US" sz="2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890" y="120"/>
              <a:ext cx="3640" cy="105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sp>
        <p:nvSpPr>
          <p:cNvPr id="10" name="任意多边形 9"/>
          <p:cNvSpPr/>
          <p:nvPr/>
        </p:nvSpPr>
        <p:spPr>
          <a:xfrm>
            <a:off x="266700" y="1060450"/>
            <a:ext cx="11658600" cy="520700"/>
          </a:xfrm>
          <a:custGeom>
            <a:avLst/>
            <a:gdLst>
              <a:gd name="connisteX0" fmla="*/ 0 w 11658600"/>
              <a:gd name="connsiteY0" fmla="*/ 101536 h 520700"/>
              <a:gd name="connisteX1" fmla="*/ 58292 w 11658600"/>
              <a:gd name="connsiteY1" fmla="*/ 0 h 520700"/>
              <a:gd name="connisteX2" fmla="*/ 11600307 w 11658600"/>
              <a:gd name="connsiteY2" fmla="*/ 0 h 520700"/>
              <a:gd name="connisteX3" fmla="*/ 11658600 w 11658600"/>
              <a:gd name="connsiteY3" fmla="*/ 101536 h 520700"/>
              <a:gd name="connisteX4" fmla="*/ 11658600 w 11658600"/>
              <a:gd name="connsiteY4" fmla="*/ 419163 h 520700"/>
              <a:gd name="connisteX5" fmla="*/ 11600307 w 11658600"/>
              <a:gd name="connsiteY5" fmla="*/ 520700 h 520700"/>
              <a:gd name="connisteX6" fmla="*/ 58292 w 11658600"/>
              <a:gd name="connsiteY6" fmla="*/ 520700 h 520700"/>
              <a:gd name="connisteX7" fmla="*/ 0 w 11658600"/>
              <a:gd name="connsiteY7" fmla="*/ 419163 h 520700"/>
              <a:gd name="connisteX8" fmla="*/ 0 w 11658600"/>
              <a:gd name="connsiteY8" fmla="*/ 101536 h 520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520700">
                <a:moveTo>
                  <a:pt x="0" y="101537"/>
                </a:moveTo>
                <a:cubicBezTo>
                  <a:pt x="0" y="45459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45459"/>
                  <a:pt x="11658600" y="101537"/>
                </a:cubicBezTo>
                <a:lnTo>
                  <a:pt x="11658600" y="419164"/>
                </a:lnTo>
                <a:cubicBezTo>
                  <a:pt x="11658600" y="475241"/>
                  <a:pt x="11632501" y="520700"/>
                  <a:pt x="11600307" y="520700"/>
                </a:cubicBezTo>
                <a:lnTo>
                  <a:pt x="58293" y="520700"/>
                </a:lnTo>
                <a:cubicBezTo>
                  <a:pt x="26099" y="520700"/>
                  <a:pt x="0" y="475241"/>
                  <a:pt x="0" y="419164"/>
                </a:cubicBezTo>
                <a:lnTo>
                  <a:pt x="0" y="101537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266700" y="1060450"/>
            <a:ext cx="101600" cy="520065"/>
          </a:xfrm>
          <a:custGeom>
            <a:avLst/>
            <a:gdLst>
              <a:gd name="connisteX0" fmla="*/ 0 w 101599"/>
              <a:gd name="connsiteY0" fmla="*/ 49466 h 520699"/>
              <a:gd name="connisteX1" fmla="*/ 50799 w 101599"/>
              <a:gd name="connsiteY1" fmla="*/ 0 h 520699"/>
              <a:gd name="connisteX2" fmla="*/ 101599 w 101599"/>
              <a:gd name="connsiteY2" fmla="*/ 49466 h 520699"/>
              <a:gd name="connisteX3" fmla="*/ 101599 w 101599"/>
              <a:gd name="connsiteY3" fmla="*/ 471233 h 520699"/>
              <a:gd name="connisteX4" fmla="*/ 50799 w 101599"/>
              <a:gd name="connsiteY4" fmla="*/ 520699 h 520699"/>
              <a:gd name="connisteX5" fmla="*/ 0 w 101599"/>
              <a:gd name="connsiteY5" fmla="*/ 471233 h 520699"/>
              <a:gd name="connisteX6" fmla="*/ 0 w 101599"/>
              <a:gd name="connsiteY6" fmla="*/ 49466 h 5206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520700">
                <a:moveTo>
                  <a:pt x="0" y="49466"/>
                </a:moveTo>
                <a:cubicBezTo>
                  <a:pt x="0" y="22147"/>
                  <a:pt x="22744" y="0"/>
                  <a:pt x="50800" y="0"/>
                </a:cubicBezTo>
                <a:cubicBezTo>
                  <a:pt x="78856" y="0"/>
                  <a:pt x="101600" y="22147"/>
                  <a:pt x="101600" y="49466"/>
                </a:cubicBezTo>
                <a:lnTo>
                  <a:pt x="101600" y="471233"/>
                </a:lnTo>
                <a:cubicBezTo>
                  <a:pt x="101600" y="498553"/>
                  <a:pt x="78856" y="520700"/>
                  <a:pt x="50800" y="520700"/>
                </a:cubicBezTo>
                <a:cubicBezTo>
                  <a:pt x="22744" y="520700"/>
                  <a:pt x="0" y="498553"/>
                  <a:pt x="0" y="471233"/>
                </a:cubicBezTo>
                <a:lnTo>
                  <a:pt x="0" y="4946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61010" y="1106170"/>
            <a:ext cx="4809490" cy="3987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20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从 1,000 条输入候选到 114 条统一评价池</a:t>
            </a:r>
            <a:endParaRPr lang="zh-CN" altLang="en-US" sz="20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349250" y="1917700"/>
            <a:ext cx="2984500" cy="2785745"/>
            <a:chOff x="550" y="3020"/>
            <a:chExt cx="4700" cy="4387"/>
          </a:xfrm>
        </p:grpSpPr>
        <p:sp>
          <p:nvSpPr>
            <p:cNvPr id="13" name="任意多边形 12"/>
            <p:cNvSpPr/>
            <p:nvPr/>
          </p:nvSpPr>
          <p:spPr>
            <a:xfrm>
              <a:off x="550" y="3020"/>
              <a:ext cx="3650" cy="3800"/>
            </a:xfrm>
            <a:custGeom>
              <a:avLst/>
              <a:gdLst>
                <a:gd name="connisteX0" fmla="*/ 0 w 2317750"/>
                <a:gd name="connsiteY0" fmla="*/ 120650 h 2413000"/>
                <a:gd name="connisteX1" fmla="*/ 115887 w 2317750"/>
                <a:gd name="connsiteY1" fmla="*/ 0 h 2413000"/>
                <a:gd name="connisteX2" fmla="*/ 2201862 w 2317750"/>
                <a:gd name="connsiteY2" fmla="*/ 0 h 2413000"/>
                <a:gd name="connisteX3" fmla="*/ 2317750 w 2317750"/>
                <a:gd name="connsiteY3" fmla="*/ 120650 h 2413000"/>
                <a:gd name="connisteX4" fmla="*/ 2317750 w 2317750"/>
                <a:gd name="connsiteY4" fmla="*/ 2292350 h 2413000"/>
                <a:gd name="connisteX5" fmla="*/ 2201862 w 2317750"/>
                <a:gd name="connsiteY5" fmla="*/ 2413000 h 2413000"/>
                <a:gd name="connisteX6" fmla="*/ 115887 w 2317750"/>
                <a:gd name="connsiteY6" fmla="*/ 2413000 h 2413000"/>
                <a:gd name="connisteX7" fmla="*/ 0 w 2317750"/>
                <a:gd name="connsiteY7" fmla="*/ 2292350 h 2413000"/>
                <a:gd name="connisteX8" fmla="*/ 0 w 2317750"/>
                <a:gd name="connsiteY8" fmla="*/ 120650 h 24130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317750" h="2413000">
                  <a:moveTo>
                    <a:pt x="0" y="120650"/>
                  </a:moveTo>
                  <a:cubicBezTo>
                    <a:pt x="0" y="54017"/>
                    <a:pt x="51885" y="0"/>
                    <a:pt x="115887" y="0"/>
                  </a:cubicBezTo>
                  <a:lnTo>
                    <a:pt x="2201863" y="0"/>
                  </a:lnTo>
                  <a:cubicBezTo>
                    <a:pt x="2265865" y="0"/>
                    <a:pt x="2317750" y="54017"/>
                    <a:pt x="2317750" y="120650"/>
                  </a:cubicBezTo>
                  <a:lnTo>
                    <a:pt x="2317750" y="2292350"/>
                  </a:lnTo>
                  <a:cubicBezTo>
                    <a:pt x="2317750" y="2358983"/>
                    <a:pt x="2265865" y="2413000"/>
                    <a:pt x="2201863" y="2413000"/>
                  </a:cubicBezTo>
                  <a:lnTo>
                    <a:pt x="115887" y="2413000"/>
                  </a:lnTo>
                  <a:cubicBezTo>
                    <a:pt x="51885" y="2413000"/>
                    <a:pt x="0" y="2358983"/>
                    <a:pt x="0" y="2292350"/>
                  </a:cubicBezTo>
                  <a:lnTo>
                    <a:pt x="0" y="120650"/>
                  </a:lnTo>
                  <a:close/>
                </a:path>
              </a:pathLst>
            </a:custGeom>
            <a:solidFill>
              <a:srgbClr val="F5FAFE"/>
            </a:solidFill>
            <a:ln w="12700" cap="flat">
              <a:solidFill>
                <a:srgbClr val="80B6E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550" y="3020"/>
              <a:ext cx="3650" cy="770"/>
            </a:xfrm>
            <a:custGeom>
              <a:avLst/>
              <a:gdLst>
                <a:gd name="connisteX0" fmla="*/ 0 w 2317750"/>
                <a:gd name="connsiteY0" fmla="*/ 124682 h 488950"/>
                <a:gd name="connisteX1" fmla="*/ 115887 w 2317750"/>
                <a:gd name="connsiteY1" fmla="*/ 0 h 488950"/>
                <a:gd name="connisteX2" fmla="*/ 2201862 w 2317750"/>
                <a:gd name="connsiteY2" fmla="*/ 0 h 488950"/>
                <a:gd name="connisteX3" fmla="*/ 2317750 w 2317750"/>
                <a:gd name="connsiteY3" fmla="*/ 124682 h 488950"/>
                <a:gd name="connisteX4" fmla="*/ 2317750 w 2317750"/>
                <a:gd name="connsiteY4" fmla="*/ 364267 h 488950"/>
                <a:gd name="connisteX5" fmla="*/ 2201862 w 2317750"/>
                <a:gd name="connsiteY5" fmla="*/ 488950 h 488950"/>
                <a:gd name="connisteX6" fmla="*/ 115887 w 2317750"/>
                <a:gd name="connsiteY6" fmla="*/ 488950 h 488950"/>
                <a:gd name="connisteX7" fmla="*/ 0 w 2317750"/>
                <a:gd name="connsiteY7" fmla="*/ 364267 h 488950"/>
                <a:gd name="connisteX8" fmla="*/ 0 w 2317750"/>
                <a:gd name="connsiteY8" fmla="*/ 124682 h 4889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317750" h="488950">
                  <a:moveTo>
                    <a:pt x="0" y="124682"/>
                  </a:moveTo>
                  <a:cubicBezTo>
                    <a:pt x="0" y="55822"/>
                    <a:pt x="51885" y="0"/>
                    <a:pt x="115887" y="0"/>
                  </a:cubicBezTo>
                  <a:lnTo>
                    <a:pt x="2201863" y="0"/>
                  </a:lnTo>
                  <a:cubicBezTo>
                    <a:pt x="2265865" y="0"/>
                    <a:pt x="2317750" y="55822"/>
                    <a:pt x="2317750" y="124682"/>
                  </a:cubicBezTo>
                  <a:lnTo>
                    <a:pt x="2317750" y="364268"/>
                  </a:lnTo>
                  <a:cubicBezTo>
                    <a:pt x="2317750" y="433128"/>
                    <a:pt x="2265865" y="488950"/>
                    <a:pt x="2201863" y="488950"/>
                  </a:cubicBezTo>
                  <a:lnTo>
                    <a:pt x="115887" y="488950"/>
                  </a:lnTo>
                  <a:cubicBezTo>
                    <a:pt x="51885" y="488950"/>
                    <a:pt x="0" y="433128"/>
                    <a:pt x="0" y="364268"/>
                  </a:cubicBezTo>
                  <a:lnTo>
                    <a:pt x="0" y="124682"/>
                  </a:lnTo>
                  <a:close/>
                </a:path>
              </a:pathLst>
            </a:custGeom>
            <a:solidFill>
              <a:srgbClr val="DFEFFC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71" y="3137"/>
              <a:ext cx="2208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基础质量检查</a:t>
              </a:r>
              <a:endPara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141" y="3842"/>
              <a:ext cx="2592" cy="1258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4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1,000</a:t>
              </a:r>
              <a:endParaRPr lang="zh-CN" altLang="en-US" sz="4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410" y="5033"/>
              <a:ext cx="196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唯一候选序列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101" y="5473"/>
              <a:ext cx="2544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基础 QC 全部通过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21" y="6888"/>
              <a:ext cx="1528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输入批次</a:t>
              </a:r>
              <a:endParaRPr lang="zh-CN" altLang="en-US" sz="15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4329" y="4929"/>
              <a:ext cx="750" cy="0"/>
            </a:xfrm>
            <a:custGeom>
              <a:avLst/>
              <a:gdLst>
                <a:gd name="connisteX0" fmla="*/ 0 w 476250"/>
                <a:gd name="connsiteY0" fmla="*/ 0 h 0"/>
                <a:gd name="connisteX1" fmla="*/ 476250 w 476250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76250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solidFill>
              <a:srgbClr val="000000"/>
            </a:solidFill>
            <a:ln w="31750" cap="flat">
              <a:solidFill>
                <a:srgbClr val="5197D5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5019" y="4779"/>
              <a:ext cx="231" cy="300"/>
            </a:xfrm>
            <a:custGeom>
              <a:avLst/>
              <a:gdLst>
                <a:gd name="connisteX0" fmla="*/ 0 w 146050"/>
                <a:gd name="connsiteY0" fmla="*/ 0 h 190500"/>
                <a:gd name="connisteX1" fmla="*/ 146050 w 146050"/>
                <a:gd name="connsiteY1" fmla="*/ 95250 h 190500"/>
                <a:gd name="connisteX2" fmla="*/ 0 w 146050"/>
                <a:gd name="connsiteY2" fmla="*/ 190500 h 190500"/>
                <a:gd name="connisteX3" fmla="*/ 0 w 146050"/>
                <a:gd name="connsiteY3" fmla="*/ 0 h 1905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6050" h="190500">
                  <a:moveTo>
                    <a:pt x="0" y="0"/>
                  </a:moveTo>
                  <a:lnTo>
                    <a:pt x="146050" y="9525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397250" y="1917700"/>
            <a:ext cx="2984500" cy="2779395"/>
            <a:chOff x="5350" y="3020"/>
            <a:chExt cx="4700" cy="4377"/>
          </a:xfrm>
        </p:grpSpPr>
        <p:sp>
          <p:nvSpPr>
            <p:cNvPr id="23" name="任意多边形 22"/>
            <p:cNvSpPr/>
            <p:nvPr/>
          </p:nvSpPr>
          <p:spPr>
            <a:xfrm>
              <a:off x="5350" y="3020"/>
              <a:ext cx="3650" cy="3800"/>
            </a:xfrm>
            <a:custGeom>
              <a:avLst/>
              <a:gdLst>
                <a:gd name="connisteX0" fmla="*/ 0 w 2317750"/>
                <a:gd name="connsiteY0" fmla="*/ 120650 h 2413000"/>
                <a:gd name="connisteX1" fmla="*/ 115887 w 2317750"/>
                <a:gd name="connsiteY1" fmla="*/ 0 h 2413000"/>
                <a:gd name="connisteX2" fmla="*/ 2201862 w 2317750"/>
                <a:gd name="connsiteY2" fmla="*/ 0 h 2413000"/>
                <a:gd name="connisteX3" fmla="*/ 2317750 w 2317750"/>
                <a:gd name="connsiteY3" fmla="*/ 120650 h 2413000"/>
                <a:gd name="connisteX4" fmla="*/ 2317750 w 2317750"/>
                <a:gd name="connsiteY4" fmla="*/ 2292350 h 2413000"/>
                <a:gd name="connisteX5" fmla="*/ 2201862 w 2317750"/>
                <a:gd name="connsiteY5" fmla="*/ 2413000 h 2413000"/>
                <a:gd name="connisteX6" fmla="*/ 115887 w 2317750"/>
                <a:gd name="connsiteY6" fmla="*/ 2413000 h 2413000"/>
                <a:gd name="connisteX7" fmla="*/ 0 w 2317750"/>
                <a:gd name="connsiteY7" fmla="*/ 2292350 h 2413000"/>
                <a:gd name="connisteX8" fmla="*/ 0 w 2317750"/>
                <a:gd name="connsiteY8" fmla="*/ 120650 h 24130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317750" h="2413000">
                  <a:moveTo>
                    <a:pt x="0" y="120650"/>
                  </a:moveTo>
                  <a:cubicBezTo>
                    <a:pt x="0" y="54017"/>
                    <a:pt x="51885" y="0"/>
                    <a:pt x="115888" y="0"/>
                  </a:cubicBezTo>
                  <a:lnTo>
                    <a:pt x="2201862" y="0"/>
                  </a:lnTo>
                  <a:cubicBezTo>
                    <a:pt x="2265865" y="0"/>
                    <a:pt x="2317750" y="54017"/>
                    <a:pt x="2317750" y="120650"/>
                  </a:cubicBezTo>
                  <a:lnTo>
                    <a:pt x="2317750" y="2292350"/>
                  </a:lnTo>
                  <a:cubicBezTo>
                    <a:pt x="2317750" y="2358983"/>
                    <a:pt x="2265865" y="2413000"/>
                    <a:pt x="2201862" y="2413000"/>
                  </a:cubicBezTo>
                  <a:lnTo>
                    <a:pt x="115888" y="2413000"/>
                  </a:lnTo>
                  <a:cubicBezTo>
                    <a:pt x="51885" y="2413000"/>
                    <a:pt x="0" y="2358983"/>
                    <a:pt x="0" y="2292350"/>
                  </a:cubicBezTo>
                  <a:lnTo>
                    <a:pt x="0" y="120650"/>
                  </a:lnTo>
                  <a:close/>
                </a:path>
              </a:pathLst>
            </a:custGeom>
            <a:solidFill>
              <a:srgbClr val="F5FAFE"/>
            </a:solidFill>
            <a:ln w="12700" cap="flat">
              <a:solidFill>
                <a:srgbClr val="80B6E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5350" y="3020"/>
              <a:ext cx="3650" cy="770"/>
            </a:xfrm>
            <a:custGeom>
              <a:avLst/>
              <a:gdLst>
                <a:gd name="connisteX0" fmla="*/ 0 w 2317750"/>
                <a:gd name="connsiteY0" fmla="*/ 124682 h 488950"/>
                <a:gd name="connisteX1" fmla="*/ 115887 w 2317750"/>
                <a:gd name="connsiteY1" fmla="*/ 0 h 488950"/>
                <a:gd name="connisteX2" fmla="*/ 2201862 w 2317750"/>
                <a:gd name="connsiteY2" fmla="*/ 0 h 488950"/>
                <a:gd name="connisteX3" fmla="*/ 2317750 w 2317750"/>
                <a:gd name="connsiteY3" fmla="*/ 124682 h 488950"/>
                <a:gd name="connisteX4" fmla="*/ 2317750 w 2317750"/>
                <a:gd name="connsiteY4" fmla="*/ 364267 h 488950"/>
                <a:gd name="connisteX5" fmla="*/ 2201862 w 2317750"/>
                <a:gd name="connsiteY5" fmla="*/ 488950 h 488950"/>
                <a:gd name="connisteX6" fmla="*/ 115887 w 2317750"/>
                <a:gd name="connsiteY6" fmla="*/ 488950 h 488950"/>
                <a:gd name="connisteX7" fmla="*/ 0 w 2317750"/>
                <a:gd name="connsiteY7" fmla="*/ 364267 h 488950"/>
                <a:gd name="connisteX8" fmla="*/ 0 w 2317750"/>
                <a:gd name="connsiteY8" fmla="*/ 124682 h 4889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317750" h="488950">
                  <a:moveTo>
                    <a:pt x="0" y="124682"/>
                  </a:moveTo>
                  <a:cubicBezTo>
                    <a:pt x="0" y="55822"/>
                    <a:pt x="51885" y="0"/>
                    <a:pt x="115888" y="0"/>
                  </a:cubicBezTo>
                  <a:lnTo>
                    <a:pt x="2201862" y="0"/>
                  </a:lnTo>
                  <a:cubicBezTo>
                    <a:pt x="2265865" y="0"/>
                    <a:pt x="2317750" y="55822"/>
                    <a:pt x="2317750" y="124682"/>
                  </a:cubicBezTo>
                  <a:lnTo>
                    <a:pt x="2317750" y="364268"/>
                  </a:lnTo>
                  <a:cubicBezTo>
                    <a:pt x="2317750" y="433128"/>
                    <a:pt x="2265865" y="488950"/>
                    <a:pt x="2201862" y="488950"/>
                  </a:cubicBezTo>
                  <a:lnTo>
                    <a:pt x="115888" y="488950"/>
                  </a:lnTo>
                  <a:cubicBezTo>
                    <a:pt x="51885" y="488950"/>
                    <a:pt x="0" y="433128"/>
                    <a:pt x="0" y="364268"/>
                  </a:cubicBezTo>
                  <a:lnTo>
                    <a:pt x="0" y="124682"/>
                  </a:lnTo>
                  <a:close/>
                </a:path>
              </a:pathLst>
            </a:custGeom>
            <a:solidFill>
              <a:srgbClr val="DFEFFC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911" y="3132"/>
              <a:ext cx="2528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竞争性家族鉴定</a:t>
              </a:r>
              <a:endPara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20" y="3777"/>
              <a:ext cx="1824" cy="1258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4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147</a:t>
              </a:r>
              <a:endParaRPr lang="zh-CN" altLang="en-US" sz="4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741" y="5043"/>
              <a:ext cx="2809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获得 GvpA 家族支持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570" y="5473"/>
              <a:ext cx="3184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47 条歧义，806 条排除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420" y="6878"/>
              <a:ext cx="1528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家族支持</a:t>
              </a:r>
              <a:endParaRPr lang="zh-CN" altLang="en-US" sz="15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9130" y="4929"/>
              <a:ext cx="750" cy="0"/>
            </a:xfrm>
            <a:custGeom>
              <a:avLst/>
              <a:gdLst>
                <a:gd name="connisteX0" fmla="*/ 0 w 476250"/>
                <a:gd name="connsiteY0" fmla="*/ 0 h 0"/>
                <a:gd name="connisteX1" fmla="*/ 476250 w 476250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76250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solidFill>
              <a:srgbClr val="000000"/>
            </a:solidFill>
            <a:ln w="31750" cap="flat">
              <a:solidFill>
                <a:srgbClr val="5197D5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9820" y="4779"/>
              <a:ext cx="230" cy="300"/>
            </a:xfrm>
            <a:custGeom>
              <a:avLst/>
              <a:gdLst>
                <a:gd name="connisteX0" fmla="*/ 0 w 146050"/>
                <a:gd name="connsiteY0" fmla="*/ 0 h 190500"/>
                <a:gd name="connisteX1" fmla="*/ 146050 w 146050"/>
                <a:gd name="connsiteY1" fmla="*/ 95250 h 190500"/>
                <a:gd name="connisteX2" fmla="*/ 0 w 146050"/>
                <a:gd name="connsiteY2" fmla="*/ 190500 h 190500"/>
                <a:gd name="connisteX3" fmla="*/ 0 w 146050"/>
                <a:gd name="connsiteY3" fmla="*/ 0 h 1905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6050" h="190500">
                  <a:moveTo>
                    <a:pt x="0" y="0"/>
                  </a:moveTo>
                  <a:lnTo>
                    <a:pt x="146050" y="9525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445250" y="1917700"/>
            <a:ext cx="2984500" cy="2788920"/>
            <a:chOff x="10150" y="3020"/>
            <a:chExt cx="4700" cy="4392"/>
          </a:xfrm>
        </p:grpSpPr>
        <p:sp>
          <p:nvSpPr>
            <p:cNvPr id="33" name="任意多边形 32"/>
            <p:cNvSpPr/>
            <p:nvPr/>
          </p:nvSpPr>
          <p:spPr>
            <a:xfrm>
              <a:off x="10150" y="3020"/>
              <a:ext cx="3650" cy="3800"/>
            </a:xfrm>
            <a:custGeom>
              <a:avLst/>
              <a:gdLst>
                <a:gd name="connisteX0" fmla="*/ 0 w 2317750"/>
                <a:gd name="connsiteY0" fmla="*/ 120650 h 2413000"/>
                <a:gd name="connisteX1" fmla="*/ 115887 w 2317750"/>
                <a:gd name="connsiteY1" fmla="*/ 0 h 2413000"/>
                <a:gd name="connisteX2" fmla="*/ 2201862 w 2317750"/>
                <a:gd name="connsiteY2" fmla="*/ 0 h 2413000"/>
                <a:gd name="connisteX3" fmla="*/ 2317750 w 2317750"/>
                <a:gd name="connsiteY3" fmla="*/ 120650 h 2413000"/>
                <a:gd name="connisteX4" fmla="*/ 2317750 w 2317750"/>
                <a:gd name="connsiteY4" fmla="*/ 2292350 h 2413000"/>
                <a:gd name="connisteX5" fmla="*/ 2201862 w 2317750"/>
                <a:gd name="connsiteY5" fmla="*/ 2413000 h 2413000"/>
                <a:gd name="connisteX6" fmla="*/ 115887 w 2317750"/>
                <a:gd name="connsiteY6" fmla="*/ 2413000 h 2413000"/>
                <a:gd name="connisteX7" fmla="*/ 0 w 2317750"/>
                <a:gd name="connsiteY7" fmla="*/ 2292350 h 2413000"/>
                <a:gd name="connisteX8" fmla="*/ 0 w 2317750"/>
                <a:gd name="connsiteY8" fmla="*/ 120650 h 24130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317750" h="2413000">
                  <a:moveTo>
                    <a:pt x="0" y="120650"/>
                  </a:moveTo>
                  <a:cubicBezTo>
                    <a:pt x="0" y="54017"/>
                    <a:pt x="51885" y="0"/>
                    <a:pt x="115887" y="0"/>
                  </a:cubicBezTo>
                  <a:lnTo>
                    <a:pt x="2201862" y="0"/>
                  </a:lnTo>
                  <a:cubicBezTo>
                    <a:pt x="2265865" y="0"/>
                    <a:pt x="2317750" y="54017"/>
                    <a:pt x="2317750" y="120650"/>
                  </a:cubicBezTo>
                  <a:lnTo>
                    <a:pt x="2317750" y="2292350"/>
                  </a:lnTo>
                  <a:cubicBezTo>
                    <a:pt x="2317750" y="2358983"/>
                    <a:pt x="2265865" y="2413000"/>
                    <a:pt x="2201862" y="2413000"/>
                  </a:cubicBezTo>
                  <a:lnTo>
                    <a:pt x="115887" y="2413000"/>
                  </a:lnTo>
                  <a:cubicBezTo>
                    <a:pt x="51885" y="2413000"/>
                    <a:pt x="0" y="2358983"/>
                    <a:pt x="0" y="2292350"/>
                  </a:cubicBezTo>
                  <a:lnTo>
                    <a:pt x="0" y="120650"/>
                  </a:lnTo>
                  <a:close/>
                </a:path>
              </a:pathLst>
            </a:custGeom>
            <a:solidFill>
              <a:srgbClr val="F5FAFE"/>
            </a:solidFill>
            <a:ln w="12700" cap="flat">
              <a:solidFill>
                <a:srgbClr val="80B6E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4" name="任意多边形 33"/>
            <p:cNvSpPr/>
            <p:nvPr/>
          </p:nvSpPr>
          <p:spPr>
            <a:xfrm>
              <a:off x="10150" y="3020"/>
              <a:ext cx="3650" cy="770"/>
            </a:xfrm>
            <a:custGeom>
              <a:avLst/>
              <a:gdLst>
                <a:gd name="connisteX0" fmla="*/ 0 w 2317750"/>
                <a:gd name="connsiteY0" fmla="*/ 124682 h 488950"/>
                <a:gd name="connisteX1" fmla="*/ 115887 w 2317750"/>
                <a:gd name="connsiteY1" fmla="*/ 0 h 488950"/>
                <a:gd name="connisteX2" fmla="*/ 2201862 w 2317750"/>
                <a:gd name="connsiteY2" fmla="*/ 0 h 488950"/>
                <a:gd name="connisteX3" fmla="*/ 2317750 w 2317750"/>
                <a:gd name="connsiteY3" fmla="*/ 124682 h 488950"/>
                <a:gd name="connisteX4" fmla="*/ 2317750 w 2317750"/>
                <a:gd name="connsiteY4" fmla="*/ 364267 h 488950"/>
                <a:gd name="connisteX5" fmla="*/ 2201862 w 2317750"/>
                <a:gd name="connsiteY5" fmla="*/ 488950 h 488950"/>
                <a:gd name="connisteX6" fmla="*/ 115887 w 2317750"/>
                <a:gd name="connsiteY6" fmla="*/ 488950 h 488950"/>
                <a:gd name="connisteX7" fmla="*/ 0 w 2317750"/>
                <a:gd name="connsiteY7" fmla="*/ 364267 h 488950"/>
                <a:gd name="connisteX8" fmla="*/ 0 w 2317750"/>
                <a:gd name="connsiteY8" fmla="*/ 124682 h 4889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317750" h="488950">
                  <a:moveTo>
                    <a:pt x="0" y="124682"/>
                  </a:moveTo>
                  <a:cubicBezTo>
                    <a:pt x="0" y="55822"/>
                    <a:pt x="51885" y="0"/>
                    <a:pt x="115887" y="0"/>
                  </a:cubicBezTo>
                  <a:lnTo>
                    <a:pt x="2201862" y="0"/>
                  </a:lnTo>
                  <a:cubicBezTo>
                    <a:pt x="2265865" y="0"/>
                    <a:pt x="2317750" y="55822"/>
                    <a:pt x="2317750" y="124682"/>
                  </a:cubicBezTo>
                  <a:lnTo>
                    <a:pt x="2317750" y="364268"/>
                  </a:lnTo>
                  <a:cubicBezTo>
                    <a:pt x="2317750" y="433128"/>
                    <a:pt x="2265865" y="488950"/>
                    <a:pt x="2201862" y="488950"/>
                  </a:cubicBezTo>
                  <a:lnTo>
                    <a:pt x="115887" y="488950"/>
                  </a:lnTo>
                  <a:cubicBezTo>
                    <a:pt x="51885" y="488950"/>
                    <a:pt x="0" y="433128"/>
                    <a:pt x="0" y="364268"/>
                  </a:cubicBezTo>
                  <a:lnTo>
                    <a:pt x="0" y="124682"/>
                  </a:lnTo>
                  <a:close/>
                </a:path>
              </a:pathLst>
            </a:custGeom>
            <a:solidFill>
              <a:srgbClr val="DFEFFC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1038" y="3132"/>
              <a:ext cx="1888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结构域门槛</a:t>
              </a:r>
              <a:endPara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1121" y="3782"/>
              <a:ext cx="1824" cy="1258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4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136</a:t>
              </a:r>
              <a:endParaRPr lang="zh-CN" altLang="en-US" sz="4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0676" y="5018"/>
              <a:ext cx="2562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PF00741 ≥ 25 bits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0671" y="5468"/>
              <a:ext cx="2544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模型覆盖率 ≥ 0.95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0681" y="5908"/>
              <a:ext cx="2617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11 条未通过域门槛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1221" y="6893"/>
              <a:ext cx="1528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联合合格</a:t>
              </a:r>
              <a:endParaRPr lang="zh-CN" altLang="en-US" sz="15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1" name="任意多边形 40"/>
            <p:cNvSpPr/>
            <p:nvPr/>
          </p:nvSpPr>
          <p:spPr>
            <a:xfrm>
              <a:off x="13930" y="4929"/>
              <a:ext cx="750" cy="0"/>
            </a:xfrm>
            <a:custGeom>
              <a:avLst/>
              <a:gdLst>
                <a:gd name="connisteX0" fmla="*/ 0 w 476250"/>
                <a:gd name="connsiteY0" fmla="*/ 0 h 0"/>
                <a:gd name="connisteX1" fmla="*/ 476250 w 476250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76250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solidFill>
              <a:srgbClr val="000000"/>
            </a:solidFill>
            <a:ln w="31750" cap="flat">
              <a:solidFill>
                <a:srgbClr val="5197D5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14620" y="4779"/>
              <a:ext cx="230" cy="300"/>
            </a:xfrm>
            <a:custGeom>
              <a:avLst/>
              <a:gdLst>
                <a:gd name="connisteX0" fmla="*/ 0 w 146050"/>
                <a:gd name="connsiteY0" fmla="*/ 0 h 190500"/>
                <a:gd name="connisteX1" fmla="*/ 146050 w 146050"/>
                <a:gd name="connsiteY1" fmla="*/ 95250 h 190500"/>
                <a:gd name="connisteX2" fmla="*/ 0 w 146050"/>
                <a:gd name="connsiteY2" fmla="*/ 190500 h 190500"/>
                <a:gd name="connisteX3" fmla="*/ 0 w 146050"/>
                <a:gd name="connsiteY3" fmla="*/ 0 h 1905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6050" h="190500">
                  <a:moveTo>
                    <a:pt x="0" y="0"/>
                  </a:moveTo>
                  <a:lnTo>
                    <a:pt x="146050" y="9525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9493250" y="1917700"/>
            <a:ext cx="2317750" cy="2785745"/>
            <a:chOff x="14950" y="3020"/>
            <a:chExt cx="3650" cy="4387"/>
          </a:xfrm>
        </p:grpSpPr>
        <p:sp>
          <p:nvSpPr>
            <p:cNvPr id="44" name="任意多边形 43"/>
            <p:cNvSpPr/>
            <p:nvPr/>
          </p:nvSpPr>
          <p:spPr>
            <a:xfrm>
              <a:off x="14950" y="3020"/>
              <a:ext cx="3650" cy="3800"/>
            </a:xfrm>
            <a:custGeom>
              <a:avLst/>
              <a:gdLst>
                <a:gd name="connisteX0" fmla="*/ 0 w 2317750"/>
                <a:gd name="connsiteY0" fmla="*/ 120650 h 2413000"/>
                <a:gd name="connisteX1" fmla="*/ 115887 w 2317750"/>
                <a:gd name="connsiteY1" fmla="*/ 0 h 2413000"/>
                <a:gd name="connisteX2" fmla="*/ 2201862 w 2317750"/>
                <a:gd name="connsiteY2" fmla="*/ 0 h 2413000"/>
                <a:gd name="connisteX3" fmla="*/ 2317750 w 2317750"/>
                <a:gd name="connsiteY3" fmla="*/ 120650 h 2413000"/>
                <a:gd name="connisteX4" fmla="*/ 2317750 w 2317750"/>
                <a:gd name="connsiteY4" fmla="*/ 2292350 h 2413000"/>
                <a:gd name="connisteX5" fmla="*/ 2201862 w 2317750"/>
                <a:gd name="connsiteY5" fmla="*/ 2413000 h 2413000"/>
                <a:gd name="connisteX6" fmla="*/ 115887 w 2317750"/>
                <a:gd name="connsiteY6" fmla="*/ 2413000 h 2413000"/>
                <a:gd name="connisteX7" fmla="*/ 0 w 2317750"/>
                <a:gd name="connsiteY7" fmla="*/ 2292350 h 2413000"/>
                <a:gd name="connisteX8" fmla="*/ 0 w 2317750"/>
                <a:gd name="connsiteY8" fmla="*/ 120650 h 24130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317750" h="2413000">
                  <a:moveTo>
                    <a:pt x="0" y="120650"/>
                  </a:moveTo>
                  <a:cubicBezTo>
                    <a:pt x="0" y="54017"/>
                    <a:pt x="51885" y="0"/>
                    <a:pt x="115887" y="0"/>
                  </a:cubicBezTo>
                  <a:lnTo>
                    <a:pt x="2201862" y="0"/>
                  </a:lnTo>
                  <a:cubicBezTo>
                    <a:pt x="2265865" y="0"/>
                    <a:pt x="2317750" y="54017"/>
                    <a:pt x="2317750" y="120650"/>
                  </a:cubicBezTo>
                  <a:lnTo>
                    <a:pt x="2317750" y="2292350"/>
                  </a:lnTo>
                  <a:cubicBezTo>
                    <a:pt x="2317750" y="2358983"/>
                    <a:pt x="2265865" y="2413000"/>
                    <a:pt x="2201862" y="2413000"/>
                  </a:cubicBezTo>
                  <a:lnTo>
                    <a:pt x="115887" y="2413000"/>
                  </a:lnTo>
                  <a:cubicBezTo>
                    <a:pt x="51885" y="2413000"/>
                    <a:pt x="0" y="2358983"/>
                    <a:pt x="0" y="2292350"/>
                  </a:cubicBezTo>
                  <a:lnTo>
                    <a:pt x="0" y="120650"/>
                  </a:lnTo>
                  <a:close/>
                </a:path>
              </a:pathLst>
            </a:custGeom>
            <a:solidFill>
              <a:srgbClr val="F5FAFE"/>
            </a:solidFill>
            <a:ln w="12700" cap="flat">
              <a:solidFill>
                <a:srgbClr val="80B6E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>
              <a:off x="14950" y="3020"/>
              <a:ext cx="3650" cy="770"/>
            </a:xfrm>
            <a:custGeom>
              <a:avLst/>
              <a:gdLst>
                <a:gd name="connisteX0" fmla="*/ 0 w 2317750"/>
                <a:gd name="connsiteY0" fmla="*/ 124682 h 488950"/>
                <a:gd name="connisteX1" fmla="*/ 115887 w 2317750"/>
                <a:gd name="connsiteY1" fmla="*/ 0 h 488950"/>
                <a:gd name="connisteX2" fmla="*/ 2201862 w 2317750"/>
                <a:gd name="connsiteY2" fmla="*/ 0 h 488950"/>
                <a:gd name="connisteX3" fmla="*/ 2317750 w 2317750"/>
                <a:gd name="connsiteY3" fmla="*/ 124682 h 488950"/>
                <a:gd name="connisteX4" fmla="*/ 2317750 w 2317750"/>
                <a:gd name="connsiteY4" fmla="*/ 364267 h 488950"/>
                <a:gd name="connisteX5" fmla="*/ 2201862 w 2317750"/>
                <a:gd name="connsiteY5" fmla="*/ 488950 h 488950"/>
                <a:gd name="connisteX6" fmla="*/ 115887 w 2317750"/>
                <a:gd name="connsiteY6" fmla="*/ 488950 h 488950"/>
                <a:gd name="connisteX7" fmla="*/ 0 w 2317750"/>
                <a:gd name="connsiteY7" fmla="*/ 364267 h 488950"/>
                <a:gd name="connisteX8" fmla="*/ 0 w 2317750"/>
                <a:gd name="connsiteY8" fmla="*/ 124682 h 4889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317750" h="488950">
                  <a:moveTo>
                    <a:pt x="0" y="124682"/>
                  </a:moveTo>
                  <a:cubicBezTo>
                    <a:pt x="0" y="55822"/>
                    <a:pt x="51885" y="0"/>
                    <a:pt x="115887" y="0"/>
                  </a:cubicBezTo>
                  <a:lnTo>
                    <a:pt x="2201862" y="0"/>
                  </a:lnTo>
                  <a:cubicBezTo>
                    <a:pt x="2265865" y="0"/>
                    <a:pt x="2317750" y="55822"/>
                    <a:pt x="2317750" y="124682"/>
                  </a:cubicBezTo>
                  <a:lnTo>
                    <a:pt x="2317750" y="364268"/>
                  </a:lnTo>
                  <a:cubicBezTo>
                    <a:pt x="2317750" y="433128"/>
                    <a:pt x="2265865" y="488950"/>
                    <a:pt x="2201862" y="488950"/>
                  </a:cubicBezTo>
                  <a:lnTo>
                    <a:pt x="115887" y="488950"/>
                  </a:lnTo>
                  <a:cubicBezTo>
                    <a:pt x="51885" y="488950"/>
                    <a:pt x="0" y="433128"/>
                    <a:pt x="0" y="364268"/>
                  </a:cubicBezTo>
                  <a:lnTo>
                    <a:pt x="0" y="124682"/>
                  </a:lnTo>
                  <a:close/>
                </a:path>
              </a:pathLst>
            </a:custGeom>
            <a:solidFill>
              <a:srgbClr val="DFEFFC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5701" y="3137"/>
              <a:ext cx="2208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四维评分证据</a:t>
              </a:r>
              <a:endPara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5921" y="3777"/>
              <a:ext cx="1773" cy="1258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4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114</a:t>
              </a:r>
              <a:endParaRPr lang="zh-CN" altLang="en-US" sz="4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331" y="5033"/>
              <a:ext cx="2839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可靠配对比例 ≥ 50%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471" y="5473"/>
              <a:ext cx="263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22 条评分证据不足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5866" y="6888"/>
              <a:ext cx="1838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可比较排名</a:t>
              </a:r>
              <a:endParaRPr lang="zh-CN" altLang="en-US" sz="15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266700" y="4972050"/>
            <a:ext cx="5574665" cy="1466850"/>
            <a:chOff x="420" y="7830"/>
            <a:chExt cx="8779" cy="2310"/>
          </a:xfrm>
        </p:grpSpPr>
        <p:sp>
          <p:nvSpPr>
            <p:cNvPr id="52" name="任意多边形 51"/>
            <p:cNvSpPr/>
            <p:nvPr/>
          </p:nvSpPr>
          <p:spPr>
            <a:xfrm>
              <a:off x="420" y="7830"/>
              <a:ext cx="8779" cy="2310"/>
            </a:xfrm>
            <a:custGeom>
              <a:avLst/>
              <a:gdLst>
                <a:gd name="connisteX0" fmla="*/ 0 w 5575299"/>
                <a:gd name="connsiteY0" fmla="*/ 95345 h 1466850"/>
                <a:gd name="connisteX1" fmla="*/ 83629 w 5575299"/>
                <a:gd name="connsiteY1" fmla="*/ 0 h 1466850"/>
                <a:gd name="connisteX2" fmla="*/ 5491670 w 5575299"/>
                <a:gd name="connsiteY2" fmla="*/ 0 h 1466850"/>
                <a:gd name="connisteX3" fmla="*/ 5575299 w 5575299"/>
                <a:gd name="connsiteY3" fmla="*/ 95345 h 1466850"/>
                <a:gd name="connisteX4" fmla="*/ 5575299 w 5575299"/>
                <a:gd name="connsiteY4" fmla="*/ 1371504 h 1466850"/>
                <a:gd name="connisteX5" fmla="*/ 5491670 w 5575299"/>
                <a:gd name="connsiteY5" fmla="*/ 1466850 h 1466850"/>
                <a:gd name="connisteX6" fmla="*/ 83629 w 5575299"/>
                <a:gd name="connsiteY6" fmla="*/ 1466850 h 1466850"/>
                <a:gd name="connisteX7" fmla="*/ 0 w 5575299"/>
                <a:gd name="connsiteY7" fmla="*/ 1371504 h 1466850"/>
                <a:gd name="connisteX8" fmla="*/ 0 w 5575299"/>
                <a:gd name="connsiteY8" fmla="*/ 95345 h 14668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575300" h="1466850">
                  <a:moveTo>
                    <a:pt x="0" y="95345"/>
                  </a:moveTo>
                  <a:cubicBezTo>
                    <a:pt x="0" y="42688"/>
                    <a:pt x="37442" y="0"/>
                    <a:pt x="83630" y="0"/>
                  </a:cubicBezTo>
                  <a:lnTo>
                    <a:pt x="5491671" y="0"/>
                  </a:lnTo>
                  <a:cubicBezTo>
                    <a:pt x="5537858" y="0"/>
                    <a:pt x="5575300" y="42688"/>
                    <a:pt x="5575300" y="95345"/>
                  </a:cubicBezTo>
                  <a:lnTo>
                    <a:pt x="5575300" y="1371505"/>
                  </a:lnTo>
                  <a:cubicBezTo>
                    <a:pt x="5575300" y="1424162"/>
                    <a:pt x="5537858" y="1466850"/>
                    <a:pt x="5491671" y="1466850"/>
                  </a:cubicBezTo>
                  <a:lnTo>
                    <a:pt x="83630" y="1466850"/>
                  </a:lnTo>
                  <a:cubicBezTo>
                    <a:pt x="37442" y="1466850"/>
                    <a:pt x="0" y="1424162"/>
                    <a:pt x="0" y="1371505"/>
                  </a:cubicBezTo>
                  <a:lnTo>
                    <a:pt x="0" y="95345"/>
                  </a:lnTo>
                  <a:close/>
                </a:path>
              </a:pathLst>
            </a:custGeom>
            <a:solidFill>
              <a:srgbClr val="EDF6FE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86" y="7948"/>
              <a:ext cx="3777" cy="616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9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346 条暂定天然参考</a:t>
              </a:r>
              <a:endParaRPr lang="zh-CN" altLang="en-US" sz="19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56" y="8633"/>
              <a:ext cx="608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支撑家族判断、结构域校准和序列距离计算。</a:t>
              </a:r>
              <a:endParaRPr lang="zh-CN" altLang="en-US" sz="14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76" y="9147"/>
              <a:ext cx="5412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固定参考比对定义 23 个统计保守位点。</a:t>
              </a:r>
              <a:endParaRPr lang="zh-CN" altLang="en-US" sz="14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6083300" y="4972050"/>
            <a:ext cx="5842000" cy="1466850"/>
            <a:chOff x="9580" y="7830"/>
            <a:chExt cx="9200" cy="2310"/>
          </a:xfrm>
        </p:grpSpPr>
        <p:sp>
          <p:nvSpPr>
            <p:cNvPr id="57" name="任意多边形 56"/>
            <p:cNvSpPr/>
            <p:nvPr/>
          </p:nvSpPr>
          <p:spPr>
            <a:xfrm>
              <a:off x="9580" y="7830"/>
              <a:ext cx="9200" cy="2310"/>
            </a:xfrm>
            <a:custGeom>
              <a:avLst/>
              <a:gdLst>
                <a:gd name="connisteX0" fmla="*/ 0 w 5842000"/>
                <a:gd name="connsiteY0" fmla="*/ 95345 h 1466850"/>
                <a:gd name="connisteX1" fmla="*/ 87629 w 5842000"/>
                <a:gd name="connsiteY1" fmla="*/ 0 h 1466850"/>
                <a:gd name="connisteX2" fmla="*/ 5754370 w 5842000"/>
                <a:gd name="connsiteY2" fmla="*/ 0 h 1466850"/>
                <a:gd name="connisteX3" fmla="*/ 5842000 w 5842000"/>
                <a:gd name="connsiteY3" fmla="*/ 95345 h 1466850"/>
                <a:gd name="connisteX4" fmla="*/ 5842000 w 5842000"/>
                <a:gd name="connsiteY4" fmla="*/ 1371504 h 1466850"/>
                <a:gd name="connisteX5" fmla="*/ 5754370 w 5842000"/>
                <a:gd name="connsiteY5" fmla="*/ 1466850 h 1466850"/>
                <a:gd name="connisteX6" fmla="*/ 87629 w 5842000"/>
                <a:gd name="connsiteY6" fmla="*/ 1466850 h 1466850"/>
                <a:gd name="connisteX7" fmla="*/ 0 w 5842000"/>
                <a:gd name="connsiteY7" fmla="*/ 1371504 h 1466850"/>
                <a:gd name="connisteX8" fmla="*/ 0 w 5842000"/>
                <a:gd name="connsiteY8" fmla="*/ 95345 h 14668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842000" h="1466850">
                  <a:moveTo>
                    <a:pt x="0" y="95345"/>
                  </a:moveTo>
                  <a:cubicBezTo>
                    <a:pt x="0" y="42688"/>
                    <a:pt x="39233" y="0"/>
                    <a:pt x="87630" y="0"/>
                  </a:cubicBezTo>
                  <a:lnTo>
                    <a:pt x="5754370" y="0"/>
                  </a:lnTo>
                  <a:cubicBezTo>
                    <a:pt x="5802767" y="0"/>
                    <a:pt x="5842000" y="42688"/>
                    <a:pt x="5842000" y="95345"/>
                  </a:cubicBezTo>
                  <a:lnTo>
                    <a:pt x="5842000" y="1371505"/>
                  </a:lnTo>
                  <a:cubicBezTo>
                    <a:pt x="5842000" y="1424162"/>
                    <a:pt x="5802767" y="1466850"/>
                    <a:pt x="5754370" y="1466850"/>
                  </a:cubicBezTo>
                  <a:lnTo>
                    <a:pt x="87630" y="1466850"/>
                  </a:lnTo>
                  <a:cubicBezTo>
                    <a:pt x="39233" y="1466850"/>
                    <a:pt x="0" y="1424162"/>
                    <a:pt x="0" y="1371505"/>
                  </a:cubicBezTo>
                  <a:lnTo>
                    <a:pt x="0" y="95345"/>
                  </a:lnTo>
                  <a:close/>
                </a:path>
              </a:pathLst>
            </a:custGeom>
            <a:solidFill>
              <a:srgbClr val="EDF6FE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9826" y="7983"/>
              <a:ext cx="5098" cy="592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8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全量保留每条候选的筛选依据</a:t>
              </a:r>
              <a:endParaRPr lang="zh-CN" altLang="en-US" sz="18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9826" y="8637"/>
              <a:ext cx="6395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原始 1,000 条候选均保留逐条证据与筛选原因。</a:t>
              </a:r>
              <a:endParaRPr lang="zh-CN" altLang="en-US" sz="14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823" y="9143"/>
              <a:ext cx="637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结合家族与结构域证据后，进入统一四维评价。</a:t>
              </a:r>
              <a:endParaRPr lang="zh-CN" altLang="en-US" sz="14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isteX0" fmla="*/ 0 w 12192000"/>
              <a:gd name="connsiteY0" fmla="*/ 0 h 6858000"/>
              <a:gd name="connisteX1" fmla="*/ 12192000 w 12192000"/>
              <a:gd name="connsiteY1" fmla="*/ 0 h 6858000"/>
              <a:gd name="connisteX2" fmla="*/ 12192000 w 12192000"/>
              <a:gd name="connsiteY2" fmla="*/ 6858000 h 6858000"/>
              <a:gd name="connisteX3" fmla="*/ 0 w 12192000"/>
              <a:gd name="connsiteY3" fmla="*/ 6858000 h 6858000"/>
              <a:gd name="connisteX4" fmla="*/ 0 w 12192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60350" y="76200"/>
            <a:ext cx="11506200" cy="716915"/>
            <a:chOff x="410" y="120"/>
            <a:chExt cx="18120" cy="1129"/>
          </a:xfrm>
        </p:grpSpPr>
        <p:grpSp>
          <p:nvGrpSpPr>
            <p:cNvPr id="6" name="组合 5"/>
            <p:cNvGrpSpPr/>
            <p:nvPr/>
          </p:nvGrpSpPr>
          <p:grpSpPr>
            <a:xfrm>
              <a:off x="410" y="170"/>
              <a:ext cx="990" cy="990"/>
              <a:chOff x="410" y="170"/>
              <a:chExt cx="990" cy="990"/>
            </a:xfrm>
          </p:grpSpPr>
          <p:sp>
            <p:nvSpPr>
              <p:cNvPr id="4" name="任意多边形 3"/>
              <p:cNvSpPr/>
              <p:nvPr/>
            </p:nvSpPr>
            <p:spPr>
              <a:xfrm>
                <a:off x="410" y="170"/>
                <a:ext cx="900" cy="900"/>
              </a:xfrm>
              <a:custGeom>
                <a:avLst/>
                <a:gdLst>
                  <a:gd name="connisteX0" fmla="*/ 133349 w 571500"/>
                  <a:gd name="connsiteY0" fmla="*/ 0 h 571500"/>
                  <a:gd name="connisteX1" fmla="*/ 571500 w 571500"/>
                  <a:gd name="connsiteY1" fmla="*/ 0 h 571500"/>
                  <a:gd name="connisteX2" fmla="*/ 444500 w 571500"/>
                  <a:gd name="connsiteY2" fmla="*/ 571500 h 571500"/>
                  <a:gd name="connisteX3" fmla="*/ 0 w 571500"/>
                  <a:gd name="connsiteY3" fmla="*/ 571500 h 571500"/>
                  <a:gd name="connisteX4" fmla="*/ 133349 w 571500"/>
                  <a:gd name="connsiteY4" fmla="*/ 0 h 5715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571500" h="571500">
                    <a:moveTo>
                      <a:pt x="133350" y="0"/>
                    </a:moveTo>
                    <a:lnTo>
                      <a:pt x="571500" y="0"/>
                    </a:lnTo>
                    <a:lnTo>
                      <a:pt x="444500" y="571500"/>
                    </a:lnTo>
                    <a:lnTo>
                      <a:pt x="0" y="571500"/>
                    </a:lnTo>
                    <a:lnTo>
                      <a:pt x="133350" y="0"/>
                    </a:lnTo>
                    <a:close/>
                  </a:path>
                </a:pathLst>
              </a:custGeom>
              <a:solidFill>
                <a:srgbClr val="0A5798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510" y="270"/>
                <a:ext cx="890" cy="890"/>
              </a:xfrm>
              <a:custGeom>
                <a:avLst/>
                <a:gdLst>
                  <a:gd name="connisteX0" fmla="*/ 520699 w 565150"/>
                  <a:gd name="connsiteY0" fmla="*/ 0 h 565150"/>
                  <a:gd name="connisteX1" fmla="*/ 565150 w 565150"/>
                  <a:gd name="connsiteY1" fmla="*/ 0 h 565150"/>
                  <a:gd name="connisteX2" fmla="*/ 450850 w 565150"/>
                  <a:gd name="connsiteY2" fmla="*/ 565150 h 565150"/>
                  <a:gd name="connisteX3" fmla="*/ 0 w 565150"/>
                  <a:gd name="connsiteY3" fmla="*/ 565150 h 5651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565150" h="565150">
                    <a:moveTo>
                      <a:pt x="520700" y="0"/>
                    </a:moveTo>
                    <a:lnTo>
                      <a:pt x="565150" y="0"/>
                    </a:lnTo>
                    <a:lnTo>
                      <a:pt x="450850" y="565150"/>
                    </a:lnTo>
                    <a:lnTo>
                      <a:pt x="0" y="565150"/>
                    </a:lnTo>
                  </a:path>
                </a:pathLst>
              </a:custGeom>
              <a:noFill/>
              <a:ln w="19050" cap="flat">
                <a:solidFill>
                  <a:srgbClr val="00549A"/>
                </a:solidFill>
                <a:custDash/>
                <a:miter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1666" y="403"/>
              <a:ext cx="3768" cy="846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9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四维评价指标</a:t>
              </a:r>
              <a:endParaRPr lang="zh-CN" altLang="en-US" sz="2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890" y="120"/>
              <a:ext cx="3640" cy="105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grpSp>
        <p:nvGrpSpPr>
          <p:cNvPr id="13" name="组合 12"/>
          <p:cNvGrpSpPr/>
          <p:nvPr/>
        </p:nvGrpSpPr>
        <p:grpSpPr>
          <a:xfrm>
            <a:off x="266700" y="1060450"/>
            <a:ext cx="11658600" cy="520700"/>
            <a:chOff x="420" y="1670"/>
            <a:chExt cx="18360" cy="820"/>
          </a:xfrm>
        </p:grpSpPr>
        <p:sp>
          <p:nvSpPr>
            <p:cNvPr id="10" name="任意多边形 9"/>
            <p:cNvSpPr/>
            <p:nvPr/>
          </p:nvSpPr>
          <p:spPr>
            <a:xfrm>
              <a:off x="420" y="1670"/>
              <a:ext cx="18360" cy="820"/>
            </a:xfrm>
            <a:custGeom>
              <a:avLst/>
              <a:gdLst>
                <a:gd name="connisteX0" fmla="*/ 0 w 11658600"/>
                <a:gd name="connsiteY0" fmla="*/ 101536 h 520700"/>
                <a:gd name="connisteX1" fmla="*/ 58292 w 11658600"/>
                <a:gd name="connsiteY1" fmla="*/ 0 h 520700"/>
                <a:gd name="connisteX2" fmla="*/ 11600307 w 11658600"/>
                <a:gd name="connsiteY2" fmla="*/ 0 h 520700"/>
                <a:gd name="connisteX3" fmla="*/ 11658600 w 11658600"/>
                <a:gd name="connsiteY3" fmla="*/ 101536 h 520700"/>
                <a:gd name="connisteX4" fmla="*/ 11658600 w 11658600"/>
                <a:gd name="connsiteY4" fmla="*/ 419163 h 520700"/>
                <a:gd name="connisteX5" fmla="*/ 11600307 w 11658600"/>
                <a:gd name="connsiteY5" fmla="*/ 520700 h 520700"/>
                <a:gd name="connisteX6" fmla="*/ 58292 w 11658600"/>
                <a:gd name="connsiteY6" fmla="*/ 520700 h 520700"/>
                <a:gd name="connisteX7" fmla="*/ 0 w 11658600"/>
                <a:gd name="connsiteY7" fmla="*/ 419163 h 520700"/>
                <a:gd name="connisteX8" fmla="*/ 0 w 11658600"/>
                <a:gd name="connsiteY8" fmla="*/ 101536 h 5207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1658600" h="520700">
                  <a:moveTo>
                    <a:pt x="0" y="101537"/>
                  </a:moveTo>
                  <a:cubicBezTo>
                    <a:pt x="0" y="45459"/>
                    <a:pt x="26099" y="0"/>
                    <a:pt x="58293" y="0"/>
                  </a:cubicBezTo>
                  <a:lnTo>
                    <a:pt x="11600307" y="0"/>
                  </a:lnTo>
                  <a:cubicBezTo>
                    <a:pt x="11632501" y="0"/>
                    <a:pt x="11658600" y="45459"/>
                    <a:pt x="11658600" y="101537"/>
                  </a:cubicBezTo>
                  <a:lnTo>
                    <a:pt x="11658600" y="419164"/>
                  </a:lnTo>
                  <a:cubicBezTo>
                    <a:pt x="11658600" y="475241"/>
                    <a:pt x="11632501" y="520700"/>
                    <a:pt x="11600307" y="520700"/>
                  </a:cubicBezTo>
                  <a:lnTo>
                    <a:pt x="58293" y="520700"/>
                  </a:lnTo>
                  <a:cubicBezTo>
                    <a:pt x="26099" y="520700"/>
                    <a:pt x="0" y="475241"/>
                    <a:pt x="0" y="419164"/>
                  </a:cubicBezTo>
                  <a:lnTo>
                    <a:pt x="0" y="101537"/>
                  </a:lnTo>
                  <a:close/>
                </a:path>
              </a:pathLst>
            </a:custGeom>
            <a:solidFill>
              <a:srgbClr val="EDF6FE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420" y="1670"/>
              <a:ext cx="160" cy="819"/>
            </a:xfrm>
            <a:custGeom>
              <a:avLst/>
              <a:gdLst>
                <a:gd name="connisteX0" fmla="*/ 0 w 101599"/>
                <a:gd name="connsiteY0" fmla="*/ 49466 h 520699"/>
                <a:gd name="connisteX1" fmla="*/ 50799 w 101599"/>
                <a:gd name="connsiteY1" fmla="*/ 0 h 520699"/>
                <a:gd name="connisteX2" fmla="*/ 101599 w 101599"/>
                <a:gd name="connsiteY2" fmla="*/ 49466 h 520699"/>
                <a:gd name="connisteX3" fmla="*/ 101599 w 101599"/>
                <a:gd name="connsiteY3" fmla="*/ 471233 h 520699"/>
                <a:gd name="connisteX4" fmla="*/ 50799 w 101599"/>
                <a:gd name="connsiteY4" fmla="*/ 520699 h 520699"/>
                <a:gd name="connisteX5" fmla="*/ 0 w 101599"/>
                <a:gd name="connsiteY5" fmla="*/ 471233 h 520699"/>
                <a:gd name="connisteX6" fmla="*/ 0 w 101599"/>
                <a:gd name="connsiteY6" fmla="*/ 49466 h 5206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rect l="l" t="t" r="r" b="b"/>
              <a:pathLst>
                <a:path w="101600" h="520700">
                  <a:moveTo>
                    <a:pt x="0" y="49466"/>
                  </a:moveTo>
                  <a:cubicBezTo>
                    <a:pt x="0" y="22147"/>
                    <a:pt x="22744" y="0"/>
                    <a:pt x="50800" y="0"/>
                  </a:cubicBezTo>
                  <a:cubicBezTo>
                    <a:pt x="78856" y="0"/>
                    <a:pt x="101600" y="22147"/>
                    <a:pt x="101600" y="49466"/>
                  </a:cubicBezTo>
                  <a:lnTo>
                    <a:pt x="101600" y="471233"/>
                  </a:lnTo>
                  <a:cubicBezTo>
                    <a:pt x="101600" y="498553"/>
                    <a:pt x="78856" y="520700"/>
                    <a:pt x="50800" y="520700"/>
                  </a:cubicBezTo>
                  <a:cubicBezTo>
                    <a:pt x="22744" y="520700"/>
                    <a:pt x="0" y="498553"/>
                    <a:pt x="0" y="471233"/>
                  </a:cubicBezTo>
                  <a:lnTo>
                    <a:pt x="0" y="49466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15" y="1748"/>
              <a:ext cx="8420" cy="628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0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四维分数均在 [0,1]；越大越符合对应评价目标</a:t>
              </a:r>
              <a:endParaRPr lang="zh-CN" altLang="en-US" sz="20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66700" y="1809750"/>
            <a:ext cx="5574665" cy="1605915"/>
            <a:chOff x="420" y="2850"/>
            <a:chExt cx="8779" cy="2529"/>
          </a:xfrm>
        </p:grpSpPr>
        <p:sp>
          <p:nvSpPr>
            <p:cNvPr id="14" name="任意多边形 13"/>
            <p:cNvSpPr/>
            <p:nvPr/>
          </p:nvSpPr>
          <p:spPr>
            <a:xfrm>
              <a:off x="420" y="2850"/>
              <a:ext cx="8779" cy="2529"/>
            </a:xfrm>
            <a:custGeom>
              <a:avLst/>
              <a:gdLst>
                <a:gd name="connisteX0" fmla="*/ 0 w 5575299"/>
                <a:gd name="connsiteY0" fmla="*/ 96393 h 1606549"/>
                <a:gd name="connisteX1" fmla="*/ 83629 w 5575299"/>
                <a:gd name="connsiteY1" fmla="*/ 0 h 1606549"/>
                <a:gd name="connisteX2" fmla="*/ 5491670 w 5575299"/>
                <a:gd name="connsiteY2" fmla="*/ 0 h 1606549"/>
                <a:gd name="connisteX3" fmla="*/ 5575299 w 5575299"/>
                <a:gd name="connsiteY3" fmla="*/ 96393 h 1606549"/>
                <a:gd name="connisteX4" fmla="*/ 5575299 w 5575299"/>
                <a:gd name="connsiteY4" fmla="*/ 1510156 h 1606549"/>
                <a:gd name="connisteX5" fmla="*/ 5491670 w 5575299"/>
                <a:gd name="connsiteY5" fmla="*/ 1606549 h 1606549"/>
                <a:gd name="connisteX6" fmla="*/ 83629 w 5575299"/>
                <a:gd name="connsiteY6" fmla="*/ 1606549 h 1606549"/>
                <a:gd name="connisteX7" fmla="*/ 0 w 5575299"/>
                <a:gd name="connsiteY7" fmla="*/ 1510156 h 1606549"/>
                <a:gd name="connisteX8" fmla="*/ 0 w 5575299"/>
                <a:gd name="connsiteY8" fmla="*/ 96393 h 16065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575300" h="1606550">
                  <a:moveTo>
                    <a:pt x="0" y="96393"/>
                  </a:moveTo>
                  <a:cubicBezTo>
                    <a:pt x="0" y="43157"/>
                    <a:pt x="37442" y="0"/>
                    <a:pt x="83630" y="0"/>
                  </a:cubicBezTo>
                  <a:lnTo>
                    <a:pt x="5491671" y="0"/>
                  </a:lnTo>
                  <a:cubicBezTo>
                    <a:pt x="5537858" y="0"/>
                    <a:pt x="5575300" y="43157"/>
                    <a:pt x="5575300" y="96393"/>
                  </a:cubicBezTo>
                  <a:lnTo>
                    <a:pt x="5575300" y="1510157"/>
                  </a:lnTo>
                  <a:cubicBezTo>
                    <a:pt x="5575300" y="1563393"/>
                    <a:pt x="5537858" y="1606550"/>
                    <a:pt x="5491671" y="1606550"/>
                  </a:cubicBezTo>
                  <a:lnTo>
                    <a:pt x="83630" y="1606550"/>
                  </a:lnTo>
                  <a:cubicBezTo>
                    <a:pt x="37442" y="1606550"/>
                    <a:pt x="0" y="1563393"/>
                    <a:pt x="0" y="1510157"/>
                  </a:cubicBezTo>
                  <a:lnTo>
                    <a:pt x="0" y="96393"/>
                  </a:lnTo>
                  <a:close/>
                </a:path>
              </a:pathLst>
            </a:custGeom>
            <a:solidFill>
              <a:srgbClr val="F6FAFE"/>
            </a:solidFill>
            <a:ln w="12700" cap="flat">
              <a:solidFill>
                <a:srgbClr val="80B6E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630" y="3040"/>
              <a:ext cx="540" cy="540"/>
            </a:xfrm>
            <a:custGeom>
              <a:avLst/>
              <a:gdLst>
                <a:gd name="connisteX0" fmla="*/ 342900 w 342900"/>
                <a:gd name="connsiteY0" fmla="*/ 171450 h 342900"/>
                <a:gd name="connisteX1" fmla="*/ 171450 w 342900"/>
                <a:gd name="connsiteY1" fmla="*/ 342900 h 342900"/>
                <a:gd name="connisteX2" fmla="*/ 0 w 342900"/>
                <a:gd name="connsiteY2" fmla="*/ 171450 h 342900"/>
                <a:gd name="connisteX3" fmla="*/ 171450 w 342900"/>
                <a:gd name="connsiteY3" fmla="*/ 0 h 342900"/>
                <a:gd name="connisteX4" fmla="*/ 342900 w 342900"/>
                <a:gd name="connsiteY4" fmla="*/ 171450 h 3429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42900" h="342900">
                  <a:moveTo>
                    <a:pt x="342900" y="171450"/>
                  </a:moveTo>
                  <a:cubicBezTo>
                    <a:pt x="342900" y="266139"/>
                    <a:pt x="266139" y="342900"/>
                    <a:pt x="171450" y="342900"/>
                  </a:cubicBezTo>
                  <a:cubicBezTo>
                    <a:pt x="76761" y="342900"/>
                    <a:pt x="0" y="266139"/>
                    <a:pt x="0" y="171450"/>
                  </a:cubicBezTo>
                  <a:cubicBezTo>
                    <a:pt x="0" y="76761"/>
                    <a:pt x="76761" y="0"/>
                    <a:pt x="171450" y="0"/>
                  </a:cubicBezTo>
                  <a:cubicBezTo>
                    <a:pt x="266139" y="0"/>
                    <a:pt x="342900" y="76761"/>
                    <a:pt x="342900" y="171450"/>
                  </a:cubicBez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71" y="3017"/>
              <a:ext cx="519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C</a:t>
              </a:r>
              <a:endParaRPr lang="zh-CN" altLang="en-US" sz="1600" b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156" y="2972"/>
              <a:ext cx="2188" cy="60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9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约束满足度</a:t>
              </a:r>
              <a:endParaRPr lang="zh-CN" altLang="en-US" sz="1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46" y="3572"/>
              <a:ext cx="5350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PF00741 域分数转换为参考经验分位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26" y="4027"/>
              <a:ext cx="3078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并按模型覆盖率修正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660" y="4710"/>
              <a:ext cx="8299" cy="490"/>
            </a:xfrm>
            <a:custGeom>
              <a:avLst/>
              <a:gdLst>
                <a:gd name="connisteX0" fmla="*/ 0 w 5270499"/>
                <a:gd name="connsiteY0" fmla="*/ 49783 h 311149"/>
                <a:gd name="connisteX1" fmla="*/ 26352 w 5270499"/>
                <a:gd name="connsiteY1" fmla="*/ 0 h 311149"/>
                <a:gd name="connisteX2" fmla="*/ 5244147 w 5270499"/>
                <a:gd name="connsiteY2" fmla="*/ 0 h 311149"/>
                <a:gd name="connisteX3" fmla="*/ 5270499 w 5270499"/>
                <a:gd name="connsiteY3" fmla="*/ 49783 h 311149"/>
                <a:gd name="connisteX4" fmla="*/ 5270499 w 5270499"/>
                <a:gd name="connsiteY4" fmla="*/ 261365 h 311149"/>
                <a:gd name="connisteX5" fmla="*/ 5244147 w 5270499"/>
                <a:gd name="connsiteY5" fmla="*/ 311149 h 311149"/>
                <a:gd name="connisteX6" fmla="*/ 26352 w 5270499"/>
                <a:gd name="connsiteY6" fmla="*/ 311149 h 311149"/>
                <a:gd name="connisteX7" fmla="*/ 0 w 5270499"/>
                <a:gd name="connsiteY7" fmla="*/ 261365 h 311149"/>
                <a:gd name="connisteX8" fmla="*/ 0 w 5270499"/>
                <a:gd name="connsiteY8" fmla="*/ 49783 h 3111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270500" h="311150">
                  <a:moveTo>
                    <a:pt x="0" y="49784"/>
                  </a:moveTo>
                  <a:cubicBezTo>
                    <a:pt x="0" y="22289"/>
                    <a:pt x="11798" y="0"/>
                    <a:pt x="26352" y="0"/>
                  </a:cubicBezTo>
                  <a:lnTo>
                    <a:pt x="5244148" y="0"/>
                  </a:lnTo>
                  <a:cubicBezTo>
                    <a:pt x="5258702" y="0"/>
                    <a:pt x="5270500" y="22289"/>
                    <a:pt x="5270500" y="49784"/>
                  </a:cubicBezTo>
                  <a:lnTo>
                    <a:pt x="5270500" y="261366"/>
                  </a:lnTo>
                  <a:cubicBezTo>
                    <a:pt x="5270500" y="288861"/>
                    <a:pt x="5258702" y="311150"/>
                    <a:pt x="5244148" y="311150"/>
                  </a:cubicBezTo>
                  <a:lnTo>
                    <a:pt x="26352" y="311150"/>
                  </a:lnTo>
                  <a:cubicBezTo>
                    <a:pt x="11798" y="311150"/>
                    <a:pt x="0" y="288861"/>
                    <a:pt x="0" y="261366"/>
                  </a:cubicBezTo>
                  <a:lnTo>
                    <a:pt x="0" y="49784"/>
                  </a:lnTo>
                  <a:close/>
                </a:path>
              </a:pathLst>
            </a:custGeom>
            <a:solidFill>
              <a:srgbClr val="E2F0FC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196" y="4698"/>
              <a:ext cx="5081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C = 参考分位 × min(1, 覆盖率 / 0.95)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350000" y="1809750"/>
            <a:ext cx="5575300" cy="1605915"/>
            <a:chOff x="10000" y="2850"/>
            <a:chExt cx="8780" cy="2529"/>
          </a:xfrm>
        </p:grpSpPr>
        <p:sp>
          <p:nvSpPr>
            <p:cNvPr id="23" name="任意多边形 22"/>
            <p:cNvSpPr/>
            <p:nvPr/>
          </p:nvSpPr>
          <p:spPr>
            <a:xfrm>
              <a:off x="10000" y="2850"/>
              <a:ext cx="8780" cy="2529"/>
            </a:xfrm>
            <a:custGeom>
              <a:avLst/>
              <a:gdLst>
                <a:gd name="connisteX0" fmla="*/ 0 w 5575300"/>
                <a:gd name="connsiteY0" fmla="*/ 96393 h 1606549"/>
                <a:gd name="connisteX1" fmla="*/ 83629 w 5575300"/>
                <a:gd name="connsiteY1" fmla="*/ 0 h 1606549"/>
                <a:gd name="connisteX2" fmla="*/ 5491670 w 5575300"/>
                <a:gd name="connsiteY2" fmla="*/ 0 h 1606549"/>
                <a:gd name="connisteX3" fmla="*/ 5575300 w 5575300"/>
                <a:gd name="connsiteY3" fmla="*/ 96393 h 1606549"/>
                <a:gd name="connisteX4" fmla="*/ 5575300 w 5575300"/>
                <a:gd name="connsiteY4" fmla="*/ 1510156 h 1606549"/>
                <a:gd name="connisteX5" fmla="*/ 5491670 w 5575300"/>
                <a:gd name="connsiteY5" fmla="*/ 1606549 h 1606549"/>
                <a:gd name="connisteX6" fmla="*/ 83629 w 5575300"/>
                <a:gd name="connsiteY6" fmla="*/ 1606549 h 1606549"/>
                <a:gd name="connisteX7" fmla="*/ 0 w 5575300"/>
                <a:gd name="connsiteY7" fmla="*/ 1510156 h 1606549"/>
                <a:gd name="connisteX8" fmla="*/ 0 w 5575300"/>
                <a:gd name="connsiteY8" fmla="*/ 96393 h 16065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575300" h="1606550">
                  <a:moveTo>
                    <a:pt x="0" y="96393"/>
                  </a:moveTo>
                  <a:cubicBezTo>
                    <a:pt x="0" y="43157"/>
                    <a:pt x="37442" y="0"/>
                    <a:pt x="83629" y="0"/>
                  </a:cubicBezTo>
                  <a:lnTo>
                    <a:pt x="5491671" y="0"/>
                  </a:lnTo>
                  <a:cubicBezTo>
                    <a:pt x="5537858" y="0"/>
                    <a:pt x="5575300" y="43157"/>
                    <a:pt x="5575300" y="96393"/>
                  </a:cubicBezTo>
                  <a:lnTo>
                    <a:pt x="5575300" y="1510157"/>
                  </a:lnTo>
                  <a:cubicBezTo>
                    <a:pt x="5575300" y="1563393"/>
                    <a:pt x="5537858" y="1606550"/>
                    <a:pt x="5491671" y="1606550"/>
                  </a:cubicBezTo>
                  <a:lnTo>
                    <a:pt x="83629" y="1606550"/>
                  </a:lnTo>
                  <a:cubicBezTo>
                    <a:pt x="37442" y="1606550"/>
                    <a:pt x="0" y="1563393"/>
                    <a:pt x="0" y="1510157"/>
                  </a:cubicBezTo>
                  <a:lnTo>
                    <a:pt x="0" y="96393"/>
                  </a:lnTo>
                  <a:close/>
                </a:path>
              </a:pathLst>
            </a:custGeom>
            <a:solidFill>
              <a:srgbClr val="F6FAFE"/>
            </a:solidFill>
            <a:ln w="12700" cap="flat">
              <a:solidFill>
                <a:srgbClr val="80B6E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0210" y="3040"/>
              <a:ext cx="540" cy="540"/>
            </a:xfrm>
            <a:custGeom>
              <a:avLst/>
              <a:gdLst>
                <a:gd name="connisteX0" fmla="*/ 342900 w 342900"/>
                <a:gd name="connsiteY0" fmla="*/ 171450 h 342900"/>
                <a:gd name="connisteX1" fmla="*/ 171450 w 342900"/>
                <a:gd name="connsiteY1" fmla="*/ 342900 h 342900"/>
                <a:gd name="connisteX2" fmla="*/ 0 w 342900"/>
                <a:gd name="connsiteY2" fmla="*/ 171450 h 342900"/>
                <a:gd name="connisteX3" fmla="*/ 171450 w 342900"/>
                <a:gd name="connsiteY3" fmla="*/ 0 h 342900"/>
                <a:gd name="connisteX4" fmla="*/ 342900 w 342900"/>
                <a:gd name="connsiteY4" fmla="*/ 171450 h 3429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42900" h="342900">
                  <a:moveTo>
                    <a:pt x="342900" y="171450"/>
                  </a:moveTo>
                  <a:cubicBezTo>
                    <a:pt x="342900" y="266139"/>
                    <a:pt x="266139" y="342900"/>
                    <a:pt x="171450" y="342900"/>
                  </a:cubicBezTo>
                  <a:cubicBezTo>
                    <a:pt x="76761" y="342900"/>
                    <a:pt x="0" y="266139"/>
                    <a:pt x="0" y="171450"/>
                  </a:cubicBezTo>
                  <a:cubicBezTo>
                    <a:pt x="0" y="76761"/>
                    <a:pt x="76761" y="0"/>
                    <a:pt x="171450" y="0"/>
                  </a:cubicBezTo>
                  <a:cubicBezTo>
                    <a:pt x="266139" y="0"/>
                    <a:pt x="342900" y="76761"/>
                    <a:pt x="342900" y="171450"/>
                  </a:cubicBez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266" y="3017"/>
              <a:ext cx="501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S</a:t>
              </a:r>
              <a:endParaRPr lang="zh-CN" altLang="en-US" sz="1600" b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0746" y="2972"/>
              <a:ext cx="1428" cy="60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9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保守性</a:t>
              </a:r>
              <a:endParaRPr lang="zh-CN" altLang="en-US" sz="1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216" y="3568"/>
              <a:ext cx="4834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固定参考比对确定 23 个保守位点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0196" y="4027"/>
              <a:ext cx="3698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候选不参与保守位点定义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10240" y="4710"/>
              <a:ext cx="8300" cy="490"/>
            </a:xfrm>
            <a:custGeom>
              <a:avLst/>
              <a:gdLst>
                <a:gd name="connisteX0" fmla="*/ 0 w 5270500"/>
                <a:gd name="connsiteY0" fmla="*/ 49783 h 311149"/>
                <a:gd name="connisteX1" fmla="*/ 26352 w 5270500"/>
                <a:gd name="connsiteY1" fmla="*/ 0 h 311149"/>
                <a:gd name="connisteX2" fmla="*/ 5244147 w 5270500"/>
                <a:gd name="connsiteY2" fmla="*/ 0 h 311149"/>
                <a:gd name="connisteX3" fmla="*/ 5270500 w 5270500"/>
                <a:gd name="connsiteY3" fmla="*/ 49783 h 311149"/>
                <a:gd name="connisteX4" fmla="*/ 5270500 w 5270500"/>
                <a:gd name="connsiteY4" fmla="*/ 261365 h 311149"/>
                <a:gd name="connisteX5" fmla="*/ 5244147 w 5270500"/>
                <a:gd name="connsiteY5" fmla="*/ 311149 h 311149"/>
                <a:gd name="connisteX6" fmla="*/ 26352 w 5270500"/>
                <a:gd name="connsiteY6" fmla="*/ 311149 h 311149"/>
                <a:gd name="connisteX7" fmla="*/ 0 w 5270500"/>
                <a:gd name="connsiteY7" fmla="*/ 261365 h 311149"/>
                <a:gd name="connisteX8" fmla="*/ 0 w 5270500"/>
                <a:gd name="connsiteY8" fmla="*/ 49783 h 3111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270500" h="311150">
                  <a:moveTo>
                    <a:pt x="0" y="49784"/>
                  </a:moveTo>
                  <a:cubicBezTo>
                    <a:pt x="0" y="22289"/>
                    <a:pt x="11798" y="0"/>
                    <a:pt x="26353" y="0"/>
                  </a:cubicBezTo>
                  <a:lnTo>
                    <a:pt x="5244148" y="0"/>
                  </a:lnTo>
                  <a:cubicBezTo>
                    <a:pt x="5258702" y="0"/>
                    <a:pt x="5270500" y="22289"/>
                    <a:pt x="5270500" y="49784"/>
                  </a:cubicBezTo>
                  <a:lnTo>
                    <a:pt x="5270500" y="261366"/>
                  </a:lnTo>
                  <a:cubicBezTo>
                    <a:pt x="5270500" y="288861"/>
                    <a:pt x="5258702" y="311150"/>
                    <a:pt x="5244148" y="311150"/>
                  </a:cubicBezTo>
                  <a:lnTo>
                    <a:pt x="26353" y="311150"/>
                  </a:lnTo>
                  <a:cubicBezTo>
                    <a:pt x="11798" y="311150"/>
                    <a:pt x="0" y="288861"/>
                    <a:pt x="0" y="261366"/>
                  </a:cubicBezTo>
                  <a:lnTo>
                    <a:pt x="0" y="49784"/>
                  </a:lnTo>
                  <a:close/>
                </a:path>
              </a:pathLst>
            </a:custGeom>
            <a:solidFill>
              <a:srgbClr val="E2F0FC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2646" y="4698"/>
              <a:ext cx="3407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S = 共识残基匹配数 / 23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266700" y="3556000"/>
            <a:ext cx="5574665" cy="1605915"/>
            <a:chOff x="420" y="5600"/>
            <a:chExt cx="8779" cy="2529"/>
          </a:xfrm>
        </p:grpSpPr>
        <p:sp>
          <p:nvSpPr>
            <p:cNvPr id="32" name="任意多边形 31"/>
            <p:cNvSpPr/>
            <p:nvPr/>
          </p:nvSpPr>
          <p:spPr>
            <a:xfrm>
              <a:off x="420" y="5600"/>
              <a:ext cx="8779" cy="2529"/>
            </a:xfrm>
            <a:custGeom>
              <a:avLst/>
              <a:gdLst>
                <a:gd name="connisteX0" fmla="*/ 0 w 5575299"/>
                <a:gd name="connsiteY0" fmla="*/ 96392 h 1606549"/>
                <a:gd name="connisteX1" fmla="*/ 83629 w 5575299"/>
                <a:gd name="connsiteY1" fmla="*/ 0 h 1606549"/>
                <a:gd name="connisteX2" fmla="*/ 5491670 w 5575299"/>
                <a:gd name="connsiteY2" fmla="*/ 0 h 1606549"/>
                <a:gd name="connisteX3" fmla="*/ 5575299 w 5575299"/>
                <a:gd name="connsiteY3" fmla="*/ 96392 h 1606549"/>
                <a:gd name="connisteX4" fmla="*/ 5575299 w 5575299"/>
                <a:gd name="connsiteY4" fmla="*/ 1510156 h 1606549"/>
                <a:gd name="connisteX5" fmla="*/ 5491670 w 5575299"/>
                <a:gd name="connsiteY5" fmla="*/ 1606549 h 1606549"/>
                <a:gd name="connisteX6" fmla="*/ 83629 w 5575299"/>
                <a:gd name="connsiteY6" fmla="*/ 1606549 h 1606549"/>
                <a:gd name="connisteX7" fmla="*/ 0 w 5575299"/>
                <a:gd name="connsiteY7" fmla="*/ 1510156 h 1606549"/>
                <a:gd name="connisteX8" fmla="*/ 0 w 5575299"/>
                <a:gd name="connsiteY8" fmla="*/ 96392 h 16065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575300" h="1606550">
                  <a:moveTo>
                    <a:pt x="0" y="96393"/>
                  </a:moveTo>
                  <a:cubicBezTo>
                    <a:pt x="0" y="43157"/>
                    <a:pt x="37442" y="0"/>
                    <a:pt x="83630" y="0"/>
                  </a:cubicBezTo>
                  <a:lnTo>
                    <a:pt x="5491671" y="0"/>
                  </a:lnTo>
                  <a:cubicBezTo>
                    <a:pt x="5537858" y="0"/>
                    <a:pt x="5575300" y="43157"/>
                    <a:pt x="5575300" y="96393"/>
                  </a:cubicBezTo>
                  <a:lnTo>
                    <a:pt x="5575300" y="1510157"/>
                  </a:lnTo>
                  <a:cubicBezTo>
                    <a:pt x="5575300" y="1563393"/>
                    <a:pt x="5537858" y="1606550"/>
                    <a:pt x="5491671" y="1606550"/>
                  </a:cubicBezTo>
                  <a:lnTo>
                    <a:pt x="83630" y="1606550"/>
                  </a:lnTo>
                  <a:cubicBezTo>
                    <a:pt x="37442" y="1606550"/>
                    <a:pt x="0" y="1563393"/>
                    <a:pt x="0" y="1510157"/>
                  </a:cubicBezTo>
                  <a:lnTo>
                    <a:pt x="0" y="96393"/>
                  </a:lnTo>
                  <a:close/>
                </a:path>
              </a:pathLst>
            </a:custGeom>
            <a:solidFill>
              <a:srgbClr val="F6FAFE"/>
            </a:solidFill>
            <a:ln w="12700" cap="flat">
              <a:solidFill>
                <a:srgbClr val="80B6E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630" y="5790"/>
              <a:ext cx="540" cy="540"/>
            </a:xfrm>
            <a:custGeom>
              <a:avLst/>
              <a:gdLst>
                <a:gd name="connisteX0" fmla="*/ 342900 w 342900"/>
                <a:gd name="connsiteY0" fmla="*/ 171450 h 342900"/>
                <a:gd name="connisteX1" fmla="*/ 171450 w 342900"/>
                <a:gd name="connsiteY1" fmla="*/ 342900 h 342900"/>
                <a:gd name="connisteX2" fmla="*/ 0 w 342900"/>
                <a:gd name="connsiteY2" fmla="*/ 171450 h 342900"/>
                <a:gd name="connisteX3" fmla="*/ 171450 w 342900"/>
                <a:gd name="connsiteY3" fmla="*/ 0 h 342900"/>
                <a:gd name="connisteX4" fmla="*/ 342900 w 342900"/>
                <a:gd name="connsiteY4" fmla="*/ 171450 h 3429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42900" h="342900">
                  <a:moveTo>
                    <a:pt x="342900" y="171450"/>
                  </a:moveTo>
                  <a:cubicBezTo>
                    <a:pt x="342900" y="266139"/>
                    <a:pt x="266139" y="342900"/>
                    <a:pt x="171450" y="342900"/>
                  </a:cubicBezTo>
                  <a:cubicBezTo>
                    <a:pt x="76761" y="342900"/>
                    <a:pt x="0" y="266139"/>
                    <a:pt x="0" y="171450"/>
                  </a:cubicBezTo>
                  <a:cubicBezTo>
                    <a:pt x="0" y="76761"/>
                    <a:pt x="76761" y="0"/>
                    <a:pt x="171450" y="0"/>
                  </a:cubicBezTo>
                  <a:cubicBezTo>
                    <a:pt x="266139" y="0"/>
                    <a:pt x="342900" y="76761"/>
                    <a:pt x="342900" y="171450"/>
                  </a:cubicBez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56" y="5768"/>
              <a:ext cx="519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N</a:t>
              </a:r>
              <a:endParaRPr lang="zh-CN" altLang="en-US" sz="1600" b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166" y="5723"/>
              <a:ext cx="1428" cy="60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9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新颖性</a:t>
              </a:r>
              <a:endParaRPr lang="zh-CN" altLang="en-US" sz="1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616" y="6318"/>
              <a:ext cx="4628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候选到可靠天然参考的最近距离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26" y="6773"/>
              <a:ext cx="3594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距离 d = 1 − 有效一致率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8" name="任意多边形 37"/>
            <p:cNvSpPr/>
            <p:nvPr/>
          </p:nvSpPr>
          <p:spPr>
            <a:xfrm>
              <a:off x="660" y="7460"/>
              <a:ext cx="8299" cy="490"/>
            </a:xfrm>
            <a:custGeom>
              <a:avLst/>
              <a:gdLst>
                <a:gd name="connisteX0" fmla="*/ 0 w 5270499"/>
                <a:gd name="connsiteY0" fmla="*/ 49784 h 311150"/>
                <a:gd name="connisteX1" fmla="*/ 26352 w 5270499"/>
                <a:gd name="connsiteY1" fmla="*/ 0 h 311150"/>
                <a:gd name="connisteX2" fmla="*/ 5244147 w 5270499"/>
                <a:gd name="connsiteY2" fmla="*/ 0 h 311150"/>
                <a:gd name="connisteX3" fmla="*/ 5270499 w 5270499"/>
                <a:gd name="connsiteY3" fmla="*/ 49784 h 311150"/>
                <a:gd name="connisteX4" fmla="*/ 5270499 w 5270499"/>
                <a:gd name="connsiteY4" fmla="*/ 261365 h 311150"/>
                <a:gd name="connisteX5" fmla="*/ 5244147 w 5270499"/>
                <a:gd name="connsiteY5" fmla="*/ 311150 h 311150"/>
                <a:gd name="connisteX6" fmla="*/ 26352 w 5270499"/>
                <a:gd name="connsiteY6" fmla="*/ 311150 h 311150"/>
                <a:gd name="connisteX7" fmla="*/ 0 w 5270499"/>
                <a:gd name="connsiteY7" fmla="*/ 261365 h 311150"/>
                <a:gd name="connisteX8" fmla="*/ 0 w 5270499"/>
                <a:gd name="connsiteY8" fmla="*/ 49784 h 3111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270500" h="311150">
                  <a:moveTo>
                    <a:pt x="0" y="49784"/>
                  </a:moveTo>
                  <a:cubicBezTo>
                    <a:pt x="0" y="22289"/>
                    <a:pt x="11798" y="0"/>
                    <a:pt x="26352" y="0"/>
                  </a:cubicBezTo>
                  <a:lnTo>
                    <a:pt x="5244148" y="0"/>
                  </a:lnTo>
                  <a:cubicBezTo>
                    <a:pt x="5258702" y="0"/>
                    <a:pt x="5270500" y="22289"/>
                    <a:pt x="5270500" y="49784"/>
                  </a:cubicBezTo>
                  <a:lnTo>
                    <a:pt x="5270500" y="261366"/>
                  </a:lnTo>
                  <a:cubicBezTo>
                    <a:pt x="5270500" y="288861"/>
                    <a:pt x="5258702" y="311150"/>
                    <a:pt x="5244148" y="311150"/>
                  </a:cubicBezTo>
                  <a:lnTo>
                    <a:pt x="26352" y="311150"/>
                  </a:lnTo>
                  <a:cubicBezTo>
                    <a:pt x="11798" y="311150"/>
                    <a:pt x="0" y="288861"/>
                    <a:pt x="0" y="261366"/>
                  </a:cubicBezTo>
                  <a:lnTo>
                    <a:pt x="0" y="49784"/>
                  </a:lnTo>
                  <a:close/>
                </a:path>
              </a:pathLst>
            </a:custGeom>
            <a:solidFill>
              <a:srgbClr val="E2F0FC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920" y="7453"/>
              <a:ext cx="369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N = min d(候选, 天然参考)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6350000" y="3556000"/>
            <a:ext cx="5575300" cy="1605915"/>
            <a:chOff x="10000" y="5600"/>
            <a:chExt cx="8780" cy="2529"/>
          </a:xfrm>
        </p:grpSpPr>
        <p:sp>
          <p:nvSpPr>
            <p:cNvPr id="41" name="任意多边形 40"/>
            <p:cNvSpPr/>
            <p:nvPr/>
          </p:nvSpPr>
          <p:spPr>
            <a:xfrm>
              <a:off x="10000" y="5600"/>
              <a:ext cx="8780" cy="2529"/>
            </a:xfrm>
            <a:custGeom>
              <a:avLst/>
              <a:gdLst>
                <a:gd name="connisteX0" fmla="*/ 0 w 5575300"/>
                <a:gd name="connsiteY0" fmla="*/ 96392 h 1606549"/>
                <a:gd name="connisteX1" fmla="*/ 83629 w 5575300"/>
                <a:gd name="connsiteY1" fmla="*/ 0 h 1606549"/>
                <a:gd name="connisteX2" fmla="*/ 5491670 w 5575300"/>
                <a:gd name="connsiteY2" fmla="*/ 0 h 1606549"/>
                <a:gd name="connisteX3" fmla="*/ 5575300 w 5575300"/>
                <a:gd name="connsiteY3" fmla="*/ 96392 h 1606549"/>
                <a:gd name="connisteX4" fmla="*/ 5575300 w 5575300"/>
                <a:gd name="connsiteY4" fmla="*/ 1510156 h 1606549"/>
                <a:gd name="connisteX5" fmla="*/ 5491670 w 5575300"/>
                <a:gd name="connsiteY5" fmla="*/ 1606549 h 1606549"/>
                <a:gd name="connisteX6" fmla="*/ 83629 w 5575300"/>
                <a:gd name="connsiteY6" fmla="*/ 1606549 h 1606549"/>
                <a:gd name="connisteX7" fmla="*/ 0 w 5575300"/>
                <a:gd name="connsiteY7" fmla="*/ 1510156 h 1606549"/>
                <a:gd name="connisteX8" fmla="*/ 0 w 5575300"/>
                <a:gd name="connsiteY8" fmla="*/ 96392 h 16065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575300" h="1606550">
                  <a:moveTo>
                    <a:pt x="0" y="96393"/>
                  </a:moveTo>
                  <a:cubicBezTo>
                    <a:pt x="0" y="43157"/>
                    <a:pt x="37442" y="0"/>
                    <a:pt x="83629" y="0"/>
                  </a:cubicBezTo>
                  <a:lnTo>
                    <a:pt x="5491671" y="0"/>
                  </a:lnTo>
                  <a:cubicBezTo>
                    <a:pt x="5537858" y="0"/>
                    <a:pt x="5575300" y="43157"/>
                    <a:pt x="5575300" y="96393"/>
                  </a:cubicBezTo>
                  <a:lnTo>
                    <a:pt x="5575300" y="1510157"/>
                  </a:lnTo>
                  <a:cubicBezTo>
                    <a:pt x="5575300" y="1563393"/>
                    <a:pt x="5537858" y="1606550"/>
                    <a:pt x="5491671" y="1606550"/>
                  </a:cubicBezTo>
                  <a:lnTo>
                    <a:pt x="83629" y="1606550"/>
                  </a:lnTo>
                  <a:cubicBezTo>
                    <a:pt x="37442" y="1606550"/>
                    <a:pt x="0" y="1563393"/>
                    <a:pt x="0" y="1510157"/>
                  </a:cubicBezTo>
                  <a:lnTo>
                    <a:pt x="0" y="96393"/>
                  </a:lnTo>
                  <a:close/>
                </a:path>
              </a:pathLst>
            </a:custGeom>
            <a:solidFill>
              <a:srgbClr val="F6FAFE"/>
            </a:solidFill>
            <a:ln w="12700" cap="flat">
              <a:solidFill>
                <a:srgbClr val="80B6E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10210" y="5790"/>
              <a:ext cx="540" cy="540"/>
            </a:xfrm>
            <a:custGeom>
              <a:avLst/>
              <a:gdLst>
                <a:gd name="connisteX0" fmla="*/ 342900 w 342900"/>
                <a:gd name="connsiteY0" fmla="*/ 171450 h 342900"/>
                <a:gd name="connisteX1" fmla="*/ 171450 w 342900"/>
                <a:gd name="connsiteY1" fmla="*/ 342900 h 342900"/>
                <a:gd name="connisteX2" fmla="*/ 0 w 342900"/>
                <a:gd name="connsiteY2" fmla="*/ 171450 h 342900"/>
                <a:gd name="connisteX3" fmla="*/ 171450 w 342900"/>
                <a:gd name="connsiteY3" fmla="*/ 0 h 342900"/>
                <a:gd name="connisteX4" fmla="*/ 342900 w 342900"/>
                <a:gd name="connsiteY4" fmla="*/ 171450 h 3429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42900" h="342900">
                  <a:moveTo>
                    <a:pt x="342900" y="171450"/>
                  </a:moveTo>
                  <a:cubicBezTo>
                    <a:pt x="342900" y="266139"/>
                    <a:pt x="266139" y="342900"/>
                    <a:pt x="171450" y="342900"/>
                  </a:cubicBezTo>
                  <a:cubicBezTo>
                    <a:pt x="76761" y="342900"/>
                    <a:pt x="0" y="266139"/>
                    <a:pt x="0" y="171450"/>
                  </a:cubicBezTo>
                  <a:cubicBezTo>
                    <a:pt x="0" y="76761"/>
                    <a:pt x="76761" y="0"/>
                    <a:pt x="171450" y="0"/>
                  </a:cubicBezTo>
                  <a:cubicBezTo>
                    <a:pt x="266139" y="0"/>
                    <a:pt x="342900" y="76761"/>
                    <a:pt x="342900" y="171450"/>
                  </a:cubicBez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0246" y="5768"/>
              <a:ext cx="519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U</a:t>
              </a:r>
              <a:endParaRPr lang="zh-CN" altLang="en-US" sz="1600" b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0736" y="5728"/>
              <a:ext cx="2188" cy="60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9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候选独特性</a:t>
              </a:r>
              <a:endParaRPr lang="zh-CN" altLang="en-US" sz="1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0226" y="6318"/>
              <a:ext cx="6160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136 条联合合格参照池；仅取可靠距离均值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0206" y="6778"/>
              <a:ext cx="5462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可靠配对比例 ≥50%，114 条进入排名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10240" y="7460"/>
              <a:ext cx="8300" cy="490"/>
            </a:xfrm>
            <a:custGeom>
              <a:avLst/>
              <a:gdLst>
                <a:gd name="connisteX0" fmla="*/ 0 w 5270500"/>
                <a:gd name="connsiteY0" fmla="*/ 49784 h 311150"/>
                <a:gd name="connisteX1" fmla="*/ 26352 w 5270500"/>
                <a:gd name="connsiteY1" fmla="*/ 0 h 311150"/>
                <a:gd name="connisteX2" fmla="*/ 5244147 w 5270500"/>
                <a:gd name="connsiteY2" fmla="*/ 0 h 311150"/>
                <a:gd name="connisteX3" fmla="*/ 5270500 w 5270500"/>
                <a:gd name="connsiteY3" fmla="*/ 49784 h 311150"/>
                <a:gd name="connisteX4" fmla="*/ 5270500 w 5270500"/>
                <a:gd name="connsiteY4" fmla="*/ 261365 h 311150"/>
                <a:gd name="connisteX5" fmla="*/ 5244147 w 5270500"/>
                <a:gd name="connsiteY5" fmla="*/ 311150 h 311150"/>
                <a:gd name="connisteX6" fmla="*/ 26352 w 5270500"/>
                <a:gd name="connsiteY6" fmla="*/ 311150 h 311150"/>
                <a:gd name="connisteX7" fmla="*/ 0 w 5270500"/>
                <a:gd name="connsiteY7" fmla="*/ 261365 h 311150"/>
                <a:gd name="connisteX8" fmla="*/ 0 w 5270500"/>
                <a:gd name="connsiteY8" fmla="*/ 49784 h 3111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270500" h="311150">
                  <a:moveTo>
                    <a:pt x="0" y="49784"/>
                  </a:moveTo>
                  <a:cubicBezTo>
                    <a:pt x="0" y="22289"/>
                    <a:pt x="11798" y="0"/>
                    <a:pt x="26353" y="0"/>
                  </a:cubicBezTo>
                  <a:lnTo>
                    <a:pt x="5244148" y="0"/>
                  </a:lnTo>
                  <a:cubicBezTo>
                    <a:pt x="5258702" y="0"/>
                    <a:pt x="5270500" y="22289"/>
                    <a:pt x="5270500" y="49784"/>
                  </a:cubicBezTo>
                  <a:lnTo>
                    <a:pt x="5270500" y="261366"/>
                  </a:lnTo>
                  <a:cubicBezTo>
                    <a:pt x="5270500" y="288861"/>
                    <a:pt x="5258702" y="311150"/>
                    <a:pt x="5244148" y="311150"/>
                  </a:cubicBezTo>
                  <a:lnTo>
                    <a:pt x="26353" y="311150"/>
                  </a:lnTo>
                  <a:cubicBezTo>
                    <a:pt x="11798" y="311150"/>
                    <a:pt x="0" y="288861"/>
                    <a:pt x="0" y="261366"/>
                  </a:cubicBezTo>
                  <a:lnTo>
                    <a:pt x="0" y="49784"/>
                  </a:lnTo>
                  <a:close/>
                </a:path>
              </a:pathLst>
            </a:custGeom>
            <a:solidFill>
              <a:srgbClr val="E2F0FC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2101" y="7451"/>
              <a:ext cx="4519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U = mean d(候选, 其他合格候选)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66700" y="5391150"/>
            <a:ext cx="11658600" cy="1155700"/>
            <a:chOff x="420" y="8490"/>
            <a:chExt cx="18360" cy="1820"/>
          </a:xfrm>
        </p:grpSpPr>
        <p:sp>
          <p:nvSpPr>
            <p:cNvPr id="50" name="任意多边形 49"/>
            <p:cNvSpPr/>
            <p:nvPr/>
          </p:nvSpPr>
          <p:spPr>
            <a:xfrm>
              <a:off x="420" y="8490"/>
              <a:ext cx="18360" cy="1820"/>
            </a:xfrm>
            <a:custGeom>
              <a:avLst/>
              <a:gdLst>
                <a:gd name="connisteX0" fmla="*/ 0 w 11658600"/>
                <a:gd name="connsiteY0" fmla="*/ 98234 h 1155699"/>
                <a:gd name="connisteX1" fmla="*/ 58292 w 11658600"/>
                <a:gd name="connsiteY1" fmla="*/ 0 h 1155699"/>
                <a:gd name="connisteX2" fmla="*/ 11600307 w 11658600"/>
                <a:gd name="connsiteY2" fmla="*/ 0 h 1155699"/>
                <a:gd name="connisteX3" fmla="*/ 11658600 w 11658600"/>
                <a:gd name="connsiteY3" fmla="*/ 98234 h 1155699"/>
                <a:gd name="connisteX4" fmla="*/ 11658600 w 11658600"/>
                <a:gd name="connsiteY4" fmla="*/ 1057465 h 1155699"/>
                <a:gd name="connisteX5" fmla="*/ 11600307 w 11658600"/>
                <a:gd name="connsiteY5" fmla="*/ 1155699 h 1155699"/>
                <a:gd name="connisteX6" fmla="*/ 58292 w 11658600"/>
                <a:gd name="connsiteY6" fmla="*/ 1155699 h 1155699"/>
                <a:gd name="connisteX7" fmla="*/ 0 w 11658600"/>
                <a:gd name="connsiteY7" fmla="*/ 1057465 h 1155699"/>
                <a:gd name="connisteX8" fmla="*/ 0 w 11658600"/>
                <a:gd name="connsiteY8" fmla="*/ 98234 h 11556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1658600" h="1155700">
                  <a:moveTo>
                    <a:pt x="0" y="98234"/>
                  </a:moveTo>
                  <a:cubicBezTo>
                    <a:pt x="0" y="43981"/>
                    <a:pt x="26099" y="0"/>
                    <a:pt x="58293" y="0"/>
                  </a:cubicBezTo>
                  <a:lnTo>
                    <a:pt x="11600307" y="0"/>
                  </a:lnTo>
                  <a:cubicBezTo>
                    <a:pt x="11632501" y="0"/>
                    <a:pt x="11658600" y="43981"/>
                    <a:pt x="11658600" y="98234"/>
                  </a:cubicBezTo>
                  <a:lnTo>
                    <a:pt x="11658600" y="1057465"/>
                  </a:lnTo>
                  <a:cubicBezTo>
                    <a:pt x="11658600" y="1111719"/>
                    <a:pt x="11632501" y="1155700"/>
                    <a:pt x="11600307" y="1155700"/>
                  </a:cubicBezTo>
                  <a:lnTo>
                    <a:pt x="58293" y="1155700"/>
                  </a:lnTo>
                  <a:cubicBezTo>
                    <a:pt x="26099" y="1155700"/>
                    <a:pt x="0" y="1111719"/>
                    <a:pt x="0" y="1057465"/>
                  </a:cubicBezTo>
                  <a:lnTo>
                    <a:pt x="0" y="98234"/>
                  </a:lnTo>
                  <a:close/>
                </a:path>
              </a:pathLst>
            </a:custGeom>
            <a:solidFill>
              <a:srgbClr val="EDF6FE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616" y="8583"/>
              <a:ext cx="9038" cy="568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7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候选独特性用于单条排序；集合多样性用于评价入选名单</a:t>
              </a:r>
              <a:endParaRPr lang="zh-CN" altLang="en-US" sz="17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15" y="9163"/>
              <a:ext cx="10828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集合多样性计算入选子集内部的两两距离，同时报告配对覆盖率与均值界限。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16" y="9653"/>
              <a:ext cx="7814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未解析距离保留 NaN，避免将证据不足计为高多样性。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isteX0" fmla="*/ 0 w 12192000"/>
              <a:gd name="connsiteY0" fmla="*/ 0 h 6858000"/>
              <a:gd name="connisteX1" fmla="*/ 12192000 w 12192000"/>
              <a:gd name="connsiteY1" fmla="*/ 0 h 6858000"/>
              <a:gd name="connisteX2" fmla="*/ 12192000 w 12192000"/>
              <a:gd name="connsiteY2" fmla="*/ 6858000 h 6858000"/>
              <a:gd name="connisteX3" fmla="*/ 0 w 12192000"/>
              <a:gd name="connsiteY3" fmla="*/ 6858000 h 6858000"/>
              <a:gd name="connisteX4" fmla="*/ 0 w 12192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60350" y="76200"/>
            <a:ext cx="11506200" cy="716915"/>
            <a:chOff x="410" y="120"/>
            <a:chExt cx="18120" cy="1129"/>
          </a:xfrm>
        </p:grpSpPr>
        <p:grpSp>
          <p:nvGrpSpPr>
            <p:cNvPr id="6" name="组合 5"/>
            <p:cNvGrpSpPr/>
            <p:nvPr/>
          </p:nvGrpSpPr>
          <p:grpSpPr>
            <a:xfrm>
              <a:off x="410" y="170"/>
              <a:ext cx="990" cy="990"/>
              <a:chOff x="410" y="170"/>
              <a:chExt cx="990" cy="990"/>
            </a:xfrm>
          </p:grpSpPr>
          <p:sp>
            <p:nvSpPr>
              <p:cNvPr id="4" name="任意多边形 3"/>
              <p:cNvSpPr/>
              <p:nvPr/>
            </p:nvSpPr>
            <p:spPr>
              <a:xfrm>
                <a:off x="410" y="170"/>
                <a:ext cx="900" cy="900"/>
              </a:xfrm>
              <a:custGeom>
                <a:avLst/>
                <a:gdLst>
                  <a:gd name="connisteX0" fmla="*/ 133349 w 571500"/>
                  <a:gd name="connsiteY0" fmla="*/ 0 h 571500"/>
                  <a:gd name="connisteX1" fmla="*/ 571500 w 571500"/>
                  <a:gd name="connsiteY1" fmla="*/ 0 h 571500"/>
                  <a:gd name="connisteX2" fmla="*/ 444500 w 571500"/>
                  <a:gd name="connsiteY2" fmla="*/ 571500 h 571500"/>
                  <a:gd name="connisteX3" fmla="*/ 0 w 571500"/>
                  <a:gd name="connsiteY3" fmla="*/ 571500 h 571500"/>
                  <a:gd name="connisteX4" fmla="*/ 133349 w 571500"/>
                  <a:gd name="connsiteY4" fmla="*/ 0 h 5715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571500" h="571500">
                    <a:moveTo>
                      <a:pt x="133350" y="0"/>
                    </a:moveTo>
                    <a:lnTo>
                      <a:pt x="571500" y="0"/>
                    </a:lnTo>
                    <a:lnTo>
                      <a:pt x="444500" y="571500"/>
                    </a:lnTo>
                    <a:lnTo>
                      <a:pt x="0" y="571500"/>
                    </a:lnTo>
                    <a:lnTo>
                      <a:pt x="133350" y="0"/>
                    </a:lnTo>
                    <a:close/>
                  </a:path>
                </a:pathLst>
              </a:custGeom>
              <a:solidFill>
                <a:srgbClr val="0A5798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510" y="270"/>
                <a:ext cx="890" cy="890"/>
              </a:xfrm>
              <a:custGeom>
                <a:avLst/>
                <a:gdLst>
                  <a:gd name="connisteX0" fmla="*/ 520699 w 565150"/>
                  <a:gd name="connsiteY0" fmla="*/ 0 h 565150"/>
                  <a:gd name="connisteX1" fmla="*/ 565150 w 565150"/>
                  <a:gd name="connsiteY1" fmla="*/ 0 h 565150"/>
                  <a:gd name="connisteX2" fmla="*/ 450850 w 565150"/>
                  <a:gd name="connsiteY2" fmla="*/ 565150 h 565150"/>
                  <a:gd name="connisteX3" fmla="*/ 0 w 565150"/>
                  <a:gd name="connsiteY3" fmla="*/ 565150 h 5651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565150" h="565150">
                    <a:moveTo>
                      <a:pt x="520700" y="0"/>
                    </a:moveTo>
                    <a:lnTo>
                      <a:pt x="565150" y="0"/>
                    </a:lnTo>
                    <a:lnTo>
                      <a:pt x="450850" y="565150"/>
                    </a:lnTo>
                    <a:lnTo>
                      <a:pt x="0" y="565150"/>
                    </a:lnTo>
                  </a:path>
                </a:pathLst>
              </a:custGeom>
              <a:noFill/>
              <a:ln w="19050" cap="flat">
                <a:solidFill>
                  <a:srgbClr val="00549A"/>
                </a:solidFill>
                <a:custDash/>
                <a:miter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1636" y="403"/>
              <a:ext cx="3768" cy="846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9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三种筛选策略</a:t>
              </a:r>
              <a:endParaRPr lang="zh-CN" altLang="en-US" sz="2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890" y="120"/>
              <a:ext cx="3640" cy="105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grpSp>
        <p:nvGrpSpPr>
          <p:cNvPr id="13" name="组合 12"/>
          <p:cNvGrpSpPr/>
          <p:nvPr/>
        </p:nvGrpSpPr>
        <p:grpSpPr>
          <a:xfrm>
            <a:off x="266700" y="1060450"/>
            <a:ext cx="11658600" cy="520700"/>
            <a:chOff x="420" y="1670"/>
            <a:chExt cx="18360" cy="820"/>
          </a:xfrm>
        </p:grpSpPr>
        <p:sp>
          <p:nvSpPr>
            <p:cNvPr id="10" name="任意多边形 9"/>
            <p:cNvSpPr/>
            <p:nvPr/>
          </p:nvSpPr>
          <p:spPr>
            <a:xfrm>
              <a:off x="420" y="1670"/>
              <a:ext cx="18360" cy="820"/>
            </a:xfrm>
            <a:custGeom>
              <a:avLst/>
              <a:gdLst>
                <a:gd name="connisteX0" fmla="*/ 0 w 11658600"/>
                <a:gd name="connsiteY0" fmla="*/ 101536 h 520700"/>
                <a:gd name="connisteX1" fmla="*/ 58292 w 11658600"/>
                <a:gd name="connsiteY1" fmla="*/ 0 h 520700"/>
                <a:gd name="connisteX2" fmla="*/ 11600307 w 11658600"/>
                <a:gd name="connsiteY2" fmla="*/ 0 h 520700"/>
                <a:gd name="connisteX3" fmla="*/ 11658600 w 11658600"/>
                <a:gd name="connsiteY3" fmla="*/ 101536 h 520700"/>
                <a:gd name="connisteX4" fmla="*/ 11658600 w 11658600"/>
                <a:gd name="connsiteY4" fmla="*/ 419163 h 520700"/>
                <a:gd name="connisteX5" fmla="*/ 11600307 w 11658600"/>
                <a:gd name="connsiteY5" fmla="*/ 520700 h 520700"/>
                <a:gd name="connisteX6" fmla="*/ 58292 w 11658600"/>
                <a:gd name="connsiteY6" fmla="*/ 520700 h 520700"/>
                <a:gd name="connisteX7" fmla="*/ 0 w 11658600"/>
                <a:gd name="connsiteY7" fmla="*/ 419163 h 520700"/>
                <a:gd name="connisteX8" fmla="*/ 0 w 11658600"/>
                <a:gd name="connsiteY8" fmla="*/ 101536 h 5207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1658600" h="520700">
                  <a:moveTo>
                    <a:pt x="0" y="101537"/>
                  </a:moveTo>
                  <a:cubicBezTo>
                    <a:pt x="0" y="45459"/>
                    <a:pt x="26099" y="0"/>
                    <a:pt x="58293" y="0"/>
                  </a:cubicBezTo>
                  <a:lnTo>
                    <a:pt x="11600307" y="0"/>
                  </a:lnTo>
                  <a:cubicBezTo>
                    <a:pt x="11632501" y="0"/>
                    <a:pt x="11658600" y="45459"/>
                    <a:pt x="11658600" y="101537"/>
                  </a:cubicBezTo>
                  <a:lnTo>
                    <a:pt x="11658600" y="419164"/>
                  </a:lnTo>
                  <a:cubicBezTo>
                    <a:pt x="11658600" y="475241"/>
                    <a:pt x="11632501" y="520700"/>
                    <a:pt x="11600307" y="520700"/>
                  </a:cubicBezTo>
                  <a:lnTo>
                    <a:pt x="58293" y="520700"/>
                  </a:lnTo>
                  <a:cubicBezTo>
                    <a:pt x="26099" y="520700"/>
                    <a:pt x="0" y="475241"/>
                    <a:pt x="0" y="419164"/>
                  </a:cubicBezTo>
                  <a:lnTo>
                    <a:pt x="0" y="101537"/>
                  </a:lnTo>
                  <a:close/>
                </a:path>
              </a:pathLst>
            </a:custGeom>
            <a:solidFill>
              <a:srgbClr val="EDF6FE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420" y="1670"/>
              <a:ext cx="160" cy="819"/>
            </a:xfrm>
            <a:custGeom>
              <a:avLst/>
              <a:gdLst>
                <a:gd name="connisteX0" fmla="*/ 0 w 101599"/>
                <a:gd name="connsiteY0" fmla="*/ 49466 h 520699"/>
                <a:gd name="connisteX1" fmla="*/ 50799 w 101599"/>
                <a:gd name="connsiteY1" fmla="*/ 0 h 520699"/>
                <a:gd name="connisteX2" fmla="*/ 101599 w 101599"/>
                <a:gd name="connsiteY2" fmla="*/ 49466 h 520699"/>
                <a:gd name="connisteX3" fmla="*/ 101599 w 101599"/>
                <a:gd name="connsiteY3" fmla="*/ 471233 h 520699"/>
                <a:gd name="connisteX4" fmla="*/ 50799 w 101599"/>
                <a:gd name="connsiteY4" fmla="*/ 520699 h 520699"/>
                <a:gd name="connisteX5" fmla="*/ 0 w 101599"/>
                <a:gd name="connsiteY5" fmla="*/ 471233 h 520699"/>
                <a:gd name="connisteX6" fmla="*/ 0 w 101599"/>
                <a:gd name="connsiteY6" fmla="*/ 49466 h 5206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rect l="l" t="t" r="r" b="b"/>
              <a:pathLst>
                <a:path w="101600" h="520700">
                  <a:moveTo>
                    <a:pt x="0" y="49466"/>
                  </a:moveTo>
                  <a:cubicBezTo>
                    <a:pt x="0" y="22147"/>
                    <a:pt x="22744" y="0"/>
                    <a:pt x="50800" y="0"/>
                  </a:cubicBezTo>
                  <a:cubicBezTo>
                    <a:pt x="78856" y="0"/>
                    <a:pt x="101600" y="22147"/>
                    <a:pt x="101600" y="49466"/>
                  </a:cubicBezTo>
                  <a:lnTo>
                    <a:pt x="101600" y="471233"/>
                  </a:lnTo>
                  <a:cubicBezTo>
                    <a:pt x="101600" y="498553"/>
                    <a:pt x="78856" y="520700"/>
                    <a:pt x="50800" y="520700"/>
                  </a:cubicBezTo>
                  <a:cubicBezTo>
                    <a:pt x="22744" y="520700"/>
                    <a:pt x="0" y="498553"/>
                    <a:pt x="0" y="471233"/>
                  </a:cubicBezTo>
                  <a:lnTo>
                    <a:pt x="0" y="49466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75" y="1748"/>
              <a:ext cx="8807" cy="628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0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相同 114 条候选池，相同总预算 K = 10 / 20 / 50</a:t>
              </a:r>
              <a:endParaRPr lang="zh-CN" altLang="en-US" sz="20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66700" y="1822450"/>
            <a:ext cx="3758565" cy="3771265"/>
            <a:chOff x="420" y="2870"/>
            <a:chExt cx="5919" cy="5939"/>
          </a:xfrm>
        </p:grpSpPr>
        <p:sp>
          <p:nvSpPr>
            <p:cNvPr id="14" name="任意多边形 13"/>
            <p:cNvSpPr/>
            <p:nvPr/>
          </p:nvSpPr>
          <p:spPr>
            <a:xfrm>
              <a:off x="420" y="2870"/>
              <a:ext cx="5919" cy="5939"/>
            </a:xfrm>
            <a:custGeom>
              <a:avLst/>
              <a:gdLst>
                <a:gd name="connisteX0" fmla="*/ 0 w 3759199"/>
                <a:gd name="connsiteY0" fmla="*/ 94297 h 3771899"/>
                <a:gd name="connisteX1" fmla="*/ 93979 w 3759199"/>
                <a:gd name="connsiteY1" fmla="*/ 0 h 3771899"/>
                <a:gd name="connisteX2" fmla="*/ 3665219 w 3759199"/>
                <a:gd name="connsiteY2" fmla="*/ 0 h 3771899"/>
                <a:gd name="connisteX3" fmla="*/ 3759199 w 3759199"/>
                <a:gd name="connsiteY3" fmla="*/ 94297 h 3771899"/>
                <a:gd name="connisteX4" fmla="*/ 3759199 w 3759199"/>
                <a:gd name="connsiteY4" fmla="*/ 3677602 h 3771899"/>
                <a:gd name="connisteX5" fmla="*/ 3665219 w 3759199"/>
                <a:gd name="connsiteY5" fmla="*/ 3771899 h 3771899"/>
                <a:gd name="connisteX6" fmla="*/ 93979 w 3759199"/>
                <a:gd name="connsiteY6" fmla="*/ 3771899 h 3771899"/>
                <a:gd name="connisteX7" fmla="*/ 0 w 3759199"/>
                <a:gd name="connsiteY7" fmla="*/ 3677602 h 3771899"/>
                <a:gd name="connisteX8" fmla="*/ 0 w 3759199"/>
                <a:gd name="connsiteY8" fmla="*/ 94297 h 37718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3759200" h="3771900">
                  <a:moveTo>
                    <a:pt x="0" y="94298"/>
                  </a:moveTo>
                  <a:cubicBezTo>
                    <a:pt x="0" y="42218"/>
                    <a:pt x="42076" y="0"/>
                    <a:pt x="93980" y="0"/>
                  </a:cubicBezTo>
                  <a:lnTo>
                    <a:pt x="3665220" y="0"/>
                  </a:lnTo>
                  <a:cubicBezTo>
                    <a:pt x="3717124" y="0"/>
                    <a:pt x="3759200" y="42218"/>
                    <a:pt x="3759200" y="94298"/>
                  </a:cubicBezTo>
                  <a:lnTo>
                    <a:pt x="3759200" y="3677603"/>
                  </a:lnTo>
                  <a:cubicBezTo>
                    <a:pt x="3759200" y="3729682"/>
                    <a:pt x="3717124" y="3771900"/>
                    <a:pt x="3665220" y="3771900"/>
                  </a:cubicBezTo>
                  <a:lnTo>
                    <a:pt x="93980" y="3771900"/>
                  </a:lnTo>
                  <a:cubicBezTo>
                    <a:pt x="42076" y="3771900"/>
                    <a:pt x="0" y="3729682"/>
                    <a:pt x="0" y="3677603"/>
                  </a:cubicBezTo>
                  <a:lnTo>
                    <a:pt x="0" y="94298"/>
                  </a:lnTo>
                  <a:close/>
                </a:path>
              </a:pathLst>
            </a:custGeom>
            <a:solidFill>
              <a:srgbClr val="F6FAFE"/>
            </a:solidFill>
            <a:ln w="12700" cap="flat">
              <a:solidFill>
                <a:srgbClr val="80B6E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420" y="2870"/>
              <a:ext cx="5919" cy="920"/>
            </a:xfrm>
            <a:custGeom>
              <a:avLst/>
              <a:gdLst>
                <a:gd name="connisteX0" fmla="*/ 0 w 3759199"/>
                <a:gd name="connsiteY0" fmla="*/ 99314 h 584200"/>
                <a:gd name="connisteX1" fmla="*/ 93979 w 3759199"/>
                <a:gd name="connsiteY1" fmla="*/ 0 h 584200"/>
                <a:gd name="connisteX2" fmla="*/ 3665219 w 3759199"/>
                <a:gd name="connsiteY2" fmla="*/ 0 h 584200"/>
                <a:gd name="connisteX3" fmla="*/ 3759199 w 3759199"/>
                <a:gd name="connsiteY3" fmla="*/ 99314 h 584200"/>
                <a:gd name="connisteX4" fmla="*/ 3759199 w 3759199"/>
                <a:gd name="connsiteY4" fmla="*/ 484886 h 584200"/>
                <a:gd name="connisteX5" fmla="*/ 3665219 w 3759199"/>
                <a:gd name="connsiteY5" fmla="*/ 584200 h 584200"/>
                <a:gd name="connisteX6" fmla="*/ 93979 w 3759199"/>
                <a:gd name="connsiteY6" fmla="*/ 584200 h 584200"/>
                <a:gd name="connisteX7" fmla="*/ 0 w 3759199"/>
                <a:gd name="connsiteY7" fmla="*/ 484886 h 584200"/>
                <a:gd name="connisteX8" fmla="*/ 0 w 3759199"/>
                <a:gd name="connsiteY8" fmla="*/ 99314 h 5842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3759200" h="584200">
                  <a:moveTo>
                    <a:pt x="0" y="99314"/>
                  </a:moveTo>
                  <a:cubicBezTo>
                    <a:pt x="0" y="44464"/>
                    <a:pt x="42076" y="0"/>
                    <a:pt x="93980" y="0"/>
                  </a:cubicBezTo>
                  <a:lnTo>
                    <a:pt x="3665220" y="0"/>
                  </a:lnTo>
                  <a:cubicBezTo>
                    <a:pt x="3717124" y="0"/>
                    <a:pt x="3759200" y="44464"/>
                    <a:pt x="3759200" y="99314"/>
                  </a:cubicBezTo>
                  <a:lnTo>
                    <a:pt x="3759200" y="484886"/>
                  </a:lnTo>
                  <a:cubicBezTo>
                    <a:pt x="3759200" y="539736"/>
                    <a:pt x="3717124" y="584200"/>
                    <a:pt x="3665220" y="584200"/>
                  </a:cubicBezTo>
                  <a:lnTo>
                    <a:pt x="93980" y="584200"/>
                  </a:lnTo>
                  <a:cubicBezTo>
                    <a:pt x="42076" y="584200"/>
                    <a:pt x="0" y="539736"/>
                    <a:pt x="0" y="484886"/>
                  </a:cubicBezTo>
                  <a:lnTo>
                    <a:pt x="0" y="99314"/>
                  </a:lnTo>
                  <a:close/>
                </a:path>
              </a:pathLst>
            </a:custGeom>
            <a:solidFill>
              <a:srgbClr val="E0EFFC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395" y="2987"/>
              <a:ext cx="1968" cy="652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1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加权求和</a:t>
              </a:r>
              <a:endParaRPr lang="zh-CN" altLang="en-US" sz="21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720" y="7540"/>
              <a:ext cx="5320" cy="0"/>
            </a:xfrm>
            <a:custGeom>
              <a:avLst/>
              <a:gdLst>
                <a:gd name="connisteX0" fmla="*/ 0 w 3378200"/>
                <a:gd name="connsiteY0" fmla="*/ 0 h 0"/>
                <a:gd name="connisteX1" fmla="*/ 3378200 w 3378200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3378200">
                  <a:moveTo>
                    <a:pt x="0" y="0"/>
                  </a:moveTo>
                  <a:lnTo>
                    <a:pt x="3378200" y="0"/>
                  </a:lnTo>
                </a:path>
              </a:pathLst>
            </a:custGeom>
            <a:solidFill>
              <a:srgbClr val="000000"/>
            </a:solidFill>
            <a:ln w="12700" cap="flat">
              <a:solidFill>
                <a:srgbClr val="80B6E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476" y="3877"/>
              <a:ext cx="3784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 b="1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本次四维等权：每项 25%</a:t>
              </a:r>
              <a:endParaRPr lang="zh-CN" altLang="en-US" sz="1550" b="1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780" y="4809"/>
              <a:ext cx="1219" cy="761"/>
            </a:xfrm>
            <a:custGeom>
              <a:avLst/>
              <a:gdLst>
                <a:gd name="connisteX0" fmla="*/ 0 w 774699"/>
                <a:gd name="connsiteY0" fmla="*/ 62738 h 482600"/>
                <a:gd name="connisteX1" fmla="*/ 61976 w 774699"/>
                <a:gd name="connsiteY1" fmla="*/ 0 h 482600"/>
                <a:gd name="connisteX2" fmla="*/ 712723 w 774699"/>
                <a:gd name="connsiteY2" fmla="*/ 0 h 482600"/>
                <a:gd name="connisteX3" fmla="*/ 774699 w 774699"/>
                <a:gd name="connsiteY3" fmla="*/ 62738 h 482600"/>
                <a:gd name="connisteX4" fmla="*/ 774699 w 774699"/>
                <a:gd name="connsiteY4" fmla="*/ 419862 h 482600"/>
                <a:gd name="connisteX5" fmla="*/ 712723 w 774699"/>
                <a:gd name="connsiteY5" fmla="*/ 482600 h 482600"/>
                <a:gd name="connisteX6" fmla="*/ 61976 w 774699"/>
                <a:gd name="connsiteY6" fmla="*/ 482600 h 482600"/>
                <a:gd name="connisteX7" fmla="*/ 0 w 774699"/>
                <a:gd name="connsiteY7" fmla="*/ 419862 h 482600"/>
                <a:gd name="connisteX8" fmla="*/ 0 w 774699"/>
                <a:gd name="connsiteY8" fmla="*/ 62738 h 4826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774700" h="482600">
                  <a:moveTo>
                    <a:pt x="0" y="62738"/>
                  </a:moveTo>
                  <a:cubicBezTo>
                    <a:pt x="0" y="28089"/>
                    <a:pt x="27748" y="0"/>
                    <a:pt x="61976" y="0"/>
                  </a:cubicBezTo>
                  <a:lnTo>
                    <a:pt x="712724" y="0"/>
                  </a:lnTo>
                  <a:cubicBezTo>
                    <a:pt x="746952" y="0"/>
                    <a:pt x="774700" y="28089"/>
                    <a:pt x="774700" y="62738"/>
                  </a:cubicBezTo>
                  <a:lnTo>
                    <a:pt x="774700" y="419862"/>
                  </a:lnTo>
                  <a:cubicBezTo>
                    <a:pt x="774700" y="454511"/>
                    <a:pt x="746952" y="482600"/>
                    <a:pt x="712724" y="482600"/>
                  </a:cubicBezTo>
                  <a:lnTo>
                    <a:pt x="61976" y="482600"/>
                  </a:lnTo>
                  <a:cubicBezTo>
                    <a:pt x="27748" y="482600"/>
                    <a:pt x="0" y="454511"/>
                    <a:pt x="0" y="419862"/>
                  </a:cubicBezTo>
                  <a:lnTo>
                    <a:pt x="0" y="62738"/>
                  </a:lnTo>
                  <a:close/>
                </a:path>
              </a:pathLst>
            </a:custGeom>
            <a:solidFill>
              <a:srgbClr val="D1E7FA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6" y="4778"/>
              <a:ext cx="84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约束</a:t>
              </a:r>
              <a:endPara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66" y="5078"/>
              <a:ext cx="852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0.25</a:t>
              </a:r>
              <a:endParaRPr lang="zh-CN" altLang="en-US" sz="1450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2100" y="4809"/>
              <a:ext cx="1220" cy="761"/>
            </a:xfrm>
            <a:custGeom>
              <a:avLst/>
              <a:gdLst>
                <a:gd name="connisteX0" fmla="*/ 0 w 774699"/>
                <a:gd name="connsiteY0" fmla="*/ 62738 h 482600"/>
                <a:gd name="connisteX1" fmla="*/ 61975 w 774699"/>
                <a:gd name="connsiteY1" fmla="*/ 0 h 482600"/>
                <a:gd name="connisteX2" fmla="*/ 712723 w 774699"/>
                <a:gd name="connsiteY2" fmla="*/ 0 h 482600"/>
                <a:gd name="connisteX3" fmla="*/ 774699 w 774699"/>
                <a:gd name="connsiteY3" fmla="*/ 62738 h 482600"/>
                <a:gd name="connisteX4" fmla="*/ 774699 w 774699"/>
                <a:gd name="connsiteY4" fmla="*/ 419862 h 482600"/>
                <a:gd name="connisteX5" fmla="*/ 712723 w 774699"/>
                <a:gd name="connsiteY5" fmla="*/ 482600 h 482600"/>
                <a:gd name="connisteX6" fmla="*/ 61975 w 774699"/>
                <a:gd name="connsiteY6" fmla="*/ 482600 h 482600"/>
                <a:gd name="connisteX7" fmla="*/ 0 w 774699"/>
                <a:gd name="connsiteY7" fmla="*/ 419862 h 482600"/>
                <a:gd name="connisteX8" fmla="*/ 0 w 774699"/>
                <a:gd name="connsiteY8" fmla="*/ 62738 h 4826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774700" h="482600">
                  <a:moveTo>
                    <a:pt x="0" y="62738"/>
                  </a:moveTo>
                  <a:cubicBezTo>
                    <a:pt x="0" y="28089"/>
                    <a:pt x="27748" y="0"/>
                    <a:pt x="61976" y="0"/>
                  </a:cubicBezTo>
                  <a:lnTo>
                    <a:pt x="712724" y="0"/>
                  </a:lnTo>
                  <a:cubicBezTo>
                    <a:pt x="746952" y="0"/>
                    <a:pt x="774700" y="28089"/>
                    <a:pt x="774700" y="62738"/>
                  </a:cubicBezTo>
                  <a:lnTo>
                    <a:pt x="774700" y="419862"/>
                  </a:lnTo>
                  <a:cubicBezTo>
                    <a:pt x="774700" y="454511"/>
                    <a:pt x="746952" y="482600"/>
                    <a:pt x="712724" y="482600"/>
                  </a:cubicBezTo>
                  <a:lnTo>
                    <a:pt x="61976" y="482600"/>
                  </a:lnTo>
                  <a:cubicBezTo>
                    <a:pt x="27748" y="482600"/>
                    <a:pt x="0" y="454511"/>
                    <a:pt x="0" y="419862"/>
                  </a:cubicBezTo>
                  <a:lnTo>
                    <a:pt x="0" y="62738"/>
                  </a:lnTo>
                  <a:close/>
                </a:path>
              </a:pathLst>
            </a:custGeom>
            <a:solidFill>
              <a:srgbClr val="D1E7FA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296" y="4778"/>
              <a:ext cx="84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保守</a:t>
              </a:r>
              <a:endPara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285" y="5078"/>
              <a:ext cx="852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0.25</a:t>
              </a:r>
              <a:endParaRPr lang="zh-CN" altLang="en-US" sz="1450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3420" y="4809"/>
              <a:ext cx="1220" cy="761"/>
            </a:xfrm>
            <a:custGeom>
              <a:avLst/>
              <a:gdLst>
                <a:gd name="connisteX0" fmla="*/ 0 w 774699"/>
                <a:gd name="connsiteY0" fmla="*/ 62738 h 482600"/>
                <a:gd name="connisteX1" fmla="*/ 61975 w 774699"/>
                <a:gd name="connsiteY1" fmla="*/ 0 h 482600"/>
                <a:gd name="connisteX2" fmla="*/ 712723 w 774699"/>
                <a:gd name="connsiteY2" fmla="*/ 0 h 482600"/>
                <a:gd name="connisteX3" fmla="*/ 774699 w 774699"/>
                <a:gd name="connsiteY3" fmla="*/ 62738 h 482600"/>
                <a:gd name="connisteX4" fmla="*/ 774699 w 774699"/>
                <a:gd name="connsiteY4" fmla="*/ 419862 h 482600"/>
                <a:gd name="connisteX5" fmla="*/ 712723 w 774699"/>
                <a:gd name="connsiteY5" fmla="*/ 482600 h 482600"/>
                <a:gd name="connisteX6" fmla="*/ 61975 w 774699"/>
                <a:gd name="connsiteY6" fmla="*/ 482600 h 482600"/>
                <a:gd name="connisteX7" fmla="*/ 0 w 774699"/>
                <a:gd name="connsiteY7" fmla="*/ 419862 h 482600"/>
                <a:gd name="connisteX8" fmla="*/ 0 w 774699"/>
                <a:gd name="connsiteY8" fmla="*/ 62738 h 4826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774700" h="482600">
                  <a:moveTo>
                    <a:pt x="0" y="62738"/>
                  </a:moveTo>
                  <a:cubicBezTo>
                    <a:pt x="0" y="28089"/>
                    <a:pt x="27748" y="0"/>
                    <a:pt x="61976" y="0"/>
                  </a:cubicBezTo>
                  <a:lnTo>
                    <a:pt x="712724" y="0"/>
                  </a:lnTo>
                  <a:cubicBezTo>
                    <a:pt x="746952" y="0"/>
                    <a:pt x="774700" y="28089"/>
                    <a:pt x="774700" y="62738"/>
                  </a:cubicBezTo>
                  <a:lnTo>
                    <a:pt x="774700" y="419862"/>
                  </a:lnTo>
                  <a:cubicBezTo>
                    <a:pt x="774700" y="454511"/>
                    <a:pt x="746952" y="482600"/>
                    <a:pt x="712724" y="482600"/>
                  </a:cubicBezTo>
                  <a:lnTo>
                    <a:pt x="61976" y="482600"/>
                  </a:lnTo>
                  <a:cubicBezTo>
                    <a:pt x="27748" y="482600"/>
                    <a:pt x="0" y="454511"/>
                    <a:pt x="0" y="419862"/>
                  </a:cubicBezTo>
                  <a:lnTo>
                    <a:pt x="0" y="62738"/>
                  </a:lnTo>
                  <a:close/>
                </a:path>
              </a:pathLst>
            </a:custGeom>
            <a:solidFill>
              <a:srgbClr val="D1E7FA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605" y="4778"/>
              <a:ext cx="84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新颖</a:t>
              </a:r>
              <a:endPara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605" y="5078"/>
              <a:ext cx="852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0.25</a:t>
              </a:r>
              <a:endParaRPr lang="zh-CN" altLang="en-US" sz="1450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8" name="任意多边形 27"/>
            <p:cNvSpPr/>
            <p:nvPr/>
          </p:nvSpPr>
          <p:spPr>
            <a:xfrm>
              <a:off x="4740" y="4809"/>
              <a:ext cx="1220" cy="761"/>
            </a:xfrm>
            <a:custGeom>
              <a:avLst/>
              <a:gdLst>
                <a:gd name="connisteX0" fmla="*/ 0 w 774699"/>
                <a:gd name="connsiteY0" fmla="*/ 62738 h 482600"/>
                <a:gd name="connisteX1" fmla="*/ 61975 w 774699"/>
                <a:gd name="connsiteY1" fmla="*/ 0 h 482600"/>
                <a:gd name="connisteX2" fmla="*/ 712723 w 774699"/>
                <a:gd name="connsiteY2" fmla="*/ 0 h 482600"/>
                <a:gd name="connisteX3" fmla="*/ 774699 w 774699"/>
                <a:gd name="connsiteY3" fmla="*/ 62738 h 482600"/>
                <a:gd name="connisteX4" fmla="*/ 774699 w 774699"/>
                <a:gd name="connsiteY4" fmla="*/ 419862 h 482600"/>
                <a:gd name="connisteX5" fmla="*/ 712723 w 774699"/>
                <a:gd name="connsiteY5" fmla="*/ 482600 h 482600"/>
                <a:gd name="connisteX6" fmla="*/ 61975 w 774699"/>
                <a:gd name="connsiteY6" fmla="*/ 482600 h 482600"/>
                <a:gd name="connisteX7" fmla="*/ 0 w 774699"/>
                <a:gd name="connsiteY7" fmla="*/ 419862 h 482600"/>
                <a:gd name="connisteX8" fmla="*/ 0 w 774699"/>
                <a:gd name="connsiteY8" fmla="*/ 62738 h 4826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774700" h="482600">
                  <a:moveTo>
                    <a:pt x="0" y="62738"/>
                  </a:moveTo>
                  <a:cubicBezTo>
                    <a:pt x="0" y="28089"/>
                    <a:pt x="27748" y="0"/>
                    <a:pt x="61976" y="0"/>
                  </a:cubicBezTo>
                  <a:lnTo>
                    <a:pt x="712724" y="0"/>
                  </a:lnTo>
                  <a:cubicBezTo>
                    <a:pt x="746952" y="0"/>
                    <a:pt x="774700" y="28089"/>
                    <a:pt x="774700" y="62738"/>
                  </a:cubicBezTo>
                  <a:lnTo>
                    <a:pt x="774700" y="419862"/>
                  </a:lnTo>
                  <a:cubicBezTo>
                    <a:pt x="774700" y="454511"/>
                    <a:pt x="746952" y="482600"/>
                    <a:pt x="712724" y="482600"/>
                  </a:cubicBezTo>
                  <a:lnTo>
                    <a:pt x="61976" y="482600"/>
                  </a:lnTo>
                  <a:cubicBezTo>
                    <a:pt x="27748" y="482600"/>
                    <a:pt x="0" y="454511"/>
                    <a:pt x="0" y="419862"/>
                  </a:cubicBezTo>
                  <a:lnTo>
                    <a:pt x="0" y="62738"/>
                  </a:lnTo>
                  <a:close/>
                </a:path>
              </a:pathLst>
            </a:custGeom>
            <a:solidFill>
              <a:srgbClr val="D1E7FA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4935" y="4783"/>
              <a:ext cx="84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独特</a:t>
              </a:r>
              <a:endPara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4926" y="5078"/>
              <a:ext cx="852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0.25</a:t>
              </a:r>
              <a:endParaRPr lang="zh-CN" altLang="en-US" sz="1450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146" y="5738"/>
              <a:ext cx="4153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总分 = 0.25 × (C + S + N + U)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46" y="6383"/>
              <a:ext cx="3698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四维分数乘以权重后相加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26" y="6848"/>
              <a:ext cx="3767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按总分从高到低取前 K 条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16" y="7668"/>
              <a:ext cx="434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适合：偏好明确，需单一优先级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616" y="8138"/>
              <a:ext cx="405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其他验证偏好可预先设定权重</a:t>
              </a:r>
              <a:endParaRPr lang="zh-CN" altLang="en-US" sz="14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216400" y="1822450"/>
            <a:ext cx="3759200" cy="3771265"/>
            <a:chOff x="6640" y="2870"/>
            <a:chExt cx="5920" cy="5939"/>
          </a:xfrm>
        </p:grpSpPr>
        <p:sp>
          <p:nvSpPr>
            <p:cNvPr id="37" name="任意多边形 36"/>
            <p:cNvSpPr/>
            <p:nvPr/>
          </p:nvSpPr>
          <p:spPr>
            <a:xfrm>
              <a:off x="6640" y="2870"/>
              <a:ext cx="5920" cy="5939"/>
            </a:xfrm>
            <a:custGeom>
              <a:avLst/>
              <a:gdLst>
                <a:gd name="connisteX0" fmla="*/ 0 w 3759200"/>
                <a:gd name="connsiteY0" fmla="*/ 94297 h 3771899"/>
                <a:gd name="connisteX1" fmla="*/ 93980 w 3759200"/>
                <a:gd name="connsiteY1" fmla="*/ 0 h 3771899"/>
                <a:gd name="connisteX2" fmla="*/ 3665220 w 3759200"/>
                <a:gd name="connsiteY2" fmla="*/ 0 h 3771899"/>
                <a:gd name="connisteX3" fmla="*/ 3759200 w 3759200"/>
                <a:gd name="connsiteY3" fmla="*/ 94297 h 3771899"/>
                <a:gd name="connisteX4" fmla="*/ 3759200 w 3759200"/>
                <a:gd name="connsiteY4" fmla="*/ 3677602 h 3771899"/>
                <a:gd name="connisteX5" fmla="*/ 3665220 w 3759200"/>
                <a:gd name="connsiteY5" fmla="*/ 3771899 h 3771899"/>
                <a:gd name="connisteX6" fmla="*/ 93980 w 3759200"/>
                <a:gd name="connsiteY6" fmla="*/ 3771899 h 3771899"/>
                <a:gd name="connisteX7" fmla="*/ 0 w 3759200"/>
                <a:gd name="connsiteY7" fmla="*/ 3677602 h 3771899"/>
                <a:gd name="connisteX8" fmla="*/ 0 w 3759200"/>
                <a:gd name="connsiteY8" fmla="*/ 94297 h 37718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3759200" h="3771900">
                  <a:moveTo>
                    <a:pt x="0" y="94298"/>
                  </a:moveTo>
                  <a:cubicBezTo>
                    <a:pt x="0" y="42218"/>
                    <a:pt x="42076" y="0"/>
                    <a:pt x="93980" y="0"/>
                  </a:cubicBezTo>
                  <a:lnTo>
                    <a:pt x="3665220" y="0"/>
                  </a:lnTo>
                  <a:cubicBezTo>
                    <a:pt x="3717124" y="0"/>
                    <a:pt x="3759200" y="42218"/>
                    <a:pt x="3759200" y="94298"/>
                  </a:cubicBezTo>
                  <a:lnTo>
                    <a:pt x="3759200" y="3677603"/>
                  </a:lnTo>
                  <a:cubicBezTo>
                    <a:pt x="3759200" y="3729682"/>
                    <a:pt x="3717124" y="3771900"/>
                    <a:pt x="3665220" y="3771900"/>
                  </a:cubicBezTo>
                  <a:lnTo>
                    <a:pt x="93980" y="3771900"/>
                  </a:lnTo>
                  <a:cubicBezTo>
                    <a:pt x="42076" y="3771900"/>
                    <a:pt x="0" y="3729682"/>
                    <a:pt x="0" y="3677603"/>
                  </a:cubicBezTo>
                  <a:lnTo>
                    <a:pt x="0" y="94298"/>
                  </a:lnTo>
                  <a:close/>
                </a:path>
              </a:pathLst>
            </a:custGeom>
            <a:solidFill>
              <a:srgbClr val="F6FAFE"/>
            </a:solidFill>
            <a:ln w="12700" cap="flat">
              <a:solidFill>
                <a:srgbClr val="80B6E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" name="任意多边形 37"/>
            <p:cNvSpPr/>
            <p:nvPr/>
          </p:nvSpPr>
          <p:spPr>
            <a:xfrm>
              <a:off x="6640" y="2870"/>
              <a:ext cx="5920" cy="920"/>
            </a:xfrm>
            <a:custGeom>
              <a:avLst/>
              <a:gdLst>
                <a:gd name="connisteX0" fmla="*/ 0 w 3759200"/>
                <a:gd name="connsiteY0" fmla="*/ 99314 h 584200"/>
                <a:gd name="connisteX1" fmla="*/ 93980 w 3759200"/>
                <a:gd name="connsiteY1" fmla="*/ 0 h 584200"/>
                <a:gd name="connisteX2" fmla="*/ 3665220 w 3759200"/>
                <a:gd name="connsiteY2" fmla="*/ 0 h 584200"/>
                <a:gd name="connisteX3" fmla="*/ 3759200 w 3759200"/>
                <a:gd name="connsiteY3" fmla="*/ 99314 h 584200"/>
                <a:gd name="connisteX4" fmla="*/ 3759200 w 3759200"/>
                <a:gd name="connsiteY4" fmla="*/ 484886 h 584200"/>
                <a:gd name="connisteX5" fmla="*/ 3665220 w 3759200"/>
                <a:gd name="connsiteY5" fmla="*/ 584200 h 584200"/>
                <a:gd name="connisteX6" fmla="*/ 93980 w 3759200"/>
                <a:gd name="connsiteY6" fmla="*/ 584200 h 584200"/>
                <a:gd name="connisteX7" fmla="*/ 0 w 3759200"/>
                <a:gd name="connsiteY7" fmla="*/ 484886 h 584200"/>
                <a:gd name="connisteX8" fmla="*/ 0 w 3759200"/>
                <a:gd name="connsiteY8" fmla="*/ 99314 h 5842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3759200" h="584200">
                  <a:moveTo>
                    <a:pt x="0" y="99314"/>
                  </a:moveTo>
                  <a:cubicBezTo>
                    <a:pt x="0" y="44464"/>
                    <a:pt x="42076" y="0"/>
                    <a:pt x="93980" y="0"/>
                  </a:cubicBezTo>
                  <a:lnTo>
                    <a:pt x="3665220" y="0"/>
                  </a:lnTo>
                  <a:cubicBezTo>
                    <a:pt x="3717124" y="0"/>
                    <a:pt x="3759200" y="44464"/>
                    <a:pt x="3759200" y="99314"/>
                  </a:cubicBezTo>
                  <a:lnTo>
                    <a:pt x="3759200" y="484886"/>
                  </a:lnTo>
                  <a:cubicBezTo>
                    <a:pt x="3759200" y="539736"/>
                    <a:pt x="3717124" y="584200"/>
                    <a:pt x="3665220" y="584200"/>
                  </a:cubicBezTo>
                  <a:lnTo>
                    <a:pt x="93980" y="584200"/>
                  </a:lnTo>
                  <a:cubicBezTo>
                    <a:pt x="42076" y="584200"/>
                    <a:pt x="0" y="539736"/>
                    <a:pt x="0" y="484886"/>
                  </a:cubicBezTo>
                  <a:lnTo>
                    <a:pt x="0" y="99314"/>
                  </a:lnTo>
                  <a:close/>
                </a:path>
              </a:pathLst>
            </a:custGeom>
            <a:solidFill>
              <a:srgbClr val="E0EFFC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8356" y="2987"/>
              <a:ext cx="2553" cy="652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1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Pareto 排序</a:t>
              </a:r>
              <a:endParaRPr lang="zh-CN" altLang="en-US" sz="21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0" name="任意多边形 39"/>
            <p:cNvSpPr/>
            <p:nvPr/>
          </p:nvSpPr>
          <p:spPr>
            <a:xfrm>
              <a:off x="6940" y="7540"/>
              <a:ext cx="5320" cy="0"/>
            </a:xfrm>
            <a:custGeom>
              <a:avLst/>
              <a:gdLst>
                <a:gd name="connisteX0" fmla="*/ 0 w 3378200"/>
                <a:gd name="connsiteY0" fmla="*/ 0 h 0"/>
                <a:gd name="connisteX1" fmla="*/ 3378200 w 3378200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3378200">
                  <a:moveTo>
                    <a:pt x="0" y="0"/>
                  </a:moveTo>
                  <a:lnTo>
                    <a:pt x="3378200" y="0"/>
                  </a:lnTo>
                </a:path>
              </a:pathLst>
            </a:custGeom>
            <a:solidFill>
              <a:srgbClr val="000000"/>
            </a:solidFill>
            <a:ln w="12700" cap="flat">
              <a:solidFill>
                <a:srgbClr val="80B6E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355" y="3882"/>
              <a:ext cx="4488" cy="507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00" b="1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非支配层优先，层内按拥挤距离</a:t>
              </a:r>
              <a:endParaRPr lang="zh-CN" altLang="en-US" sz="1500" b="1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7320" y="4790"/>
              <a:ext cx="4560" cy="390"/>
            </a:xfrm>
            <a:custGeom>
              <a:avLst/>
              <a:gdLst>
                <a:gd name="connisteX0" fmla="*/ 0 w 2895600"/>
                <a:gd name="connsiteY0" fmla="*/ 43338 h 247650"/>
                <a:gd name="connisteX1" fmla="*/ 43434 w 2895600"/>
                <a:gd name="connsiteY1" fmla="*/ 0 h 247650"/>
                <a:gd name="connisteX2" fmla="*/ 2852165 w 2895600"/>
                <a:gd name="connsiteY2" fmla="*/ 0 h 247650"/>
                <a:gd name="connisteX3" fmla="*/ 2895599 w 2895600"/>
                <a:gd name="connsiteY3" fmla="*/ 43338 h 247650"/>
                <a:gd name="connisteX4" fmla="*/ 2895599 w 2895600"/>
                <a:gd name="connsiteY4" fmla="*/ 204311 h 247650"/>
                <a:gd name="connisteX5" fmla="*/ 2852165 w 2895600"/>
                <a:gd name="connsiteY5" fmla="*/ 247650 h 247650"/>
                <a:gd name="connisteX6" fmla="*/ 43434 w 2895600"/>
                <a:gd name="connsiteY6" fmla="*/ 247650 h 247650"/>
                <a:gd name="connisteX7" fmla="*/ 0 w 2895600"/>
                <a:gd name="connsiteY7" fmla="*/ 204311 h 247650"/>
                <a:gd name="connisteX8" fmla="*/ 0 w 2895600"/>
                <a:gd name="connsiteY8" fmla="*/ 43338 h 2476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895600" h="247650">
                  <a:moveTo>
                    <a:pt x="0" y="43339"/>
                  </a:moveTo>
                  <a:cubicBezTo>
                    <a:pt x="0" y="19403"/>
                    <a:pt x="19446" y="0"/>
                    <a:pt x="43434" y="0"/>
                  </a:cubicBezTo>
                  <a:lnTo>
                    <a:pt x="2852166" y="0"/>
                  </a:lnTo>
                  <a:cubicBezTo>
                    <a:pt x="2876154" y="0"/>
                    <a:pt x="2895600" y="19403"/>
                    <a:pt x="2895600" y="43339"/>
                  </a:cubicBezTo>
                  <a:lnTo>
                    <a:pt x="2895600" y="204311"/>
                  </a:lnTo>
                  <a:cubicBezTo>
                    <a:pt x="2895600" y="228247"/>
                    <a:pt x="2876154" y="247650"/>
                    <a:pt x="2852166" y="247650"/>
                  </a:cubicBezTo>
                  <a:lnTo>
                    <a:pt x="43434" y="247650"/>
                  </a:lnTo>
                  <a:cubicBezTo>
                    <a:pt x="19446" y="247650"/>
                    <a:pt x="0" y="228247"/>
                    <a:pt x="0" y="204311"/>
                  </a:cubicBezTo>
                  <a:lnTo>
                    <a:pt x="0" y="43339"/>
                  </a:lnTo>
                  <a:close/>
                </a:path>
              </a:pathLst>
            </a:custGeom>
            <a:solidFill>
              <a:srgbClr val="79B0DF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9001" y="4713"/>
              <a:ext cx="1191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第 1 层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4" name="任意多边形 43"/>
            <p:cNvSpPr/>
            <p:nvPr/>
          </p:nvSpPr>
          <p:spPr>
            <a:xfrm>
              <a:off x="7819" y="5320"/>
              <a:ext cx="3560" cy="390"/>
            </a:xfrm>
            <a:custGeom>
              <a:avLst/>
              <a:gdLst>
                <a:gd name="connisteX0" fmla="*/ 0 w 2260599"/>
                <a:gd name="connsiteY0" fmla="*/ 43338 h 247650"/>
                <a:gd name="connisteX1" fmla="*/ 33909 w 2260599"/>
                <a:gd name="connsiteY1" fmla="*/ 0 h 247650"/>
                <a:gd name="connisteX2" fmla="*/ 2226690 w 2260599"/>
                <a:gd name="connsiteY2" fmla="*/ 0 h 247650"/>
                <a:gd name="connisteX3" fmla="*/ 2260599 w 2260599"/>
                <a:gd name="connsiteY3" fmla="*/ 43338 h 247650"/>
                <a:gd name="connisteX4" fmla="*/ 2260599 w 2260599"/>
                <a:gd name="connsiteY4" fmla="*/ 204311 h 247650"/>
                <a:gd name="connisteX5" fmla="*/ 2226690 w 2260599"/>
                <a:gd name="connsiteY5" fmla="*/ 247650 h 247650"/>
                <a:gd name="connisteX6" fmla="*/ 33909 w 2260599"/>
                <a:gd name="connsiteY6" fmla="*/ 247650 h 247650"/>
                <a:gd name="connisteX7" fmla="*/ 0 w 2260599"/>
                <a:gd name="connsiteY7" fmla="*/ 204311 h 247650"/>
                <a:gd name="connisteX8" fmla="*/ 0 w 2260599"/>
                <a:gd name="connsiteY8" fmla="*/ 43338 h 2476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260600" h="247650">
                  <a:moveTo>
                    <a:pt x="0" y="43339"/>
                  </a:moveTo>
                  <a:cubicBezTo>
                    <a:pt x="0" y="19403"/>
                    <a:pt x="15182" y="0"/>
                    <a:pt x="33909" y="0"/>
                  </a:cubicBezTo>
                  <a:lnTo>
                    <a:pt x="2226691" y="0"/>
                  </a:lnTo>
                  <a:cubicBezTo>
                    <a:pt x="2245418" y="0"/>
                    <a:pt x="2260600" y="19403"/>
                    <a:pt x="2260600" y="43339"/>
                  </a:cubicBezTo>
                  <a:lnTo>
                    <a:pt x="2260600" y="204311"/>
                  </a:lnTo>
                  <a:cubicBezTo>
                    <a:pt x="2260600" y="228247"/>
                    <a:pt x="2245418" y="247650"/>
                    <a:pt x="2226691" y="247650"/>
                  </a:cubicBezTo>
                  <a:lnTo>
                    <a:pt x="33909" y="247650"/>
                  </a:lnTo>
                  <a:cubicBezTo>
                    <a:pt x="15182" y="247650"/>
                    <a:pt x="0" y="228247"/>
                    <a:pt x="0" y="204311"/>
                  </a:cubicBezTo>
                  <a:lnTo>
                    <a:pt x="0" y="43339"/>
                  </a:lnTo>
                  <a:close/>
                </a:path>
              </a:pathLst>
            </a:custGeom>
            <a:solidFill>
              <a:srgbClr val="A0C8E9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9001" y="5243"/>
              <a:ext cx="1191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第 2 层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6" name="任意多边形 45"/>
            <p:cNvSpPr/>
            <p:nvPr/>
          </p:nvSpPr>
          <p:spPr>
            <a:xfrm>
              <a:off x="8320" y="5850"/>
              <a:ext cx="2560" cy="390"/>
            </a:xfrm>
            <a:custGeom>
              <a:avLst/>
              <a:gdLst>
                <a:gd name="connisteX0" fmla="*/ 0 w 1625600"/>
                <a:gd name="connsiteY0" fmla="*/ 43338 h 247650"/>
                <a:gd name="connisteX1" fmla="*/ 40639 w 1625600"/>
                <a:gd name="connsiteY1" fmla="*/ 0 h 247650"/>
                <a:gd name="connisteX2" fmla="*/ 1584960 w 1625600"/>
                <a:gd name="connsiteY2" fmla="*/ 0 h 247650"/>
                <a:gd name="connisteX3" fmla="*/ 1625600 w 1625600"/>
                <a:gd name="connsiteY3" fmla="*/ 43338 h 247650"/>
                <a:gd name="connisteX4" fmla="*/ 1625600 w 1625600"/>
                <a:gd name="connsiteY4" fmla="*/ 204311 h 247650"/>
                <a:gd name="connisteX5" fmla="*/ 1584960 w 1625600"/>
                <a:gd name="connsiteY5" fmla="*/ 247650 h 247650"/>
                <a:gd name="connisteX6" fmla="*/ 40639 w 1625600"/>
                <a:gd name="connsiteY6" fmla="*/ 247650 h 247650"/>
                <a:gd name="connisteX7" fmla="*/ 0 w 1625600"/>
                <a:gd name="connsiteY7" fmla="*/ 204311 h 247650"/>
                <a:gd name="connisteX8" fmla="*/ 0 w 1625600"/>
                <a:gd name="connsiteY8" fmla="*/ 43338 h 2476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625600" h="247650">
                  <a:moveTo>
                    <a:pt x="0" y="43339"/>
                  </a:moveTo>
                  <a:cubicBezTo>
                    <a:pt x="0" y="19403"/>
                    <a:pt x="18195" y="0"/>
                    <a:pt x="40640" y="0"/>
                  </a:cubicBezTo>
                  <a:lnTo>
                    <a:pt x="1584960" y="0"/>
                  </a:lnTo>
                  <a:cubicBezTo>
                    <a:pt x="1607405" y="0"/>
                    <a:pt x="1625600" y="19403"/>
                    <a:pt x="1625600" y="43339"/>
                  </a:cubicBezTo>
                  <a:lnTo>
                    <a:pt x="1625600" y="204311"/>
                  </a:lnTo>
                  <a:cubicBezTo>
                    <a:pt x="1625600" y="228247"/>
                    <a:pt x="1607405" y="247650"/>
                    <a:pt x="1584960" y="247650"/>
                  </a:cubicBezTo>
                  <a:lnTo>
                    <a:pt x="40640" y="247650"/>
                  </a:lnTo>
                  <a:cubicBezTo>
                    <a:pt x="18195" y="247650"/>
                    <a:pt x="0" y="228247"/>
                    <a:pt x="0" y="204311"/>
                  </a:cubicBezTo>
                  <a:lnTo>
                    <a:pt x="0" y="43339"/>
                  </a:lnTo>
                  <a:close/>
                </a:path>
              </a:pathLst>
            </a:custGeom>
            <a:solidFill>
              <a:srgbClr val="CDE3F6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9031" y="5778"/>
              <a:ext cx="115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后续层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835" y="6373"/>
              <a:ext cx="3767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依次纳入，直到达到 K 条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845" y="6853"/>
              <a:ext cx="4288" cy="507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当前第一前沿 10 条，共 13 层</a:t>
              </a:r>
              <a:endParaRPr lang="zh-CN" altLang="en-US" sz="15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6835" y="7663"/>
              <a:ext cx="434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适合：探索不同目标之间的取舍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6845" y="8133"/>
              <a:ext cx="289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保留各有所长的候选</a:t>
              </a:r>
              <a:endParaRPr lang="zh-CN" altLang="en-US" sz="14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8166100" y="1822450"/>
            <a:ext cx="3759200" cy="3771265"/>
            <a:chOff x="12860" y="2870"/>
            <a:chExt cx="5920" cy="5939"/>
          </a:xfrm>
        </p:grpSpPr>
        <p:sp>
          <p:nvSpPr>
            <p:cNvPr id="53" name="任意多边形 52"/>
            <p:cNvSpPr/>
            <p:nvPr/>
          </p:nvSpPr>
          <p:spPr>
            <a:xfrm>
              <a:off x="12860" y="2870"/>
              <a:ext cx="5920" cy="5939"/>
            </a:xfrm>
            <a:custGeom>
              <a:avLst/>
              <a:gdLst>
                <a:gd name="connisteX0" fmla="*/ 0 w 3759200"/>
                <a:gd name="connsiteY0" fmla="*/ 94297 h 3771899"/>
                <a:gd name="connisteX1" fmla="*/ 93980 w 3759200"/>
                <a:gd name="connsiteY1" fmla="*/ 0 h 3771899"/>
                <a:gd name="connisteX2" fmla="*/ 3665219 w 3759200"/>
                <a:gd name="connsiteY2" fmla="*/ 0 h 3771899"/>
                <a:gd name="connisteX3" fmla="*/ 3759200 w 3759200"/>
                <a:gd name="connsiteY3" fmla="*/ 94297 h 3771899"/>
                <a:gd name="connisteX4" fmla="*/ 3759200 w 3759200"/>
                <a:gd name="connsiteY4" fmla="*/ 3677602 h 3771899"/>
                <a:gd name="connisteX5" fmla="*/ 3665219 w 3759200"/>
                <a:gd name="connsiteY5" fmla="*/ 3771899 h 3771899"/>
                <a:gd name="connisteX6" fmla="*/ 93980 w 3759200"/>
                <a:gd name="connsiteY6" fmla="*/ 3771899 h 3771899"/>
                <a:gd name="connisteX7" fmla="*/ 0 w 3759200"/>
                <a:gd name="connsiteY7" fmla="*/ 3677602 h 3771899"/>
                <a:gd name="connisteX8" fmla="*/ 0 w 3759200"/>
                <a:gd name="connsiteY8" fmla="*/ 94297 h 37718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3759200" h="3771900">
                  <a:moveTo>
                    <a:pt x="0" y="94298"/>
                  </a:moveTo>
                  <a:cubicBezTo>
                    <a:pt x="0" y="42218"/>
                    <a:pt x="42076" y="0"/>
                    <a:pt x="93980" y="0"/>
                  </a:cubicBezTo>
                  <a:lnTo>
                    <a:pt x="3665220" y="0"/>
                  </a:lnTo>
                  <a:cubicBezTo>
                    <a:pt x="3717124" y="0"/>
                    <a:pt x="3759200" y="42218"/>
                    <a:pt x="3759200" y="94298"/>
                  </a:cubicBezTo>
                  <a:lnTo>
                    <a:pt x="3759200" y="3677603"/>
                  </a:lnTo>
                  <a:cubicBezTo>
                    <a:pt x="3759200" y="3729682"/>
                    <a:pt x="3717124" y="3771900"/>
                    <a:pt x="3665220" y="3771900"/>
                  </a:cubicBezTo>
                  <a:lnTo>
                    <a:pt x="93980" y="3771900"/>
                  </a:lnTo>
                  <a:cubicBezTo>
                    <a:pt x="42076" y="3771900"/>
                    <a:pt x="0" y="3729682"/>
                    <a:pt x="0" y="3677603"/>
                  </a:cubicBezTo>
                  <a:lnTo>
                    <a:pt x="0" y="94298"/>
                  </a:lnTo>
                  <a:close/>
                </a:path>
              </a:pathLst>
            </a:custGeom>
            <a:solidFill>
              <a:srgbClr val="F6FAFE"/>
            </a:solidFill>
            <a:ln w="12700" cap="flat">
              <a:solidFill>
                <a:srgbClr val="80B6E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12860" y="2870"/>
              <a:ext cx="5920" cy="920"/>
            </a:xfrm>
            <a:custGeom>
              <a:avLst/>
              <a:gdLst>
                <a:gd name="connisteX0" fmla="*/ 0 w 3759200"/>
                <a:gd name="connsiteY0" fmla="*/ 99314 h 584200"/>
                <a:gd name="connisteX1" fmla="*/ 93980 w 3759200"/>
                <a:gd name="connsiteY1" fmla="*/ 0 h 584200"/>
                <a:gd name="connisteX2" fmla="*/ 3665219 w 3759200"/>
                <a:gd name="connsiteY2" fmla="*/ 0 h 584200"/>
                <a:gd name="connisteX3" fmla="*/ 3759200 w 3759200"/>
                <a:gd name="connsiteY3" fmla="*/ 99314 h 584200"/>
                <a:gd name="connisteX4" fmla="*/ 3759200 w 3759200"/>
                <a:gd name="connsiteY4" fmla="*/ 484886 h 584200"/>
                <a:gd name="connisteX5" fmla="*/ 3665219 w 3759200"/>
                <a:gd name="connsiteY5" fmla="*/ 584200 h 584200"/>
                <a:gd name="connisteX6" fmla="*/ 93980 w 3759200"/>
                <a:gd name="connsiteY6" fmla="*/ 584200 h 584200"/>
                <a:gd name="connisteX7" fmla="*/ 0 w 3759200"/>
                <a:gd name="connsiteY7" fmla="*/ 484886 h 584200"/>
                <a:gd name="connisteX8" fmla="*/ 0 w 3759200"/>
                <a:gd name="connsiteY8" fmla="*/ 99314 h 5842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3759200" h="584200">
                  <a:moveTo>
                    <a:pt x="0" y="99314"/>
                  </a:moveTo>
                  <a:cubicBezTo>
                    <a:pt x="0" y="44464"/>
                    <a:pt x="42076" y="0"/>
                    <a:pt x="93980" y="0"/>
                  </a:cubicBezTo>
                  <a:lnTo>
                    <a:pt x="3665220" y="0"/>
                  </a:lnTo>
                  <a:cubicBezTo>
                    <a:pt x="3717124" y="0"/>
                    <a:pt x="3759200" y="44464"/>
                    <a:pt x="3759200" y="99314"/>
                  </a:cubicBezTo>
                  <a:lnTo>
                    <a:pt x="3759200" y="484886"/>
                  </a:lnTo>
                  <a:cubicBezTo>
                    <a:pt x="3759200" y="539736"/>
                    <a:pt x="3717124" y="584200"/>
                    <a:pt x="3665220" y="584200"/>
                  </a:cubicBezTo>
                  <a:lnTo>
                    <a:pt x="93980" y="584200"/>
                  </a:lnTo>
                  <a:cubicBezTo>
                    <a:pt x="42076" y="584200"/>
                    <a:pt x="0" y="539736"/>
                    <a:pt x="0" y="484886"/>
                  </a:cubicBezTo>
                  <a:lnTo>
                    <a:pt x="0" y="99314"/>
                  </a:lnTo>
                  <a:close/>
                </a:path>
              </a:pathLst>
            </a:custGeom>
            <a:solidFill>
              <a:srgbClr val="E0EFFC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4636" y="2983"/>
              <a:ext cx="2388" cy="652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1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分维度轮转</a:t>
              </a:r>
              <a:endParaRPr lang="zh-CN" altLang="en-US" sz="21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13160" y="7540"/>
              <a:ext cx="5320" cy="0"/>
            </a:xfrm>
            <a:custGeom>
              <a:avLst/>
              <a:gdLst>
                <a:gd name="connisteX0" fmla="*/ 0 w 3378200"/>
                <a:gd name="connsiteY0" fmla="*/ 0 h 0"/>
                <a:gd name="connisteX1" fmla="*/ 3378200 w 3378200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3378200">
                  <a:moveTo>
                    <a:pt x="0" y="0"/>
                  </a:moveTo>
                  <a:lnTo>
                    <a:pt x="3378200" y="0"/>
                  </a:lnTo>
                </a:path>
              </a:pathLst>
            </a:custGeom>
            <a:solidFill>
              <a:srgbClr val="000000"/>
            </a:solidFill>
            <a:ln w="12700" cap="flat">
              <a:solidFill>
                <a:srgbClr val="80B6E4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4121" y="3823"/>
              <a:ext cx="3308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 b="1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Top-k per dimension</a:t>
              </a:r>
              <a:endParaRPr lang="zh-CN" altLang="en-US" sz="1550" b="1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3956" y="4203"/>
              <a:ext cx="376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固定总预算的轮转去重实现</a:t>
              </a:r>
              <a:endParaRPr lang="zh-CN" altLang="en-US" sz="14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13200" y="4890"/>
              <a:ext cx="1010" cy="639"/>
            </a:xfrm>
            <a:custGeom>
              <a:avLst/>
              <a:gdLst>
                <a:gd name="connisteX0" fmla="*/ 0 w 641349"/>
                <a:gd name="connsiteY0" fmla="*/ 62992 h 406399"/>
                <a:gd name="connisteX1" fmla="*/ 60928 w 641349"/>
                <a:gd name="connsiteY1" fmla="*/ 0 h 406399"/>
                <a:gd name="connisteX2" fmla="*/ 580421 w 641349"/>
                <a:gd name="connsiteY2" fmla="*/ 0 h 406399"/>
                <a:gd name="connisteX3" fmla="*/ 641349 w 641349"/>
                <a:gd name="connsiteY3" fmla="*/ 62992 h 406399"/>
                <a:gd name="connisteX4" fmla="*/ 641349 w 641349"/>
                <a:gd name="connsiteY4" fmla="*/ 343407 h 406399"/>
                <a:gd name="connisteX5" fmla="*/ 580421 w 641349"/>
                <a:gd name="connsiteY5" fmla="*/ 406399 h 406399"/>
                <a:gd name="connisteX6" fmla="*/ 60928 w 641349"/>
                <a:gd name="connsiteY6" fmla="*/ 406399 h 406399"/>
                <a:gd name="connisteX7" fmla="*/ 0 w 641349"/>
                <a:gd name="connsiteY7" fmla="*/ 343407 h 406399"/>
                <a:gd name="connisteX8" fmla="*/ 0 w 641349"/>
                <a:gd name="connsiteY8" fmla="*/ 62992 h 4063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641350" h="406400">
                  <a:moveTo>
                    <a:pt x="0" y="62992"/>
                  </a:moveTo>
                  <a:cubicBezTo>
                    <a:pt x="0" y="28202"/>
                    <a:pt x="27279" y="0"/>
                    <a:pt x="60928" y="0"/>
                  </a:cubicBezTo>
                  <a:lnTo>
                    <a:pt x="580422" y="0"/>
                  </a:lnTo>
                  <a:cubicBezTo>
                    <a:pt x="614071" y="0"/>
                    <a:pt x="641350" y="28202"/>
                    <a:pt x="641350" y="62992"/>
                  </a:cubicBezTo>
                  <a:lnTo>
                    <a:pt x="641350" y="343408"/>
                  </a:lnTo>
                  <a:cubicBezTo>
                    <a:pt x="641350" y="378198"/>
                    <a:pt x="614071" y="406400"/>
                    <a:pt x="580422" y="406400"/>
                  </a:cubicBezTo>
                  <a:lnTo>
                    <a:pt x="60928" y="406400"/>
                  </a:lnTo>
                  <a:cubicBezTo>
                    <a:pt x="27279" y="406400"/>
                    <a:pt x="0" y="378198"/>
                    <a:pt x="0" y="343408"/>
                  </a:cubicBezTo>
                  <a:lnTo>
                    <a:pt x="0" y="62992"/>
                  </a:lnTo>
                  <a:close/>
                </a:path>
              </a:pathLst>
            </a:custGeom>
            <a:solidFill>
              <a:srgbClr val="D1E7FA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3271" y="4943"/>
              <a:ext cx="86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约束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14300" y="5090"/>
              <a:ext cx="200" cy="240"/>
            </a:xfrm>
            <a:custGeom>
              <a:avLst/>
              <a:gdLst>
                <a:gd name="connisteX0" fmla="*/ 0 w 127000"/>
                <a:gd name="connsiteY0" fmla="*/ 0 h 152400"/>
                <a:gd name="connisteX1" fmla="*/ 127000 w 127000"/>
                <a:gd name="connsiteY1" fmla="*/ 76200 h 152400"/>
                <a:gd name="connisteX2" fmla="*/ 0 w 127000"/>
                <a:gd name="connsiteY2" fmla="*/ 152400 h 152400"/>
                <a:gd name="connisteX3" fmla="*/ 0 w 127000"/>
                <a:gd name="connsiteY3" fmla="*/ 0 h 1524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27000" h="152400">
                  <a:moveTo>
                    <a:pt x="0" y="0"/>
                  </a:moveTo>
                  <a:lnTo>
                    <a:pt x="127000" y="762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14580" y="4890"/>
              <a:ext cx="1010" cy="639"/>
            </a:xfrm>
            <a:custGeom>
              <a:avLst/>
              <a:gdLst>
                <a:gd name="connisteX0" fmla="*/ 0 w 641349"/>
                <a:gd name="connsiteY0" fmla="*/ 62992 h 406399"/>
                <a:gd name="connisteX1" fmla="*/ 60928 w 641349"/>
                <a:gd name="connsiteY1" fmla="*/ 0 h 406399"/>
                <a:gd name="connisteX2" fmla="*/ 580421 w 641349"/>
                <a:gd name="connsiteY2" fmla="*/ 0 h 406399"/>
                <a:gd name="connisteX3" fmla="*/ 641349 w 641349"/>
                <a:gd name="connsiteY3" fmla="*/ 62992 h 406399"/>
                <a:gd name="connisteX4" fmla="*/ 641349 w 641349"/>
                <a:gd name="connsiteY4" fmla="*/ 343407 h 406399"/>
                <a:gd name="connisteX5" fmla="*/ 580421 w 641349"/>
                <a:gd name="connsiteY5" fmla="*/ 406399 h 406399"/>
                <a:gd name="connisteX6" fmla="*/ 60928 w 641349"/>
                <a:gd name="connsiteY6" fmla="*/ 406399 h 406399"/>
                <a:gd name="connisteX7" fmla="*/ 0 w 641349"/>
                <a:gd name="connsiteY7" fmla="*/ 343407 h 406399"/>
                <a:gd name="connisteX8" fmla="*/ 0 w 641349"/>
                <a:gd name="connsiteY8" fmla="*/ 62992 h 4063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641350" h="406400">
                  <a:moveTo>
                    <a:pt x="0" y="62992"/>
                  </a:moveTo>
                  <a:cubicBezTo>
                    <a:pt x="0" y="28202"/>
                    <a:pt x="27279" y="0"/>
                    <a:pt x="60928" y="0"/>
                  </a:cubicBezTo>
                  <a:lnTo>
                    <a:pt x="580422" y="0"/>
                  </a:lnTo>
                  <a:cubicBezTo>
                    <a:pt x="614071" y="0"/>
                    <a:pt x="641350" y="28202"/>
                    <a:pt x="641350" y="62992"/>
                  </a:cubicBezTo>
                  <a:lnTo>
                    <a:pt x="641350" y="343408"/>
                  </a:lnTo>
                  <a:cubicBezTo>
                    <a:pt x="641350" y="378198"/>
                    <a:pt x="614071" y="406400"/>
                    <a:pt x="580422" y="406400"/>
                  </a:cubicBezTo>
                  <a:lnTo>
                    <a:pt x="60928" y="406400"/>
                  </a:lnTo>
                  <a:cubicBezTo>
                    <a:pt x="27279" y="406400"/>
                    <a:pt x="0" y="378198"/>
                    <a:pt x="0" y="343408"/>
                  </a:cubicBezTo>
                  <a:lnTo>
                    <a:pt x="0" y="62992"/>
                  </a:lnTo>
                  <a:close/>
                </a:path>
              </a:pathLst>
            </a:custGeom>
            <a:solidFill>
              <a:srgbClr val="D1E7FA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4661" y="4943"/>
              <a:ext cx="86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保守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64" name="任意多边形 63"/>
            <p:cNvSpPr/>
            <p:nvPr/>
          </p:nvSpPr>
          <p:spPr>
            <a:xfrm>
              <a:off x="15680" y="5090"/>
              <a:ext cx="199" cy="240"/>
            </a:xfrm>
            <a:custGeom>
              <a:avLst/>
              <a:gdLst>
                <a:gd name="connisteX0" fmla="*/ 0 w 126999"/>
                <a:gd name="connsiteY0" fmla="*/ 0 h 152400"/>
                <a:gd name="connisteX1" fmla="*/ 126999 w 126999"/>
                <a:gd name="connsiteY1" fmla="*/ 76200 h 152400"/>
                <a:gd name="connisteX2" fmla="*/ 0 w 126999"/>
                <a:gd name="connsiteY2" fmla="*/ 152400 h 152400"/>
                <a:gd name="connisteX3" fmla="*/ 0 w 126999"/>
                <a:gd name="connsiteY3" fmla="*/ 0 h 1524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27000" h="152400">
                  <a:moveTo>
                    <a:pt x="0" y="0"/>
                  </a:moveTo>
                  <a:lnTo>
                    <a:pt x="127000" y="762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15960" y="4890"/>
              <a:ext cx="1010" cy="639"/>
            </a:xfrm>
            <a:custGeom>
              <a:avLst/>
              <a:gdLst>
                <a:gd name="connisteX0" fmla="*/ 0 w 641349"/>
                <a:gd name="connsiteY0" fmla="*/ 62992 h 406399"/>
                <a:gd name="connisteX1" fmla="*/ 60928 w 641349"/>
                <a:gd name="connsiteY1" fmla="*/ 0 h 406399"/>
                <a:gd name="connisteX2" fmla="*/ 580421 w 641349"/>
                <a:gd name="connsiteY2" fmla="*/ 0 h 406399"/>
                <a:gd name="connisteX3" fmla="*/ 641349 w 641349"/>
                <a:gd name="connsiteY3" fmla="*/ 62992 h 406399"/>
                <a:gd name="connisteX4" fmla="*/ 641349 w 641349"/>
                <a:gd name="connsiteY4" fmla="*/ 343407 h 406399"/>
                <a:gd name="connisteX5" fmla="*/ 580421 w 641349"/>
                <a:gd name="connsiteY5" fmla="*/ 406399 h 406399"/>
                <a:gd name="connisteX6" fmla="*/ 60928 w 641349"/>
                <a:gd name="connsiteY6" fmla="*/ 406399 h 406399"/>
                <a:gd name="connisteX7" fmla="*/ 0 w 641349"/>
                <a:gd name="connsiteY7" fmla="*/ 343407 h 406399"/>
                <a:gd name="connisteX8" fmla="*/ 0 w 641349"/>
                <a:gd name="connsiteY8" fmla="*/ 62992 h 4063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641350" h="406400">
                  <a:moveTo>
                    <a:pt x="0" y="62992"/>
                  </a:moveTo>
                  <a:cubicBezTo>
                    <a:pt x="0" y="28202"/>
                    <a:pt x="27279" y="0"/>
                    <a:pt x="60928" y="0"/>
                  </a:cubicBezTo>
                  <a:lnTo>
                    <a:pt x="580422" y="0"/>
                  </a:lnTo>
                  <a:cubicBezTo>
                    <a:pt x="614071" y="0"/>
                    <a:pt x="641350" y="28202"/>
                    <a:pt x="641350" y="62992"/>
                  </a:cubicBezTo>
                  <a:lnTo>
                    <a:pt x="641350" y="343408"/>
                  </a:lnTo>
                  <a:cubicBezTo>
                    <a:pt x="641350" y="378198"/>
                    <a:pt x="614071" y="406400"/>
                    <a:pt x="580422" y="406400"/>
                  </a:cubicBezTo>
                  <a:lnTo>
                    <a:pt x="60928" y="406400"/>
                  </a:lnTo>
                  <a:cubicBezTo>
                    <a:pt x="27279" y="406400"/>
                    <a:pt x="0" y="378198"/>
                    <a:pt x="0" y="343408"/>
                  </a:cubicBezTo>
                  <a:lnTo>
                    <a:pt x="0" y="62992"/>
                  </a:lnTo>
                  <a:close/>
                </a:path>
              </a:pathLst>
            </a:custGeom>
            <a:solidFill>
              <a:srgbClr val="D1E7FA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6030" y="4943"/>
              <a:ext cx="86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新颖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17060" y="5090"/>
              <a:ext cx="199" cy="240"/>
            </a:xfrm>
            <a:custGeom>
              <a:avLst/>
              <a:gdLst>
                <a:gd name="connisteX0" fmla="*/ 0 w 126999"/>
                <a:gd name="connsiteY0" fmla="*/ 0 h 152400"/>
                <a:gd name="connisteX1" fmla="*/ 126999 w 126999"/>
                <a:gd name="connsiteY1" fmla="*/ 76200 h 152400"/>
                <a:gd name="connisteX2" fmla="*/ 0 w 126999"/>
                <a:gd name="connsiteY2" fmla="*/ 152400 h 152400"/>
                <a:gd name="connisteX3" fmla="*/ 0 w 126999"/>
                <a:gd name="connsiteY3" fmla="*/ 0 h 1524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27000" h="152400">
                  <a:moveTo>
                    <a:pt x="0" y="0"/>
                  </a:moveTo>
                  <a:lnTo>
                    <a:pt x="127000" y="762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17340" y="4890"/>
              <a:ext cx="1010" cy="639"/>
            </a:xfrm>
            <a:custGeom>
              <a:avLst/>
              <a:gdLst>
                <a:gd name="connisteX0" fmla="*/ 0 w 641349"/>
                <a:gd name="connsiteY0" fmla="*/ 62992 h 406399"/>
                <a:gd name="connisteX1" fmla="*/ 60928 w 641349"/>
                <a:gd name="connsiteY1" fmla="*/ 0 h 406399"/>
                <a:gd name="connisteX2" fmla="*/ 580421 w 641349"/>
                <a:gd name="connsiteY2" fmla="*/ 0 h 406399"/>
                <a:gd name="connisteX3" fmla="*/ 641349 w 641349"/>
                <a:gd name="connsiteY3" fmla="*/ 62992 h 406399"/>
                <a:gd name="connisteX4" fmla="*/ 641349 w 641349"/>
                <a:gd name="connsiteY4" fmla="*/ 343407 h 406399"/>
                <a:gd name="connisteX5" fmla="*/ 580421 w 641349"/>
                <a:gd name="connsiteY5" fmla="*/ 406399 h 406399"/>
                <a:gd name="connisteX6" fmla="*/ 60928 w 641349"/>
                <a:gd name="connsiteY6" fmla="*/ 406399 h 406399"/>
                <a:gd name="connisteX7" fmla="*/ 0 w 641349"/>
                <a:gd name="connsiteY7" fmla="*/ 343407 h 406399"/>
                <a:gd name="connisteX8" fmla="*/ 0 w 641349"/>
                <a:gd name="connsiteY8" fmla="*/ 62992 h 4063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641350" h="406400">
                  <a:moveTo>
                    <a:pt x="0" y="62992"/>
                  </a:moveTo>
                  <a:cubicBezTo>
                    <a:pt x="0" y="28202"/>
                    <a:pt x="27279" y="0"/>
                    <a:pt x="60928" y="0"/>
                  </a:cubicBezTo>
                  <a:lnTo>
                    <a:pt x="580422" y="0"/>
                  </a:lnTo>
                  <a:cubicBezTo>
                    <a:pt x="614071" y="0"/>
                    <a:pt x="641350" y="28202"/>
                    <a:pt x="641350" y="62992"/>
                  </a:cubicBezTo>
                  <a:lnTo>
                    <a:pt x="641350" y="343408"/>
                  </a:lnTo>
                  <a:cubicBezTo>
                    <a:pt x="641350" y="378198"/>
                    <a:pt x="614071" y="406400"/>
                    <a:pt x="580422" y="406400"/>
                  </a:cubicBezTo>
                  <a:lnTo>
                    <a:pt x="60928" y="406400"/>
                  </a:lnTo>
                  <a:cubicBezTo>
                    <a:pt x="27279" y="406400"/>
                    <a:pt x="0" y="378198"/>
                    <a:pt x="0" y="343408"/>
                  </a:cubicBezTo>
                  <a:lnTo>
                    <a:pt x="0" y="62992"/>
                  </a:lnTo>
                  <a:close/>
                </a:path>
              </a:pathLst>
            </a:custGeom>
            <a:solidFill>
              <a:srgbClr val="D1E7FA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7411" y="4948"/>
              <a:ext cx="86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独特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13700" y="5680"/>
              <a:ext cx="4159" cy="320"/>
            </a:xfrm>
            <a:custGeom>
              <a:avLst/>
              <a:gdLst>
                <a:gd name="connisteX0" fmla="*/ 2641599 w 2641599"/>
                <a:gd name="connsiteY0" fmla="*/ 0 h 203200"/>
                <a:gd name="connisteX1" fmla="*/ 2641599 w 2641599"/>
                <a:gd name="connsiteY1" fmla="*/ 203200 h 203200"/>
                <a:gd name="connisteX2" fmla="*/ 0 w 2641599"/>
                <a:gd name="connsiteY2" fmla="*/ 203200 h 203200"/>
                <a:gd name="connisteX3" fmla="*/ 0 w 2641599"/>
                <a:gd name="connsiteY3" fmla="*/ 0 h 2032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2641600" h="203200">
                  <a:moveTo>
                    <a:pt x="2641600" y="0"/>
                  </a:moveTo>
                  <a:lnTo>
                    <a:pt x="2641600" y="203200"/>
                  </a:lnTo>
                  <a:lnTo>
                    <a:pt x="0" y="203200"/>
                  </a:ln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rgbClr val="5197D5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14026" y="5968"/>
              <a:ext cx="3588" cy="507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依次轮转，重复候选跳过</a:t>
              </a:r>
              <a:endPara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3056" y="6433"/>
              <a:ext cx="3698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分别建立四份单维排序表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3066" y="6908"/>
              <a:ext cx="4387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去重纳入，达到总数 K 后停止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3056" y="7663"/>
              <a:ext cx="405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适合：覆盖各维度的高分条目</a:t>
              </a:r>
              <a:endParaRPr lang="zh-CN" altLang="en-US" sz="1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13066" y="8133"/>
              <a:ext cx="405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保持相同预算，便于比较策略</a:t>
              </a:r>
              <a:endParaRPr lang="zh-CN" altLang="en-US" sz="14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266700" y="5848350"/>
            <a:ext cx="11658600" cy="704850"/>
            <a:chOff x="420" y="9210"/>
            <a:chExt cx="18360" cy="1110"/>
          </a:xfrm>
        </p:grpSpPr>
        <p:sp>
          <p:nvSpPr>
            <p:cNvPr id="77" name="任意多边形 76"/>
            <p:cNvSpPr/>
            <p:nvPr/>
          </p:nvSpPr>
          <p:spPr>
            <a:xfrm>
              <a:off x="420" y="9210"/>
              <a:ext cx="18360" cy="1110"/>
            </a:xfrm>
            <a:custGeom>
              <a:avLst/>
              <a:gdLst>
                <a:gd name="connisteX0" fmla="*/ 0 w 11658600"/>
                <a:gd name="connsiteY0" fmla="*/ 98678 h 704850"/>
                <a:gd name="connisteX1" fmla="*/ 58292 w 11658600"/>
                <a:gd name="connsiteY1" fmla="*/ 0 h 704850"/>
                <a:gd name="connisteX2" fmla="*/ 11600307 w 11658600"/>
                <a:gd name="connsiteY2" fmla="*/ 0 h 704850"/>
                <a:gd name="connisteX3" fmla="*/ 11658600 w 11658600"/>
                <a:gd name="connsiteY3" fmla="*/ 98678 h 704850"/>
                <a:gd name="connisteX4" fmla="*/ 11658600 w 11658600"/>
                <a:gd name="connsiteY4" fmla="*/ 606170 h 704850"/>
                <a:gd name="connisteX5" fmla="*/ 11600307 w 11658600"/>
                <a:gd name="connsiteY5" fmla="*/ 704850 h 704850"/>
                <a:gd name="connisteX6" fmla="*/ 58292 w 11658600"/>
                <a:gd name="connsiteY6" fmla="*/ 704850 h 704850"/>
                <a:gd name="connisteX7" fmla="*/ 0 w 11658600"/>
                <a:gd name="connsiteY7" fmla="*/ 606170 h 704850"/>
                <a:gd name="connisteX8" fmla="*/ 0 w 11658600"/>
                <a:gd name="connsiteY8" fmla="*/ 98678 h 7048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1658600" h="704850">
                  <a:moveTo>
                    <a:pt x="0" y="98679"/>
                  </a:moveTo>
                  <a:cubicBezTo>
                    <a:pt x="0" y="44180"/>
                    <a:pt x="26099" y="0"/>
                    <a:pt x="58293" y="0"/>
                  </a:cubicBezTo>
                  <a:lnTo>
                    <a:pt x="11600307" y="0"/>
                  </a:lnTo>
                  <a:cubicBezTo>
                    <a:pt x="11632501" y="0"/>
                    <a:pt x="11658600" y="44180"/>
                    <a:pt x="11658600" y="98679"/>
                  </a:cubicBezTo>
                  <a:lnTo>
                    <a:pt x="11658600" y="606171"/>
                  </a:lnTo>
                  <a:cubicBezTo>
                    <a:pt x="11658600" y="660670"/>
                    <a:pt x="11632501" y="704850"/>
                    <a:pt x="11600307" y="704850"/>
                  </a:cubicBezTo>
                  <a:lnTo>
                    <a:pt x="58293" y="704850"/>
                  </a:lnTo>
                  <a:cubicBezTo>
                    <a:pt x="26099" y="704850"/>
                    <a:pt x="0" y="660670"/>
                    <a:pt x="0" y="606171"/>
                  </a:cubicBezTo>
                  <a:lnTo>
                    <a:pt x="0" y="98679"/>
                  </a:lnTo>
                  <a:close/>
                </a:path>
              </a:pathLst>
            </a:custGeom>
            <a:solidFill>
              <a:srgbClr val="EDF6FE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645" y="9246"/>
              <a:ext cx="10280" cy="54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公平比较：资格门槛、评分证据与名单长度一致；并列使用稳定 ID。</a:t>
              </a:r>
              <a:endPara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646" y="9733"/>
              <a:ext cx="10647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输出 9 份名单，重点分析 Top-20：四维质量、名单重叠度与第一前沿覆盖。</a:t>
              </a:r>
              <a:endParaRPr lang="zh-CN" altLang="en-US" sz="15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isteX0" fmla="*/ 0 w 12192000"/>
              <a:gd name="connsiteY0" fmla="*/ 0 h 6858000"/>
              <a:gd name="connisteX1" fmla="*/ 12192000 w 12192000"/>
              <a:gd name="connsiteY1" fmla="*/ 0 h 6858000"/>
              <a:gd name="connisteX2" fmla="*/ 12192000 w 12192000"/>
              <a:gd name="connsiteY2" fmla="*/ 6858000 h 6858000"/>
              <a:gd name="connisteX3" fmla="*/ 0 w 12192000"/>
              <a:gd name="connsiteY3" fmla="*/ 6858000 h 6858000"/>
              <a:gd name="connisteX4" fmla="*/ 0 w 12192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60350" y="76200"/>
            <a:ext cx="11506200" cy="716915"/>
            <a:chOff x="410" y="120"/>
            <a:chExt cx="18120" cy="1129"/>
          </a:xfrm>
        </p:grpSpPr>
        <p:grpSp>
          <p:nvGrpSpPr>
            <p:cNvPr id="6" name="组合 5"/>
            <p:cNvGrpSpPr/>
            <p:nvPr/>
          </p:nvGrpSpPr>
          <p:grpSpPr>
            <a:xfrm>
              <a:off x="410" y="170"/>
              <a:ext cx="990" cy="990"/>
              <a:chOff x="410" y="170"/>
              <a:chExt cx="990" cy="990"/>
            </a:xfrm>
          </p:grpSpPr>
          <p:sp>
            <p:nvSpPr>
              <p:cNvPr id="4" name="任意多边形 3"/>
              <p:cNvSpPr/>
              <p:nvPr/>
            </p:nvSpPr>
            <p:spPr>
              <a:xfrm>
                <a:off x="410" y="170"/>
                <a:ext cx="900" cy="900"/>
              </a:xfrm>
              <a:custGeom>
                <a:avLst/>
                <a:gdLst>
                  <a:gd name="connisteX0" fmla="*/ 133349 w 571500"/>
                  <a:gd name="connsiteY0" fmla="*/ 0 h 571500"/>
                  <a:gd name="connisteX1" fmla="*/ 571500 w 571500"/>
                  <a:gd name="connsiteY1" fmla="*/ 0 h 571500"/>
                  <a:gd name="connisteX2" fmla="*/ 444500 w 571500"/>
                  <a:gd name="connsiteY2" fmla="*/ 571500 h 571500"/>
                  <a:gd name="connisteX3" fmla="*/ 0 w 571500"/>
                  <a:gd name="connsiteY3" fmla="*/ 571500 h 571500"/>
                  <a:gd name="connisteX4" fmla="*/ 133349 w 571500"/>
                  <a:gd name="connsiteY4" fmla="*/ 0 h 5715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571500" h="571500">
                    <a:moveTo>
                      <a:pt x="133350" y="0"/>
                    </a:moveTo>
                    <a:lnTo>
                      <a:pt x="571500" y="0"/>
                    </a:lnTo>
                    <a:lnTo>
                      <a:pt x="444500" y="571500"/>
                    </a:lnTo>
                    <a:lnTo>
                      <a:pt x="0" y="571500"/>
                    </a:lnTo>
                    <a:lnTo>
                      <a:pt x="133350" y="0"/>
                    </a:lnTo>
                    <a:close/>
                  </a:path>
                </a:pathLst>
              </a:custGeom>
              <a:solidFill>
                <a:srgbClr val="0A5798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510" y="270"/>
                <a:ext cx="890" cy="890"/>
              </a:xfrm>
              <a:custGeom>
                <a:avLst/>
                <a:gdLst>
                  <a:gd name="connisteX0" fmla="*/ 520699 w 565150"/>
                  <a:gd name="connsiteY0" fmla="*/ 0 h 565150"/>
                  <a:gd name="connisteX1" fmla="*/ 565150 w 565150"/>
                  <a:gd name="connsiteY1" fmla="*/ 0 h 565150"/>
                  <a:gd name="connisteX2" fmla="*/ 450850 w 565150"/>
                  <a:gd name="connsiteY2" fmla="*/ 565150 h 565150"/>
                  <a:gd name="connisteX3" fmla="*/ 0 w 565150"/>
                  <a:gd name="connsiteY3" fmla="*/ 565150 h 5651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565150" h="565150">
                    <a:moveTo>
                      <a:pt x="520700" y="0"/>
                    </a:moveTo>
                    <a:lnTo>
                      <a:pt x="565150" y="0"/>
                    </a:lnTo>
                    <a:lnTo>
                      <a:pt x="450850" y="565150"/>
                    </a:lnTo>
                    <a:lnTo>
                      <a:pt x="0" y="565150"/>
                    </a:lnTo>
                  </a:path>
                </a:pathLst>
              </a:custGeom>
              <a:noFill/>
              <a:ln w="19050" cap="flat">
                <a:solidFill>
                  <a:srgbClr val="00549A"/>
                </a:solidFill>
                <a:custDash/>
                <a:miter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1625" y="403"/>
              <a:ext cx="6088" cy="846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9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实验一：维度间相关性</a:t>
              </a:r>
              <a:endParaRPr lang="zh-CN" altLang="en-US" sz="2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890" y="120"/>
              <a:ext cx="3640" cy="105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sp>
        <p:nvSpPr>
          <p:cNvPr id="10" name="任意多边形 9"/>
          <p:cNvSpPr/>
          <p:nvPr/>
        </p:nvSpPr>
        <p:spPr>
          <a:xfrm>
            <a:off x="266700" y="1060450"/>
            <a:ext cx="5657850" cy="482600"/>
          </a:xfrm>
          <a:custGeom>
            <a:avLst/>
            <a:gdLst>
              <a:gd name="connisteX0" fmla="*/ 0 w 5657850"/>
              <a:gd name="connsiteY0" fmla="*/ 101346 h 482600"/>
              <a:gd name="connisteX1" fmla="*/ 84867 w 5657850"/>
              <a:gd name="connsiteY1" fmla="*/ 0 h 482600"/>
              <a:gd name="connisteX2" fmla="*/ 5572982 w 5657850"/>
              <a:gd name="connsiteY2" fmla="*/ 0 h 482600"/>
              <a:gd name="connisteX3" fmla="*/ 5657850 w 5657850"/>
              <a:gd name="connsiteY3" fmla="*/ 101346 h 482600"/>
              <a:gd name="connisteX4" fmla="*/ 5657850 w 5657850"/>
              <a:gd name="connsiteY4" fmla="*/ 381253 h 482600"/>
              <a:gd name="connisteX5" fmla="*/ 5572982 w 5657850"/>
              <a:gd name="connsiteY5" fmla="*/ 482600 h 482600"/>
              <a:gd name="connisteX6" fmla="*/ 84867 w 5657850"/>
              <a:gd name="connsiteY6" fmla="*/ 482600 h 482600"/>
              <a:gd name="connisteX7" fmla="*/ 0 w 5657850"/>
              <a:gd name="connsiteY7" fmla="*/ 381253 h 482600"/>
              <a:gd name="connisteX8" fmla="*/ 0 w 5657850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657850" h="482600">
                <a:moveTo>
                  <a:pt x="0" y="101346"/>
                </a:moveTo>
                <a:cubicBezTo>
                  <a:pt x="0" y="45374"/>
                  <a:pt x="37997" y="0"/>
                  <a:pt x="84868" y="0"/>
                </a:cubicBezTo>
                <a:lnTo>
                  <a:pt x="5572982" y="0"/>
                </a:lnTo>
                <a:cubicBezTo>
                  <a:pt x="5619853" y="0"/>
                  <a:pt x="5657850" y="45374"/>
                  <a:pt x="5657850" y="101346"/>
                </a:cubicBezTo>
                <a:lnTo>
                  <a:pt x="5657850" y="381254"/>
                </a:lnTo>
                <a:cubicBezTo>
                  <a:pt x="5657850" y="437226"/>
                  <a:pt x="5619853" y="482600"/>
                  <a:pt x="5572982" y="482600"/>
                </a:cubicBezTo>
                <a:lnTo>
                  <a:pt x="84868" y="482600"/>
                </a:lnTo>
                <a:cubicBezTo>
                  <a:pt x="37997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266700" y="1060450"/>
            <a:ext cx="101600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48310" y="1096645"/>
            <a:ext cx="2716530" cy="38354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四维 Pearson 相关系数</a:t>
            </a:r>
            <a:endParaRPr lang="zh-CN" altLang="en-US" sz="19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178550" y="1060450"/>
            <a:ext cx="5746750" cy="482600"/>
          </a:xfrm>
          <a:custGeom>
            <a:avLst/>
            <a:gdLst>
              <a:gd name="connisteX0" fmla="*/ 0 w 5746750"/>
              <a:gd name="connsiteY0" fmla="*/ 101346 h 482600"/>
              <a:gd name="connisteX1" fmla="*/ 86201 w 5746750"/>
              <a:gd name="connsiteY1" fmla="*/ 0 h 482600"/>
              <a:gd name="connisteX2" fmla="*/ 5660548 w 5746750"/>
              <a:gd name="connsiteY2" fmla="*/ 0 h 482600"/>
              <a:gd name="connisteX3" fmla="*/ 5746750 w 5746750"/>
              <a:gd name="connsiteY3" fmla="*/ 101346 h 482600"/>
              <a:gd name="connisteX4" fmla="*/ 5746750 w 5746750"/>
              <a:gd name="connsiteY4" fmla="*/ 381253 h 482600"/>
              <a:gd name="connisteX5" fmla="*/ 5660548 w 5746750"/>
              <a:gd name="connsiteY5" fmla="*/ 482600 h 482600"/>
              <a:gd name="connisteX6" fmla="*/ 86201 w 5746750"/>
              <a:gd name="connsiteY6" fmla="*/ 482600 h 482600"/>
              <a:gd name="connisteX7" fmla="*/ 0 w 5746750"/>
              <a:gd name="connsiteY7" fmla="*/ 381253 h 482600"/>
              <a:gd name="connisteX8" fmla="*/ 0 w 5746750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746750" h="482600">
                <a:moveTo>
                  <a:pt x="0" y="101346"/>
                </a:moveTo>
                <a:cubicBezTo>
                  <a:pt x="0" y="45374"/>
                  <a:pt x="38594" y="0"/>
                  <a:pt x="86201" y="0"/>
                </a:cubicBezTo>
                <a:lnTo>
                  <a:pt x="5660549" y="0"/>
                </a:lnTo>
                <a:cubicBezTo>
                  <a:pt x="5708156" y="0"/>
                  <a:pt x="5746750" y="45374"/>
                  <a:pt x="5746750" y="101346"/>
                </a:cubicBezTo>
                <a:lnTo>
                  <a:pt x="5746750" y="381254"/>
                </a:lnTo>
                <a:cubicBezTo>
                  <a:pt x="5746750" y="437226"/>
                  <a:pt x="5708156" y="482600"/>
                  <a:pt x="5660549" y="482600"/>
                </a:cubicBezTo>
                <a:lnTo>
                  <a:pt x="86201" y="482600"/>
                </a:lnTo>
                <a:cubicBezTo>
                  <a:pt x="38594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6178550" y="1060450"/>
            <a:ext cx="100965" cy="481965"/>
          </a:xfrm>
          <a:custGeom>
            <a:avLst/>
            <a:gdLst>
              <a:gd name="connisteX0" fmla="*/ 0 w 101599"/>
              <a:gd name="connsiteY0" fmla="*/ 50672 h 482599"/>
              <a:gd name="connisteX1" fmla="*/ 50800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800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347460" y="1093470"/>
            <a:ext cx="1871980" cy="38354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两组代表性关系</a:t>
            </a:r>
            <a:endParaRPr lang="zh-CN" altLang="en-US" sz="19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1160" y="1623695"/>
            <a:ext cx="287782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样本：固定门槛后的 114 条候选</a:t>
            </a:r>
            <a:endParaRPr lang="zh-CN" altLang="en-US" sz="15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886585" y="1913255"/>
            <a:ext cx="576580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约束</a:t>
            </a:r>
            <a:endParaRPr lang="zh-CN" altLang="en-US" sz="15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82675" y="2589530"/>
            <a:ext cx="576580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约束</a:t>
            </a:r>
            <a:endParaRPr lang="zh-CN" altLang="en-US" sz="15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651760" y="1913255"/>
            <a:ext cx="773430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保守性</a:t>
            </a:r>
            <a:endParaRPr lang="zh-CN" altLang="en-US" sz="15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80110" y="3459480"/>
            <a:ext cx="773430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保守性</a:t>
            </a:r>
            <a:endParaRPr lang="zh-CN" altLang="en-US" sz="15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521710" y="1915795"/>
            <a:ext cx="773430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新颖性</a:t>
            </a:r>
            <a:endParaRPr lang="zh-CN" altLang="en-US" sz="15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80110" y="4332605"/>
            <a:ext cx="773430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新颖性</a:t>
            </a:r>
            <a:endParaRPr lang="zh-CN" altLang="en-US" sz="15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391660" y="1913255"/>
            <a:ext cx="773430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独特性</a:t>
            </a:r>
            <a:endParaRPr lang="zh-CN" altLang="en-US" sz="15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80110" y="5199380"/>
            <a:ext cx="773430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独特性</a:t>
            </a:r>
            <a:endParaRPr lang="zh-CN" altLang="en-US" sz="15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1733550" y="2324100"/>
            <a:ext cx="844550" cy="844550"/>
          </a:xfrm>
          <a:custGeom>
            <a:avLst/>
            <a:gdLst>
              <a:gd name="connisteX0" fmla="*/ 0 w 844550"/>
              <a:gd name="connsiteY0" fmla="*/ 16891 h 844550"/>
              <a:gd name="connisteX1" fmla="*/ 16891 w 844550"/>
              <a:gd name="connsiteY1" fmla="*/ 0 h 844550"/>
              <a:gd name="connisteX2" fmla="*/ 827658 w 844550"/>
              <a:gd name="connsiteY2" fmla="*/ 0 h 844550"/>
              <a:gd name="connisteX3" fmla="*/ 844550 w 844550"/>
              <a:gd name="connsiteY3" fmla="*/ 16891 h 844550"/>
              <a:gd name="connisteX4" fmla="*/ 844550 w 844550"/>
              <a:gd name="connsiteY4" fmla="*/ 827658 h 844550"/>
              <a:gd name="connisteX5" fmla="*/ 827658 w 844550"/>
              <a:gd name="connsiteY5" fmla="*/ 844550 h 844550"/>
              <a:gd name="connisteX6" fmla="*/ 16891 w 844550"/>
              <a:gd name="connsiteY6" fmla="*/ 844550 h 844550"/>
              <a:gd name="connisteX7" fmla="*/ 0 w 844550"/>
              <a:gd name="connsiteY7" fmla="*/ 827658 h 844550"/>
              <a:gd name="connisteX8" fmla="*/ 0 w 844550"/>
              <a:gd name="connsiteY8" fmla="*/ 16891 h 8445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1A65A4"/>
          </a:solidFill>
        </p:spPr>
        <p:txBody>
          <a:bodyPr/>
          <a:p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797685" y="2573020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1.000</a:t>
            </a:r>
            <a:endParaRPr lang="zh-CN" altLang="en-US" sz="1750" b="1">
              <a:solidFill>
                <a:srgbClr val="FFFFFF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2603500" y="2324100"/>
            <a:ext cx="843915" cy="844550"/>
          </a:xfrm>
          <a:custGeom>
            <a:avLst/>
            <a:gdLst>
              <a:gd name="connisteX0" fmla="*/ 0 w 844549"/>
              <a:gd name="connsiteY0" fmla="*/ 16891 h 844550"/>
              <a:gd name="connisteX1" fmla="*/ 16891 w 844549"/>
              <a:gd name="connsiteY1" fmla="*/ 0 h 844550"/>
              <a:gd name="connisteX2" fmla="*/ 827658 w 844549"/>
              <a:gd name="connsiteY2" fmla="*/ 0 h 844550"/>
              <a:gd name="connisteX3" fmla="*/ 844549 w 844549"/>
              <a:gd name="connsiteY3" fmla="*/ 16891 h 844550"/>
              <a:gd name="connisteX4" fmla="*/ 844549 w 844549"/>
              <a:gd name="connsiteY4" fmla="*/ 827658 h 844550"/>
              <a:gd name="connisteX5" fmla="*/ 827658 w 844549"/>
              <a:gd name="connsiteY5" fmla="*/ 844550 h 844550"/>
              <a:gd name="connisteX6" fmla="*/ 16891 w 844549"/>
              <a:gd name="connsiteY6" fmla="*/ 844550 h 844550"/>
              <a:gd name="connisteX7" fmla="*/ 0 w 844549"/>
              <a:gd name="connsiteY7" fmla="*/ 827658 h 844550"/>
              <a:gd name="connisteX8" fmla="*/ 0 w 844549"/>
              <a:gd name="connsiteY8" fmla="*/ 16891 h 8445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ABC7DE"/>
          </a:solidFill>
        </p:spPr>
        <p:txBody>
          <a:bodyPr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2654935" y="2573020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0.364</a:t>
            </a:r>
            <a:endParaRPr lang="zh-CN" altLang="en-US" sz="1750" b="1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3473450" y="2324100"/>
            <a:ext cx="843915" cy="844550"/>
          </a:xfrm>
          <a:custGeom>
            <a:avLst/>
            <a:gdLst>
              <a:gd name="connisteX0" fmla="*/ 0 w 844549"/>
              <a:gd name="connsiteY0" fmla="*/ 16891 h 844550"/>
              <a:gd name="connisteX1" fmla="*/ 16890 w 844549"/>
              <a:gd name="connsiteY1" fmla="*/ 0 h 844550"/>
              <a:gd name="connisteX2" fmla="*/ 827658 w 844549"/>
              <a:gd name="connsiteY2" fmla="*/ 0 h 844550"/>
              <a:gd name="connisteX3" fmla="*/ 844549 w 844549"/>
              <a:gd name="connsiteY3" fmla="*/ 16891 h 844550"/>
              <a:gd name="connisteX4" fmla="*/ 844549 w 844549"/>
              <a:gd name="connsiteY4" fmla="*/ 827658 h 844550"/>
              <a:gd name="connisteX5" fmla="*/ 827658 w 844549"/>
              <a:gd name="connsiteY5" fmla="*/ 844550 h 844550"/>
              <a:gd name="connisteX6" fmla="*/ 16890 w 844549"/>
              <a:gd name="connsiteY6" fmla="*/ 844550 h 844550"/>
              <a:gd name="connisteX7" fmla="*/ 0 w 844549"/>
              <a:gd name="connsiteY7" fmla="*/ 827658 h 844550"/>
              <a:gd name="connisteX8" fmla="*/ 0 w 844549"/>
              <a:gd name="connsiteY8" fmla="*/ 16891 h 8445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EDD3BE"/>
          </a:solidFill>
        </p:spPr>
        <p:txBody>
          <a:bodyPr/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482975" y="2573020"/>
            <a:ext cx="814070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-0.381</a:t>
            </a:r>
            <a:endParaRPr lang="zh-CN" altLang="en-US" sz="1750" b="1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4343400" y="2324100"/>
            <a:ext cx="843915" cy="844550"/>
          </a:xfrm>
          <a:custGeom>
            <a:avLst/>
            <a:gdLst>
              <a:gd name="connisteX0" fmla="*/ 0 w 844549"/>
              <a:gd name="connsiteY0" fmla="*/ 16891 h 844550"/>
              <a:gd name="connisteX1" fmla="*/ 16890 w 844549"/>
              <a:gd name="connsiteY1" fmla="*/ 0 h 844550"/>
              <a:gd name="connisteX2" fmla="*/ 827658 w 844549"/>
              <a:gd name="connsiteY2" fmla="*/ 0 h 844550"/>
              <a:gd name="connisteX3" fmla="*/ 844549 w 844549"/>
              <a:gd name="connsiteY3" fmla="*/ 16891 h 844550"/>
              <a:gd name="connisteX4" fmla="*/ 844549 w 844549"/>
              <a:gd name="connsiteY4" fmla="*/ 827658 h 844550"/>
              <a:gd name="connisteX5" fmla="*/ 827658 w 844549"/>
              <a:gd name="connsiteY5" fmla="*/ 844550 h 844550"/>
              <a:gd name="connisteX6" fmla="*/ 16890 w 844549"/>
              <a:gd name="connsiteY6" fmla="*/ 844550 h 844550"/>
              <a:gd name="connisteX7" fmla="*/ 0 w 844549"/>
              <a:gd name="connsiteY7" fmla="*/ 827658 h 844550"/>
              <a:gd name="connisteX8" fmla="*/ 0 w 844549"/>
              <a:gd name="connsiteY8" fmla="*/ 16891 h 8445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EBCDB6"/>
          </a:solidFill>
        </p:spPr>
        <p:txBody>
          <a:bodyPr/>
          <a:p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352925" y="2573020"/>
            <a:ext cx="814070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-0.427</a:t>
            </a:r>
            <a:endParaRPr lang="zh-CN" altLang="en-US" sz="1750" b="1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3" name="任意多边形 32"/>
          <p:cNvSpPr/>
          <p:nvPr/>
        </p:nvSpPr>
        <p:spPr>
          <a:xfrm>
            <a:off x="1733550" y="3194050"/>
            <a:ext cx="844550" cy="843915"/>
          </a:xfrm>
          <a:custGeom>
            <a:avLst/>
            <a:gdLst>
              <a:gd name="connisteX0" fmla="*/ 0 w 844550"/>
              <a:gd name="connsiteY0" fmla="*/ 16891 h 844549"/>
              <a:gd name="connisteX1" fmla="*/ 16891 w 844550"/>
              <a:gd name="connsiteY1" fmla="*/ 0 h 844549"/>
              <a:gd name="connisteX2" fmla="*/ 827658 w 844550"/>
              <a:gd name="connsiteY2" fmla="*/ 0 h 844549"/>
              <a:gd name="connisteX3" fmla="*/ 844550 w 844550"/>
              <a:gd name="connsiteY3" fmla="*/ 16891 h 844549"/>
              <a:gd name="connisteX4" fmla="*/ 844550 w 844550"/>
              <a:gd name="connsiteY4" fmla="*/ 827658 h 844549"/>
              <a:gd name="connisteX5" fmla="*/ 827658 w 844550"/>
              <a:gd name="connsiteY5" fmla="*/ 844549 h 844549"/>
              <a:gd name="connisteX6" fmla="*/ 16891 w 844550"/>
              <a:gd name="connsiteY6" fmla="*/ 844549 h 844549"/>
              <a:gd name="connisteX7" fmla="*/ 0 w 844550"/>
              <a:gd name="connsiteY7" fmla="*/ 827658 h 844549"/>
              <a:gd name="connisteX8" fmla="*/ 0 w 844550"/>
              <a:gd name="connsiteY8" fmla="*/ 16891 h 8445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ABC7DE"/>
          </a:solidFill>
        </p:spPr>
        <p:txBody>
          <a:bodyPr/>
          <a:p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784350" y="3443605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0.364</a:t>
            </a:r>
            <a:endParaRPr lang="zh-CN" altLang="en-US" sz="1750" b="1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2603500" y="3194050"/>
            <a:ext cx="843915" cy="843915"/>
          </a:xfrm>
          <a:custGeom>
            <a:avLst/>
            <a:gdLst>
              <a:gd name="connisteX0" fmla="*/ 0 w 844549"/>
              <a:gd name="connsiteY0" fmla="*/ 16891 h 844549"/>
              <a:gd name="connisteX1" fmla="*/ 16891 w 844549"/>
              <a:gd name="connsiteY1" fmla="*/ 0 h 844549"/>
              <a:gd name="connisteX2" fmla="*/ 827658 w 844549"/>
              <a:gd name="connsiteY2" fmla="*/ 0 h 844549"/>
              <a:gd name="connisteX3" fmla="*/ 844549 w 844549"/>
              <a:gd name="connsiteY3" fmla="*/ 16891 h 844549"/>
              <a:gd name="connisteX4" fmla="*/ 844549 w 844549"/>
              <a:gd name="connsiteY4" fmla="*/ 827658 h 844549"/>
              <a:gd name="connisteX5" fmla="*/ 827658 w 844549"/>
              <a:gd name="connsiteY5" fmla="*/ 844549 h 844549"/>
              <a:gd name="connisteX6" fmla="*/ 16891 w 844549"/>
              <a:gd name="connsiteY6" fmla="*/ 844549 h 844549"/>
              <a:gd name="connisteX7" fmla="*/ 0 w 844549"/>
              <a:gd name="connsiteY7" fmla="*/ 827658 h 844549"/>
              <a:gd name="connisteX8" fmla="*/ 0 w 844549"/>
              <a:gd name="connsiteY8" fmla="*/ 16891 h 8445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1A65A4"/>
          </a:solidFill>
        </p:spPr>
        <p:txBody>
          <a:bodyPr/>
          <a:p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2667635" y="3443605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1.000</a:t>
            </a:r>
            <a:endParaRPr lang="zh-CN" altLang="en-US" sz="1750" b="1">
              <a:solidFill>
                <a:srgbClr val="FFFFFF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3473450" y="3194050"/>
            <a:ext cx="843915" cy="843915"/>
          </a:xfrm>
          <a:custGeom>
            <a:avLst/>
            <a:gdLst>
              <a:gd name="connisteX0" fmla="*/ 0 w 844549"/>
              <a:gd name="connsiteY0" fmla="*/ 16891 h 844549"/>
              <a:gd name="connisteX1" fmla="*/ 16890 w 844549"/>
              <a:gd name="connsiteY1" fmla="*/ 0 h 844549"/>
              <a:gd name="connisteX2" fmla="*/ 827658 w 844549"/>
              <a:gd name="connsiteY2" fmla="*/ 0 h 844549"/>
              <a:gd name="connisteX3" fmla="*/ 844549 w 844549"/>
              <a:gd name="connsiteY3" fmla="*/ 16891 h 844549"/>
              <a:gd name="connisteX4" fmla="*/ 844549 w 844549"/>
              <a:gd name="connsiteY4" fmla="*/ 827658 h 844549"/>
              <a:gd name="connisteX5" fmla="*/ 827658 w 844549"/>
              <a:gd name="connsiteY5" fmla="*/ 844549 h 844549"/>
              <a:gd name="connisteX6" fmla="*/ 16890 w 844549"/>
              <a:gd name="connsiteY6" fmla="*/ 844549 h 844549"/>
              <a:gd name="connisteX7" fmla="*/ 0 w 844549"/>
              <a:gd name="connsiteY7" fmla="*/ 827658 h 844549"/>
              <a:gd name="connisteX8" fmla="*/ 0 w 844549"/>
              <a:gd name="connsiteY8" fmla="*/ 16891 h 8445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EACBB2"/>
          </a:solidFill>
        </p:spPr>
        <p:txBody>
          <a:bodyPr/>
          <a:p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3482975" y="3443605"/>
            <a:ext cx="814070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-0.446</a:t>
            </a:r>
            <a:endParaRPr lang="zh-CN" altLang="en-US" sz="1750" b="1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9" name="任意多边形 38"/>
          <p:cNvSpPr/>
          <p:nvPr/>
        </p:nvSpPr>
        <p:spPr>
          <a:xfrm>
            <a:off x="4343400" y="3194050"/>
            <a:ext cx="843915" cy="843915"/>
          </a:xfrm>
          <a:custGeom>
            <a:avLst/>
            <a:gdLst>
              <a:gd name="connisteX0" fmla="*/ 0 w 844549"/>
              <a:gd name="connsiteY0" fmla="*/ 16891 h 844549"/>
              <a:gd name="connisteX1" fmla="*/ 16890 w 844549"/>
              <a:gd name="connsiteY1" fmla="*/ 0 h 844549"/>
              <a:gd name="connisteX2" fmla="*/ 827658 w 844549"/>
              <a:gd name="connsiteY2" fmla="*/ 0 h 844549"/>
              <a:gd name="connisteX3" fmla="*/ 844549 w 844549"/>
              <a:gd name="connsiteY3" fmla="*/ 16891 h 844549"/>
              <a:gd name="connisteX4" fmla="*/ 844549 w 844549"/>
              <a:gd name="connsiteY4" fmla="*/ 827658 h 844549"/>
              <a:gd name="connisteX5" fmla="*/ 827658 w 844549"/>
              <a:gd name="connsiteY5" fmla="*/ 844549 h 844549"/>
              <a:gd name="connisteX6" fmla="*/ 16890 w 844549"/>
              <a:gd name="connsiteY6" fmla="*/ 844549 h 844549"/>
              <a:gd name="connisteX7" fmla="*/ 0 w 844549"/>
              <a:gd name="connsiteY7" fmla="*/ 827658 h 844549"/>
              <a:gd name="connisteX8" fmla="*/ 0 w 844549"/>
              <a:gd name="connsiteY8" fmla="*/ 16891 h 8445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E8C6AB"/>
          </a:solidFill>
        </p:spPr>
        <p:txBody>
          <a:bodyPr/>
          <a:p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4352925" y="3443605"/>
            <a:ext cx="814070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-0.489</a:t>
            </a:r>
            <a:endParaRPr lang="zh-CN" altLang="en-US" sz="1750" b="1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1" name="任意多边形 40"/>
          <p:cNvSpPr/>
          <p:nvPr/>
        </p:nvSpPr>
        <p:spPr>
          <a:xfrm>
            <a:off x="1733550" y="4064000"/>
            <a:ext cx="844550" cy="843915"/>
          </a:xfrm>
          <a:custGeom>
            <a:avLst/>
            <a:gdLst>
              <a:gd name="connisteX0" fmla="*/ 0 w 844550"/>
              <a:gd name="connsiteY0" fmla="*/ 16890 h 844549"/>
              <a:gd name="connisteX1" fmla="*/ 16891 w 844550"/>
              <a:gd name="connsiteY1" fmla="*/ 0 h 844549"/>
              <a:gd name="connisteX2" fmla="*/ 827658 w 844550"/>
              <a:gd name="connsiteY2" fmla="*/ 0 h 844549"/>
              <a:gd name="connisteX3" fmla="*/ 844550 w 844550"/>
              <a:gd name="connsiteY3" fmla="*/ 16890 h 844549"/>
              <a:gd name="connisteX4" fmla="*/ 844550 w 844550"/>
              <a:gd name="connsiteY4" fmla="*/ 827658 h 844549"/>
              <a:gd name="connisteX5" fmla="*/ 827658 w 844550"/>
              <a:gd name="connsiteY5" fmla="*/ 844549 h 844549"/>
              <a:gd name="connisteX6" fmla="*/ 16891 w 844550"/>
              <a:gd name="connsiteY6" fmla="*/ 844549 h 844549"/>
              <a:gd name="connisteX7" fmla="*/ 0 w 844550"/>
              <a:gd name="connsiteY7" fmla="*/ 827658 h 844549"/>
              <a:gd name="connisteX8" fmla="*/ 0 w 844550"/>
              <a:gd name="connsiteY8" fmla="*/ 16890 h 8445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EDD3BE"/>
          </a:solidFill>
        </p:spPr>
        <p:txBody>
          <a:bodyPr/>
          <a:p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743710" y="4313555"/>
            <a:ext cx="814070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-0.381</a:t>
            </a:r>
            <a:endParaRPr lang="zh-CN" altLang="en-US" sz="1750" b="1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3" name="任意多边形 42"/>
          <p:cNvSpPr/>
          <p:nvPr/>
        </p:nvSpPr>
        <p:spPr>
          <a:xfrm>
            <a:off x="2603500" y="4064000"/>
            <a:ext cx="843915" cy="843915"/>
          </a:xfrm>
          <a:custGeom>
            <a:avLst/>
            <a:gdLst>
              <a:gd name="connisteX0" fmla="*/ 0 w 844549"/>
              <a:gd name="connsiteY0" fmla="*/ 16890 h 844549"/>
              <a:gd name="connisteX1" fmla="*/ 16891 w 844549"/>
              <a:gd name="connsiteY1" fmla="*/ 0 h 844549"/>
              <a:gd name="connisteX2" fmla="*/ 827658 w 844549"/>
              <a:gd name="connsiteY2" fmla="*/ 0 h 844549"/>
              <a:gd name="connisteX3" fmla="*/ 844549 w 844549"/>
              <a:gd name="connsiteY3" fmla="*/ 16890 h 844549"/>
              <a:gd name="connisteX4" fmla="*/ 844549 w 844549"/>
              <a:gd name="connsiteY4" fmla="*/ 827658 h 844549"/>
              <a:gd name="connisteX5" fmla="*/ 827658 w 844549"/>
              <a:gd name="connsiteY5" fmla="*/ 844549 h 844549"/>
              <a:gd name="connisteX6" fmla="*/ 16891 w 844549"/>
              <a:gd name="connsiteY6" fmla="*/ 844549 h 844549"/>
              <a:gd name="connisteX7" fmla="*/ 0 w 844549"/>
              <a:gd name="connsiteY7" fmla="*/ 827658 h 844549"/>
              <a:gd name="connisteX8" fmla="*/ 0 w 844549"/>
              <a:gd name="connsiteY8" fmla="*/ 16890 h 8445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EACBB2"/>
          </a:solidFill>
        </p:spPr>
        <p:txBody>
          <a:bodyPr/>
          <a:p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2613660" y="4313555"/>
            <a:ext cx="814070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-0.446</a:t>
            </a:r>
            <a:endParaRPr lang="zh-CN" altLang="en-US" sz="1750" b="1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5" name="任意多边形 44"/>
          <p:cNvSpPr/>
          <p:nvPr/>
        </p:nvSpPr>
        <p:spPr>
          <a:xfrm>
            <a:off x="3473450" y="4064000"/>
            <a:ext cx="843915" cy="843915"/>
          </a:xfrm>
          <a:custGeom>
            <a:avLst/>
            <a:gdLst>
              <a:gd name="connisteX0" fmla="*/ 0 w 844549"/>
              <a:gd name="connsiteY0" fmla="*/ 16890 h 844549"/>
              <a:gd name="connisteX1" fmla="*/ 16890 w 844549"/>
              <a:gd name="connsiteY1" fmla="*/ 0 h 844549"/>
              <a:gd name="connisteX2" fmla="*/ 827658 w 844549"/>
              <a:gd name="connsiteY2" fmla="*/ 0 h 844549"/>
              <a:gd name="connisteX3" fmla="*/ 844549 w 844549"/>
              <a:gd name="connsiteY3" fmla="*/ 16890 h 844549"/>
              <a:gd name="connisteX4" fmla="*/ 844549 w 844549"/>
              <a:gd name="connsiteY4" fmla="*/ 827658 h 844549"/>
              <a:gd name="connisteX5" fmla="*/ 827658 w 844549"/>
              <a:gd name="connsiteY5" fmla="*/ 844549 h 844549"/>
              <a:gd name="connisteX6" fmla="*/ 16890 w 844549"/>
              <a:gd name="connsiteY6" fmla="*/ 844549 h 844549"/>
              <a:gd name="connisteX7" fmla="*/ 0 w 844549"/>
              <a:gd name="connsiteY7" fmla="*/ 827658 h 844549"/>
              <a:gd name="connisteX8" fmla="*/ 0 w 844549"/>
              <a:gd name="connsiteY8" fmla="*/ 16890 h 8445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1A65A4"/>
          </a:solidFill>
        </p:spPr>
        <p:txBody>
          <a:bodyPr/>
          <a:p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3536950" y="4313555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1.000</a:t>
            </a:r>
            <a:endParaRPr lang="zh-CN" altLang="en-US" sz="1750" b="1">
              <a:solidFill>
                <a:srgbClr val="FFFFFF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7" name="任意多边形 46"/>
          <p:cNvSpPr/>
          <p:nvPr/>
        </p:nvSpPr>
        <p:spPr>
          <a:xfrm>
            <a:off x="4343400" y="4064000"/>
            <a:ext cx="843915" cy="843915"/>
          </a:xfrm>
          <a:custGeom>
            <a:avLst/>
            <a:gdLst>
              <a:gd name="connisteX0" fmla="*/ 0 w 844549"/>
              <a:gd name="connsiteY0" fmla="*/ 16890 h 844549"/>
              <a:gd name="connisteX1" fmla="*/ 16890 w 844549"/>
              <a:gd name="connsiteY1" fmla="*/ 0 h 844549"/>
              <a:gd name="connisteX2" fmla="*/ 827658 w 844549"/>
              <a:gd name="connsiteY2" fmla="*/ 0 h 844549"/>
              <a:gd name="connisteX3" fmla="*/ 844549 w 844549"/>
              <a:gd name="connsiteY3" fmla="*/ 16890 h 844549"/>
              <a:gd name="connisteX4" fmla="*/ 844549 w 844549"/>
              <a:gd name="connsiteY4" fmla="*/ 827658 h 844549"/>
              <a:gd name="connisteX5" fmla="*/ 827658 w 844549"/>
              <a:gd name="connsiteY5" fmla="*/ 844549 h 844549"/>
              <a:gd name="connisteX6" fmla="*/ 16890 w 844549"/>
              <a:gd name="connsiteY6" fmla="*/ 844549 h 844549"/>
              <a:gd name="connisteX7" fmla="*/ 0 w 844549"/>
              <a:gd name="connsiteY7" fmla="*/ 827658 h 844549"/>
              <a:gd name="connisteX8" fmla="*/ 0 w 844549"/>
              <a:gd name="connsiteY8" fmla="*/ 16890 h 8445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1F69A6"/>
          </a:solidFill>
        </p:spPr>
        <p:txBody>
          <a:bodyPr/>
          <a:p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4394200" y="4313555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0.975</a:t>
            </a:r>
            <a:endParaRPr lang="zh-CN" altLang="en-US" sz="1750" b="1">
              <a:solidFill>
                <a:srgbClr val="FFFFFF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9" name="任意多边形 48"/>
          <p:cNvSpPr/>
          <p:nvPr/>
        </p:nvSpPr>
        <p:spPr>
          <a:xfrm>
            <a:off x="1733550" y="4933950"/>
            <a:ext cx="844550" cy="843915"/>
          </a:xfrm>
          <a:custGeom>
            <a:avLst/>
            <a:gdLst>
              <a:gd name="connisteX0" fmla="*/ 0 w 844550"/>
              <a:gd name="connsiteY0" fmla="*/ 16890 h 844549"/>
              <a:gd name="connisteX1" fmla="*/ 16891 w 844550"/>
              <a:gd name="connsiteY1" fmla="*/ 0 h 844549"/>
              <a:gd name="connisteX2" fmla="*/ 827658 w 844550"/>
              <a:gd name="connsiteY2" fmla="*/ 0 h 844549"/>
              <a:gd name="connisteX3" fmla="*/ 844550 w 844550"/>
              <a:gd name="connsiteY3" fmla="*/ 16890 h 844549"/>
              <a:gd name="connisteX4" fmla="*/ 844550 w 844550"/>
              <a:gd name="connsiteY4" fmla="*/ 827658 h 844549"/>
              <a:gd name="connisteX5" fmla="*/ 827658 w 844550"/>
              <a:gd name="connsiteY5" fmla="*/ 844549 h 844549"/>
              <a:gd name="connisteX6" fmla="*/ 16891 w 844550"/>
              <a:gd name="connsiteY6" fmla="*/ 844549 h 844549"/>
              <a:gd name="connisteX7" fmla="*/ 0 w 844550"/>
              <a:gd name="connsiteY7" fmla="*/ 827658 h 844549"/>
              <a:gd name="connisteX8" fmla="*/ 0 w 844550"/>
              <a:gd name="connsiteY8" fmla="*/ 16890 h 8445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EBCDB6"/>
          </a:solidFill>
        </p:spPr>
        <p:txBody>
          <a:bodyPr/>
          <a:p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1743710" y="5183505"/>
            <a:ext cx="814070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-0.427</a:t>
            </a:r>
            <a:endParaRPr lang="zh-CN" altLang="en-US" sz="1750" b="1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1" name="任意多边形 50"/>
          <p:cNvSpPr/>
          <p:nvPr/>
        </p:nvSpPr>
        <p:spPr>
          <a:xfrm>
            <a:off x="2603500" y="4933950"/>
            <a:ext cx="843915" cy="843915"/>
          </a:xfrm>
          <a:custGeom>
            <a:avLst/>
            <a:gdLst>
              <a:gd name="connisteX0" fmla="*/ 0 w 844549"/>
              <a:gd name="connsiteY0" fmla="*/ 16890 h 844549"/>
              <a:gd name="connisteX1" fmla="*/ 16891 w 844549"/>
              <a:gd name="connsiteY1" fmla="*/ 0 h 844549"/>
              <a:gd name="connisteX2" fmla="*/ 827658 w 844549"/>
              <a:gd name="connsiteY2" fmla="*/ 0 h 844549"/>
              <a:gd name="connisteX3" fmla="*/ 844549 w 844549"/>
              <a:gd name="connsiteY3" fmla="*/ 16890 h 844549"/>
              <a:gd name="connisteX4" fmla="*/ 844549 w 844549"/>
              <a:gd name="connsiteY4" fmla="*/ 827658 h 844549"/>
              <a:gd name="connisteX5" fmla="*/ 827658 w 844549"/>
              <a:gd name="connsiteY5" fmla="*/ 844549 h 844549"/>
              <a:gd name="connisteX6" fmla="*/ 16891 w 844549"/>
              <a:gd name="connsiteY6" fmla="*/ 844549 h 844549"/>
              <a:gd name="connisteX7" fmla="*/ 0 w 844549"/>
              <a:gd name="connsiteY7" fmla="*/ 827658 h 844549"/>
              <a:gd name="connisteX8" fmla="*/ 0 w 844549"/>
              <a:gd name="connsiteY8" fmla="*/ 16890 h 8445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E8C6AB"/>
          </a:solidFill>
        </p:spPr>
        <p:txBody>
          <a:bodyPr/>
          <a:p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2613660" y="5183505"/>
            <a:ext cx="814070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-0.489</a:t>
            </a:r>
            <a:endParaRPr lang="zh-CN" altLang="en-US" sz="1750" b="1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3" name="任意多边形 52"/>
          <p:cNvSpPr/>
          <p:nvPr/>
        </p:nvSpPr>
        <p:spPr>
          <a:xfrm>
            <a:off x="3473450" y="4933950"/>
            <a:ext cx="843915" cy="843915"/>
          </a:xfrm>
          <a:custGeom>
            <a:avLst/>
            <a:gdLst>
              <a:gd name="connisteX0" fmla="*/ 0 w 844549"/>
              <a:gd name="connsiteY0" fmla="*/ 16890 h 844549"/>
              <a:gd name="connisteX1" fmla="*/ 16890 w 844549"/>
              <a:gd name="connsiteY1" fmla="*/ 0 h 844549"/>
              <a:gd name="connisteX2" fmla="*/ 827658 w 844549"/>
              <a:gd name="connsiteY2" fmla="*/ 0 h 844549"/>
              <a:gd name="connisteX3" fmla="*/ 844549 w 844549"/>
              <a:gd name="connsiteY3" fmla="*/ 16890 h 844549"/>
              <a:gd name="connisteX4" fmla="*/ 844549 w 844549"/>
              <a:gd name="connsiteY4" fmla="*/ 827658 h 844549"/>
              <a:gd name="connisteX5" fmla="*/ 827658 w 844549"/>
              <a:gd name="connsiteY5" fmla="*/ 844549 h 844549"/>
              <a:gd name="connisteX6" fmla="*/ 16890 w 844549"/>
              <a:gd name="connsiteY6" fmla="*/ 844549 h 844549"/>
              <a:gd name="connisteX7" fmla="*/ 0 w 844549"/>
              <a:gd name="connsiteY7" fmla="*/ 827658 h 844549"/>
              <a:gd name="connisteX8" fmla="*/ 0 w 844549"/>
              <a:gd name="connsiteY8" fmla="*/ 16890 h 8445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1F69A6"/>
          </a:solidFill>
        </p:spPr>
        <p:txBody>
          <a:bodyPr/>
          <a:p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3524250" y="5183505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0.975</a:t>
            </a:r>
            <a:endParaRPr lang="zh-CN" altLang="en-US" sz="1750" b="1">
              <a:solidFill>
                <a:srgbClr val="FFFFFF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5" name="任意多边形 54"/>
          <p:cNvSpPr/>
          <p:nvPr/>
        </p:nvSpPr>
        <p:spPr>
          <a:xfrm>
            <a:off x="4343400" y="4933950"/>
            <a:ext cx="843915" cy="843915"/>
          </a:xfrm>
          <a:custGeom>
            <a:avLst/>
            <a:gdLst>
              <a:gd name="connisteX0" fmla="*/ 0 w 844549"/>
              <a:gd name="connsiteY0" fmla="*/ 16890 h 844549"/>
              <a:gd name="connisteX1" fmla="*/ 16890 w 844549"/>
              <a:gd name="connsiteY1" fmla="*/ 0 h 844549"/>
              <a:gd name="connisteX2" fmla="*/ 827658 w 844549"/>
              <a:gd name="connsiteY2" fmla="*/ 0 h 844549"/>
              <a:gd name="connisteX3" fmla="*/ 844549 w 844549"/>
              <a:gd name="connsiteY3" fmla="*/ 16890 h 844549"/>
              <a:gd name="connisteX4" fmla="*/ 844549 w 844549"/>
              <a:gd name="connsiteY4" fmla="*/ 827658 h 844549"/>
              <a:gd name="connisteX5" fmla="*/ 827658 w 844549"/>
              <a:gd name="connsiteY5" fmla="*/ 844549 h 844549"/>
              <a:gd name="connisteX6" fmla="*/ 16890 w 844549"/>
              <a:gd name="connsiteY6" fmla="*/ 844549 h 844549"/>
              <a:gd name="connisteX7" fmla="*/ 0 w 844549"/>
              <a:gd name="connsiteY7" fmla="*/ 827658 h 844549"/>
              <a:gd name="connisteX8" fmla="*/ 0 w 844549"/>
              <a:gd name="connsiteY8" fmla="*/ 16890 h 8445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844550" h="844550">
                <a:moveTo>
                  <a:pt x="0" y="16891"/>
                </a:moveTo>
                <a:cubicBezTo>
                  <a:pt x="0" y="7562"/>
                  <a:pt x="7562" y="0"/>
                  <a:pt x="16891" y="0"/>
                </a:cubicBezTo>
                <a:lnTo>
                  <a:pt x="827659" y="0"/>
                </a:lnTo>
                <a:cubicBezTo>
                  <a:pt x="836988" y="0"/>
                  <a:pt x="844550" y="7562"/>
                  <a:pt x="844550" y="16891"/>
                </a:cubicBezTo>
                <a:lnTo>
                  <a:pt x="844550" y="827659"/>
                </a:lnTo>
                <a:cubicBezTo>
                  <a:pt x="844550" y="836988"/>
                  <a:pt x="836988" y="844550"/>
                  <a:pt x="827659" y="844550"/>
                </a:cubicBezTo>
                <a:lnTo>
                  <a:pt x="16891" y="844550"/>
                </a:lnTo>
                <a:cubicBezTo>
                  <a:pt x="7562" y="844550"/>
                  <a:pt x="0" y="836988"/>
                  <a:pt x="0" y="827659"/>
                </a:cubicBezTo>
                <a:lnTo>
                  <a:pt x="0" y="16891"/>
                </a:lnTo>
                <a:close/>
              </a:path>
            </a:pathLst>
          </a:custGeom>
          <a:solidFill>
            <a:srgbClr val="1A65A4"/>
          </a:solidFill>
        </p:spPr>
        <p:txBody>
          <a:bodyPr/>
          <a:p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4407535" y="5183505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1.000</a:t>
            </a:r>
            <a:endParaRPr lang="zh-CN" altLang="en-US" sz="1750" b="1">
              <a:solidFill>
                <a:srgbClr val="FFFFFF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91160" y="5812155"/>
            <a:ext cx="3196590" cy="2914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3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蓝：正相关 橙：负相关；系数范围 −1～1</a:t>
            </a:r>
            <a:endParaRPr lang="zh-CN" altLang="en-US" sz="13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303010" y="1604645"/>
            <a:ext cx="3560445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新颖性 ↔ 独特性：r = 0.975 · ρ = 0.969</a:t>
            </a:r>
            <a:endParaRPr lang="zh-CN" altLang="en-US" sz="15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9" name="任意多边形 58"/>
          <p:cNvSpPr/>
          <p:nvPr/>
        </p:nvSpPr>
        <p:spPr>
          <a:xfrm>
            <a:off x="6921500" y="2146300"/>
            <a:ext cx="0" cy="1181100"/>
          </a:xfrm>
          <a:custGeom>
            <a:avLst/>
            <a:gdLst>
              <a:gd name="connisteX0" fmla="*/ 0 w 0"/>
              <a:gd name="connsiteY0" fmla="*/ 0 h 1181100"/>
              <a:gd name="connisteX1" fmla="*/ 0 w 0"/>
              <a:gd name="connsiteY1" fmla="*/ 1181100 h 11811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DFEA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6728460" y="3316605"/>
            <a:ext cx="394335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0.0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61" name="任意多边形 60"/>
          <p:cNvSpPr/>
          <p:nvPr/>
        </p:nvSpPr>
        <p:spPr>
          <a:xfrm>
            <a:off x="8242300" y="2146300"/>
            <a:ext cx="0" cy="1181100"/>
          </a:xfrm>
          <a:custGeom>
            <a:avLst/>
            <a:gdLst>
              <a:gd name="connisteX0" fmla="*/ 0 w 0"/>
              <a:gd name="connsiteY0" fmla="*/ 0 h 1181100"/>
              <a:gd name="connisteX1" fmla="*/ 0 w 0"/>
              <a:gd name="connsiteY1" fmla="*/ 1181100 h 11811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DFEA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8049260" y="3316605"/>
            <a:ext cx="394335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0.2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63" name="任意多边形 62"/>
          <p:cNvSpPr/>
          <p:nvPr/>
        </p:nvSpPr>
        <p:spPr>
          <a:xfrm>
            <a:off x="9563100" y="2146300"/>
            <a:ext cx="0" cy="1181100"/>
          </a:xfrm>
          <a:custGeom>
            <a:avLst/>
            <a:gdLst>
              <a:gd name="connisteX0" fmla="*/ 0 w 0"/>
              <a:gd name="connsiteY0" fmla="*/ 0 h 1181100"/>
              <a:gd name="connisteX1" fmla="*/ 0 w 0"/>
              <a:gd name="connsiteY1" fmla="*/ 1181100 h 11811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DFEA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9370060" y="3316605"/>
            <a:ext cx="394335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0.4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65" name="任意多边形 64"/>
          <p:cNvSpPr/>
          <p:nvPr/>
        </p:nvSpPr>
        <p:spPr>
          <a:xfrm>
            <a:off x="10883265" y="2146300"/>
            <a:ext cx="0" cy="1181100"/>
          </a:xfrm>
          <a:custGeom>
            <a:avLst/>
            <a:gdLst>
              <a:gd name="connisteX0" fmla="*/ 0 w 0"/>
              <a:gd name="connsiteY0" fmla="*/ 0 h 1181100"/>
              <a:gd name="connisteX1" fmla="*/ 0 w 0"/>
              <a:gd name="connsiteY1" fmla="*/ 1181100 h 11811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DFEA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0690860" y="3316605"/>
            <a:ext cx="394335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0.6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67" name="任意多边形 66"/>
          <p:cNvSpPr/>
          <p:nvPr/>
        </p:nvSpPr>
        <p:spPr>
          <a:xfrm>
            <a:off x="6921500" y="3219450"/>
            <a:ext cx="4622800" cy="0"/>
          </a:xfrm>
          <a:custGeom>
            <a:avLst/>
            <a:gdLst>
              <a:gd name="connisteX0" fmla="*/ 0 w 4622800"/>
              <a:gd name="connsiteY0" fmla="*/ 0 h 0"/>
              <a:gd name="connisteX1" fmla="*/ 4622800 w 4622800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DFEA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6531610" y="3068955"/>
            <a:ext cx="394335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0.3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69" name="任意多边形 68"/>
          <p:cNvSpPr/>
          <p:nvPr/>
        </p:nvSpPr>
        <p:spPr>
          <a:xfrm>
            <a:off x="6921500" y="2790190"/>
            <a:ext cx="4622800" cy="0"/>
          </a:xfrm>
          <a:custGeom>
            <a:avLst/>
            <a:gdLst>
              <a:gd name="connisteX0" fmla="*/ 0 w 4622800"/>
              <a:gd name="connsiteY0" fmla="*/ 0 h 0"/>
              <a:gd name="connisteX1" fmla="*/ 4622800 w 4622800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DFEA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6531610" y="2639695"/>
            <a:ext cx="394335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0.5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71" name="任意多边形 70"/>
          <p:cNvSpPr/>
          <p:nvPr/>
        </p:nvSpPr>
        <p:spPr>
          <a:xfrm>
            <a:off x="6921500" y="2360930"/>
            <a:ext cx="4622800" cy="0"/>
          </a:xfrm>
          <a:custGeom>
            <a:avLst/>
            <a:gdLst>
              <a:gd name="connisteX0" fmla="*/ 0 w 4622800"/>
              <a:gd name="connsiteY0" fmla="*/ 0 h 0"/>
              <a:gd name="connisteX1" fmla="*/ 4622800 w 4622800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DFEA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6531610" y="2210435"/>
            <a:ext cx="394335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0.7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73" name="任意多边形 72"/>
          <p:cNvSpPr/>
          <p:nvPr/>
        </p:nvSpPr>
        <p:spPr>
          <a:xfrm>
            <a:off x="6921500" y="2146300"/>
            <a:ext cx="0" cy="1181100"/>
          </a:xfrm>
          <a:custGeom>
            <a:avLst/>
            <a:gdLst>
              <a:gd name="connisteX0" fmla="*/ 0 w 0"/>
              <a:gd name="connsiteY0" fmla="*/ 0 h 1181100"/>
              <a:gd name="connisteX1" fmla="*/ 0 w 0"/>
              <a:gd name="connsiteY1" fmla="*/ 1181100 h 11811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solidFill>
            <a:srgbClr val="000000"/>
          </a:solidFill>
          <a:ln w="12700" cap="flat">
            <a:solidFill>
              <a:srgbClr val="607C93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74" name="任意多边形 73"/>
          <p:cNvSpPr/>
          <p:nvPr/>
        </p:nvSpPr>
        <p:spPr>
          <a:xfrm>
            <a:off x="6921500" y="3327400"/>
            <a:ext cx="4622800" cy="0"/>
          </a:xfrm>
          <a:custGeom>
            <a:avLst/>
            <a:gdLst>
              <a:gd name="connisteX0" fmla="*/ 0 w 4622800"/>
              <a:gd name="connsiteY0" fmla="*/ 0 h 0"/>
              <a:gd name="connisteX1" fmla="*/ 4622800 w 4622800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solidFill>
            <a:srgbClr val="000000"/>
          </a:solidFill>
          <a:ln w="12700" cap="flat">
            <a:solidFill>
              <a:srgbClr val="607C93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grpSp>
        <p:nvGrpSpPr>
          <p:cNvPr id="189" name="组合 188"/>
          <p:cNvGrpSpPr/>
          <p:nvPr/>
        </p:nvGrpSpPr>
        <p:grpSpPr>
          <a:xfrm>
            <a:off x="7235825" y="2489200"/>
            <a:ext cx="3560445" cy="855345"/>
            <a:chOff x="11395" y="3920"/>
            <a:chExt cx="5607" cy="1347"/>
          </a:xfrm>
        </p:grpSpPr>
        <p:sp>
          <p:nvSpPr>
            <p:cNvPr id="75" name="任意多边形 74"/>
            <p:cNvSpPr/>
            <p:nvPr/>
          </p:nvSpPr>
          <p:spPr>
            <a:xfrm>
              <a:off x="13108" y="492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6" name="任意多边形 75"/>
            <p:cNvSpPr/>
            <p:nvPr/>
          </p:nvSpPr>
          <p:spPr>
            <a:xfrm>
              <a:off x="14668" y="4521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7" name="任意多边形 76"/>
            <p:cNvSpPr/>
            <p:nvPr/>
          </p:nvSpPr>
          <p:spPr>
            <a:xfrm>
              <a:off x="12694" y="488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8" name="任意多边形 77"/>
            <p:cNvSpPr/>
            <p:nvPr/>
          </p:nvSpPr>
          <p:spPr>
            <a:xfrm>
              <a:off x="12065" y="5072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9" name="任意多边形 78"/>
            <p:cNvSpPr/>
            <p:nvPr/>
          </p:nvSpPr>
          <p:spPr>
            <a:xfrm>
              <a:off x="14064" y="4543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0" name="任意多边形 79"/>
            <p:cNvSpPr/>
            <p:nvPr/>
          </p:nvSpPr>
          <p:spPr>
            <a:xfrm>
              <a:off x="12065" y="5102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1" name="任意多边形 80"/>
            <p:cNvSpPr/>
            <p:nvPr/>
          </p:nvSpPr>
          <p:spPr>
            <a:xfrm>
              <a:off x="13329" y="486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" name="任意多边形 81"/>
            <p:cNvSpPr/>
            <p:nvPr/>
          </p:nvSpPr>
          <p:spPr>
            <a:xfrm>
              <a:off x="16898" y="3920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13613" y="4922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4" name="任意多边形 83"/>
            <p:cNvSpPr/>
            <p:nvPr/>
          </p:nvSpPr>
          <p:spPr>
            <a:xfrm>
              <a:off x="11504" y="5163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5" name="任意多边形 84"/>
            <p:cNvSpPr/>
            <p:nvPr/>
          </p:nvSpPr>
          <p:spPr>
            <a:xfrm>
              <a:off x="14040" y="4597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6" name="任意多边形 85"/>
            <p:cNvSpPr/>
            <p:nvPr/>
          </p:nvSpPr>
          <p:spPr>
            <a:xfrm>
              <a:off x="12581" y="4929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7" name="任意多边形 86"/>
            <p:cNvSpPr/>
            <p:nvPr/>
          </p:nvSpPr>
          <p:spPr>
            <a:xfrm>
              <a:off x="14796" y="4458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8" name="任意多边形 87"/>
            <p:cNvSpPr/>
            <p:nvPr/>
          </p:nvSpPr>
          <p:spPr>
            <a:xfrm>
              <a:off x="11823" y="5044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9" name="任意多边形 88"/>
            <p:cNvSpPr/>
            <p:nvPr/>
          </p:nvSpPr>
          <p:spPr>
            <a:xfrm>
              <a:off x="13804" y="4660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" name="任意多边形 89"/>
            <p:cNvSpPr/>
            <p:nvPr/>
          </p:nvSpPr>
          <p:spPr>
            <a:xfrm>
              <a:off x="11395" y="5151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1" name="任意多边形 90"/>
            <p:cNvSpPr/>
            <p:nvPr/>
          </p:nvSpPr>
          <p:spPr>
            <a:xfrm>
              <a:off x="12052" y="5025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" name="任意多边形 91"/>
            <p:cNvSpPr/>
            <p:nvPr/>
          </p:nvSpPr>
          <p:spPr>
            <a:xfrm>
              <a:off x="13640" y="4732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" name="任意多边形 92"/>
            <p:cNvSpPr/>
            <p:nvPr/>
          </p:nvSpPr>
          <p:spPr>
            <a:xfrm>
              <a:off x="11793" y="5037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4" name="任意多边形 93"/>
            <p:cNvSpPr/>
            <p:nvPr/>
          </p:nvSpPr>
          <p:spPr>
            <a:xfrm>
              <a:off x="14351" y="463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5" name="任意多边形 94"/>
            <p:cNvSpPr/>
            <p:nvPr/>
          </p:nvSpPr>
          <p:spPr>
            <a:xfrm>
              <a:off x="12995" y="4872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6" name="任意多边形 95"/>
            <p:cNvSpPr/>
            <p:nvPr/>
          </p:nvSpPr>
          <p:spPr>
            <a:xfrm>
              <a:off x="14595" y="4520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" name="任意多边形 96"/>
            <p:cNvSpPr/>
            <p:nvPr/>
          </p:nvSpPr>
          <p:spPr>
            <a:xfrm>
              <a:off x="15216" y="4397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8" name="任意多边形 97"/>
            <p:cNvSpPr/>
            <p:nvPr/>
          </p:nvSpPr>
          <p:spPr>
            <a:xfrm>
              <a:off x="12134" y="5030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>
              <a:off x="12656" y="4995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0" name="任意多边形 99"/>
            <p:cNvSpPr/>
            <p:nvPr/>
          </p:nvSpPr>
          <p:spPr>
            <a:xfrm>
              <a:off x="11833" y="507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1" name="任意多边形 100"/>
            <p:cNvSpPr/>
            <p:nvPr/>
          </p:nvSpPr>
          <p:spPr>
            <a:xfrm>
              <a:off x="12364" y="4956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" name="任意多边形 101"/>
            <p:cNvSpPr/>
            <p:nvPr/>
          </p:nvSpPr>
          <p:spPr>
            <a:xfrm>
              <a:off x="12791" y="4848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" name="任意多边形 102"/>
            <p:cNvSpPr/>
            <p:nvPr/>
          </p:nvSpPr>
          <p:spPr>
            <a:xfrm>
              <a:off x="12396" y="5000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" name="任意多边形 103"/>
            <p:cNvSpPr/>
            <p:nvPr/>
          </p:nvSpPr>
          <p:spPr>
            <a:xfrm>
              <a:off x="12927" y="4886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" name="任意多边形 104"/>
            <p:cNvSpPr/>
            <p:nvPr/>
          </p:nvSpPr>
          <p:spPr>
            <a:xfrm>
              <a:off x="12065" y="5067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" name="任意多边形 105"/>
            <p:cNvSpPr/>
            <p:nvPr/>
          </p:nvSpPr>
          <p:spPr>
            <a:xfrm>
              <a:off x="14892" y="447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" name="任意多边形 106"/>
            <p:cNvSpPr/>
            <p:nvPr/>
          </p:nvSpPr>
          <p:spPr>
            <a:xfrm>
              <a:off x="12839" y="4919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8" name="任意多边形 107"/>
            <p:cNvSpPr/>
            <p:nvPr/>
          </p:nvSpPr>
          <p:spPr>
            <a:xfrm>
              <a:off x="14388" y="4537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9" name="任意多边形 108"/>
            <p:cNvSpPr/>
            <p:nvPr/>
          </p:nvSpPr>
          <p:spPr>
            <a:xfrm>
              <a:off x="14423" y="4610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0" name="任意多边形 109"/>
            <p:cNvSpPr/>
            <p:nvPr/>
          </p:nvSpPr>
          <p:spPr>
            <a:xfrm>
              <a:off x="14640" y="4580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1" name="任意多边形 110"/>
            <p:cNvSpPr/>
            <p:nvPr/>
          </p:nvSpPr>
          <p:spPr>
            <a:xfrm>
              <a:off x="13574" y="4680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" name="任意多边形 111"/>
            <p:cNvSpPr/>
            <p:nvPr/>
          </p:nvSpPr>
          <p:spPr>
            <a:xfrm>
              <a:off x="13231" y="4775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" name="任意多边形 112"/>
            <p:cNvSpPr/>
            <p:nvPr/>
          </p:nvSpPr>
          <p:spPr>
            <a:xfrm>
              <a:off x="11395" y="5153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4" name="任意多边形 113"/>
            <p:cNvSpPr/>
            <p:nvPr/>
          </p:nvSpPr>
          <p:spPr>
            <a:xfrm>
              <a:off x="12618" y="4973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5" name="任意多边形 114"/>
            <p:cNvSpPr/>
            <p:nvPr/>
          </p:nvSpPr>
          <p:spPr>
            <a:xfrm>
              <a:off x="14554" y="4507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6" name="任意多边形 115"/>
            <p:cNvSpPr/>
            <p:nvPr/>
          </p:nvSpPr>
          <p:spPr>
            <a:xfrm>
              <a:off x="14460" y="4498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" name="任意多边形 116"/>
            <p:cNvSpPr/>
            <p:nvPr/>
          </p:nvSpPr>
          <p:spPr>
            <a:xfrm>
              <a:off x="11614" y="5077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8" name="任意多边形 117"/>
            <p:cNvSpPr/>
            <p:nvPr/>
          </p:nvSpPr>
          <p:spPr>
            <a:xfrm>
              <a:off x="13190" y="4821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9" name="任意多边形 118"/>
            <p:cNvSpPr/>
            <p:nvPr/>
          </p:nvSpPr>
          <p:spPr>
            <a:xfrm>
              <a:off x="14281" y="4564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0" name="任意多边形 119"/>
            <p:cNvSpPr/>
            <p:nvPr/>
          </p:nvSpPr>
          <p:spPr>
            <a:xfrm>
              <a:off x="14351" y="4564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1" name="任意多边形 120"/>
            <p:cNvSpPr/>
            <p:nvPr/>
          </p:nvSpPr>
          <p:spPr>
            <a:xfrm>
              <a:off x="12413" y="5019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2" name="任意多边形 121"/>
            <p:cNvSpPr/>
            <p:nvPr/>
          </p:nvSpPr>
          <p:spPr>
            <a:xfrm>
              <a:off x="13595" y="4684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" name="任意多边形 122"/>
            <p:cNvSpPr/>
            <p:nvPr/>
          </p:nvSpPr>
          <p:spPr>
            <a:xfrm>
              <a:off x="13182" y="4818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4" name="任意多边形 123"/>
            <p:cNvSpPr/>
            <p:nvPr/>
          </p:nvSpPr>
          <p:spPr>
            <a:xfrm>
              <a:off x="13948" y="4572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" name="任意多边形 124"/>
            <p:cNvSpPr/>
            <p:nvPr/>
          </p:nvSpPr>
          <p:spPr>
            <a:xfrm>
              <a:off x="12396" y="5015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6" name="任意多边形 125"/>
            <p:cNvSpPr/>
            <p:nvPr/>
          </p:nvSpPr>
          <p:spPr>
            <a:xfrm>
              <a:off x="11504" y="5123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>
              <a:off x="12161" y="5056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>
              <a:off x="12364" y="4968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>
              <a:off x="11942" y="5053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0" name="任意多边形 129"/>
            <p:cNvSpPr/>
            <p:nvPr/>
          </p:nvSpPr>
          <p:spPr>
            <a:xfrm>
              <a:off x="14352" y="4656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1" name="任意多边形 130"/>
            <p:cNvSpPr/>
            <p:nvPr/>
          </p:nvSpPr>
          <p:spPr>
            <a:xfrm>
              <a:off x="13119" y="4901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2" name="任意多边形 131"/>
            <p:cNvSpPr/>
            <p:nvPr/>
          </p:nvSpPr>
          <p:spPr>
            <a:xfrm>
              <a:off x="12377" y="4984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" name="任意多边形 132"/>
            <p:cNvSpPr/>
            <p:nvPr/>
          </p:nvSpPr>
          <p:spPr>
            <a:xfrm>
              <a:off x="12189" y="5033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4" name="任意多边形 133"/>
            <p:cNvSpPr/>
            <p:nvPr/>
          </p:nvSpPr>
          <p:spPr>
            <a:xfrm>
              <a:off x="11942" y="5102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5" name="任意多边形 134"/>
            <p:cNvSpPr/>
            <p:nvPr/>
          </p:nvSpPr>
          <p:spPr>
            <a:xfrm>
              <a:off x="14013" y="472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6" name="任意多边形 135"/>
            <p:cNvSpPr/>
            <p:nvPr/>
          </p:nvSpPr>
          <p:spPr>
            <a:xfrm>
              <a:off x="15427" y="4313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7" name="任意多边形 136"/>
            <p:cNvSpPr/>
            <p:nvPr/>
          </p:nvSpPr>
          <p:spPr>
            <a:xfrm>
              <a:off x="12599" y="4912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8" name="任意多边形 137"/>
            <p:cNvSpPr/>
            <p:nvPr/>
          </p:nvSpPr>
          <p:spPr>
            <a:xfrm>
              <a:off x="12289" y="4901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9" name="任意多边形 138"/>
            <p:cNvSpPr/>
            <p:nvPr/>
          </p:nvSpPr>
          <p:spPr>
            <a:xfrm>
              <a:off x="12906" y="4883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0" name="任意多边形 139"/>
            <p:cNvSpPr/>
            <p:nvPr/>
          </p:nvSpPr>
          <p:spPr>
            <a:xfrm>
              <a:off x="13561" y="4851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1" name="任意多边形 140"/>
            <p:cNvSpPr/>
            <p:nvPr/>
          </p:nvSpPr>
          <p:spPr>
            <a:xfrm>
              <a:off x="13760" y="4727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2" name="任意多边形 141"/>
            <p:cNvSpPr/>
            <p:nvPr/>
          </p:nvSpPr>
          <p:spPr>
            <a:xfrm>
              <a:off x="13238" y="4861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" name="任意多边形 142"/>
            <p:cNvSpPr/>
            <p:nvPr/>
          </p:nvSpPr>
          <p:spPr>
            <a:xfrm>
              <a:off x="11504" y="5103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" name="任意多边形 143"/>
            <p:cNvSpPr/>
            <p:nvPr/>
          </p:nvSpPr>
          <p:spPr>
            <a:xfrm>
              <a:off x="12599" y="5038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5" name="任意多边形 144"/>
            <p:cNvSpPr/>
            <p:nvPr/>
          </p:nvSpPr>
          <p:spPr>
            <a:xfrm>
              <a:off x="14524" y="4422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6" name="任意多边形 145"/>
            <p:cNvSpPr/>
            <p:nvPr/>
          </p:nvSpPr>
          <p:spPr>
            <a:xfrm>
              <a:off x="14022" y="4642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7" name="任意多边形 146"/>
            <p:cNvSpPr/>
            <p:nvPr/>
          </p:nvSpPr>
          <p:spPr>
            <a:xfrm>
              <a:off x="11942" y="503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8" name="任意多边形 147"/>
            <p:cNvSpPr/>
            <p:nvPr/>
          </p:nvSpPr>
          <p:spPr>
            <a:xfrm>
              <a:off x="11942" y="5054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9" name="任意多边形 148"/>
            <p:cNvSpPr/>
            <p:nvPr/>
          </p:nvSpPr>
          <p:spPr>
            <a:xfrm>
              <a:off x="11733" y="5090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0" name="任意多边形 149"/>
            <p:cNvSpPr/>
            <p:nvPr/>
          </p:nvSpPr>
          <p:spPr>
            <a:xfrm>
              <a:off x="12860" y="4957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1" name="任意多边形 150"/>
            <p:cNvSpPr/>
            <p:nvPr/>
          </p:nvSpPr>
          <p:spPr>
            <a:xfrm>
              <a:off x="14734" y="4475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2" name="任意多边形 151"/>
            <p:cNvSpPr/>
            <p:nvPr/>
          </p:nvSpPr>
          <p:spPr>
            <a:xfrm>
              <a:off x="13171" y="4919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3" name="任意多边形 152"/>
            <p:cNvSpPr/>
            <p:nvPr/>
          </p:nvSpPr>
          <p:spPr>
            <a:xfrm>
              <a:off x="12906" y="489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4" name="任意多边形 153"/>
            <p:cNvSpPr/>
            <p:nvPr/>
          </p:nvSpPr>
          <p:spPr>
            <a:xfrm>
              <a:off x="14067" y="4701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5" name="任意多边形 154"/>
            <p:cNvSpPr/>
            <p:nvPr/>
          </p:nvSpPr>
          <p:spPr>
            <a:xfrm>
              <a:off x="14104" y="4653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6" name="任意多边形 155"/>
            <p:cNvSpPr/>
            <p:nvPr/>
          </p:nvSpPr>
          <p:spPr>
            <a:xfrm>
              <a:off x="12908" y="486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7" name="任意多边形 156"/>
            <p:cNvSpPr/>
            <p:nvPr/>
          </p:nvSpPr>
          <p:spPr>
            <a:xfrm>
              <a:off x="12683" y="4897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8" name="任意多边形 157"/>
            <p:cNvSpPr/>
            <p:nvPr/>
          </p:nvSpPr>
          <p:spPr>
            <a:xfrm>
              <a:off x="12490" y="4928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9" name="任意多边形 158"/>
            <p:cNvSpPr/>
            <p:nvPr/>
          </p:nvSpPr>
          <p:spPr>
            <a:xfrm>
              <a:off x="14856" y="4467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0" name="任意多边形 159"/>
            <p:cNvSpPr/>
            <p:nvPr/>
          </p:nvSpPr>
          <p:spPr>
            <a:xfrm>
              <a:off x="12015" y="5065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1" name="任意多边形 160"/>
            <p:cNvSpPr/>
            <p:nvPr/>
          </p:nvSpPr>
          <p:spPr>
            <a:xfrm>
              <a:off x="12950" y="4900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2" name="任意多边形 161"/>
            <p:cNvSpPr/>
            <p:nvPr/>
          </p:nvSpPr>
          <p:spPr>
            <a:xfrm>
              <a:off x="11909" y="5037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3" name="任意多边形 162"/>
            <p:cNvSpPr/>
            <p:nvPr/>
          </p:nvSpPr>
          <p:spPr>
            <a:xfrm>
              <a:off x="11630" y="5127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" name="任意多边形 163"/>
            <p:cNvSpPr/>
            <p:nvPr/>
          </p:nvSpPr>
          <p:spPr>
            <a:xfrm>
              <a:off x="14055" y="4616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5" name="任意多边形 164"/>
            <p:cNvSpPr/>
            <p:nvPr/>
          </p:nvSpPr>
          <p:spPr>
            <a:xfrm>
              <a:off x="15226" y="4438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6" name="任意多边形 165"/>
            <p:cNvSpPr/>
            <p:nvPr/>
          </p:nvSpPr>
          <p:spPr>
            <a:xfrm>
              <a:off x="13274" y="4785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7" name="任意多边形 166"/>
            <p:cNvSpPr/>
            <p:nvPr/>
          </p:nvSpPr>
          <p:spPr>
            <a:xfrm>
              <a:off x="12213" y="4926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8" name="任意多边形 167"/>
            <p:cNvSpPr/>
            <p:nvPr/>
          </p:nvSpPr>
          <p:spPr>
            <a:xfrm>
              <a:off x="11614" y="5125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9" name="任意多边形 168"/>
            <p:cNvSpPr/>
            <p:nvPr/>
          </p:nvSpPr>
          <p:spPr>
            <a:xfrm>
              <a:off x="12950" y="4897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0" name="任意多边形 169"/>
            <p:cNvSpPr/>
            <p:nvPr/>
          </p:nvSpPr>
          <p:spPr>
            <a:xfrm>
              <a:off x="11511" y="5138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1" name="任意多边形 170"/>
            <p:cNvSpPr/>
            <p:nvPr/>
          </p:nvSpPr>
          <p:spPr>
            <a:xfrm>
              <a:off x="13945" y="4792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2" name="任意多边形 171"/>
            <p:cNvSpPr/>
            <p:nvPr/>
          </p:nvSpPr>
          <p:spPr>
            <a:xfrm>
              <a:off x="12950" y="4831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3" name="任意多边形 172"/>
            <p:cNvSpPr/>
            <p:nvPr/>
          </p:nvSpPr>
          <p:spPr>
            <a:xfrm>
              <a:off x="11966" y="5094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" name="任意多边形 173"/>
            <p:cNvSpPr/>
            <p:nvPr/>
          </p:nvSpPr>
          <p:spPr>
            <a:xfrm>
              <a:off x="11614" y="5091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5" name="任意多边形 174"/>
            <p:cNvSpPr/>
            <p:nvPr/>
          </p:nvSpPr>
          <p:spPr>
            <a:xfrm>
              <a:off x="11966" y="5076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6" name="任意多边形 175"/>
            <p:cNvSpPr/>
            <p:nvPr/>
          </p:nvSpPr>
          <p:spPr>
            <a:xfrm>
              <a:off x="12039" y="5022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7" name="任意多边形 176"/>
            <p:cNvSpPr/>
            <p:nvPr/>
          </p:nvSpPr>
          <p:spPr>
            <a:xfrm>
              <a:off x="12950" y="4928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8" name="任意多边形 177"/>
            <p:cNvSpPr/>
            <p:nvPr/>
          </p:nvSpPr>
          <p:spPr>
            <a:xfrm>
              <a:off x="11920" y="5025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9" name="任意多边形 178"/>
            <p:cNvSpPr/>
            <p:nvPr/>
          </p:nvSpPr>
          <p:spPr>
            <a:xfrm>
              <a:off x="12227" y="5008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0" name="任意多边形 179"/>
            <p:cNvSpPr/>
            <p:nvPr/>
          </p:nvSpPr>
          <p:spPr>
            <a:xfrm>
              <a:off x="14353" y="4557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1" name="任意多边形 180"/>
            <p:cNvSpPr/>
            <p:nvPr/>
          </p:nvSpPr>
          <p:spPr>
            <a:xfrm>
              <a:off x="12839" y="4907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2" name="任意多边形 181"/>
            <p:cNvSpPr/>
            <p:nvPr/>
          </p:nvSpPr>
          <p:spPr>
            <a:xfrm>
              <a:off x="13747" y="4685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3" name="任意多边形 182"/>
            <p:cNvSpPr/>
            <p:nvPr/>
          </p:nvSpPr>
          <p:spPr>
            <a:xfrm>
              <a:off x="14892" y="4458"/>
              <a:ext cx="104" cy="104"/>
            </a:xfrm>
            <a:custGeom>
              <a:avLst/>
              <a:gdLst>
                <a:gd name="connisteX0" fmla="*/ 66040 w 66040"/>
                <a:gd name="connsiteY0" fmla="*/ 33019 h 66039"/>
                <a:gd name="connisteX1" fmla="*/ 33020 w 66040"/>
                <a:gd name="connsiteY1" fmla="*/ 66039 h 66039"/>
                <a:gd name="connisteX2" fmla="*/ 0 w 66040"/>
                <a:gd name="connsiteY2" fmla="*/ 33019 h 66039"/>
                <a:gd name="connisteX3" fmla="*/ 33020 w 66040"/>
                <a:gd name="connsiteY3" fmla="*/ 0 h 66039"/>
                <a:gd name="connisteX4" fmla="*/ 66040 w 66040"/>
                <a:gd name="connsiteY4" fmla="*/ 33019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" name="任意多边形 183"/>
            <p:cNvSpPr/>
            <p:nvPr/>
          </p:nvSpPr>
          <p:spPr>
            <a:xfrm>
              <a:off x="13787" y="4703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5" name="任意多边形 184"/>
            <p:cNvSpPr/>
            <p:nvPr/>
          </p:nvSpPr>
          <p:spPr>
            <a:xfrm>
              <a:off x="13945" y="4634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6" name="任意多边形 185"/>
            <p:cNvSpPr/>
            <p:nvPr/>
          </p:nvSpPr>
          <p:spPr>
            <a:xfrm>
              <a:off x="11395" y="513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7" name="任意多边形 186"/>
            <p:cNvSpPr/>
            <p:nvPr/>
          </p:nvSpPr>
          <p:spPr>
            <a:xfrm>
              <a:off x="11723" y="5037"/>
              <a:ext cx="104" cy="104"/>
            </a:xfrm>
            <a:custGeom>
              <a:avLst/>
              <a:gdLst>
                <a:gd name="connisteX0" fmla="*/ 66040 w 66040"/>
                <a:gd name="connsiteY0" fmla="*/ 33019 h 66040"/>
                <a:gd name="connisteX1" fmla="*/ 33020 w 66040"/>
                <a:gd name="connsiteY1" fmla="*/ 66040 h 66040"/>
                <a:gd name="connisteX2" fmla="*/ 0 w 66040"/>
                <a:gd name="connsiteY2" fmla="*/ 33019 h 66040"/>
                <a:gd name="connisteX3" fmla="*/ 33020 w 66040"/>
                <a:gd name="connsiteY3" fmla="*/ 0 h 66040"/>
                <a:gd name="connisteX4" fmla="*/ 66040 w 66040"/>
                <a:gd name="connsiteY4" fmla="*/ 33019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8" name="任意多边形 187"/>
            <p:cNvSpPr/>
            <p:nvPr/>
          </p:nvSpPr>
          <p:spPr>
            <a:xfrm>
              <a:off x="11854" y="502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90" name="文本框 189"/>
          <p:cNvSpPr txBox="1"/>
          <p:nvPr/>
        </p:nvSpPr>
        <p:spPr>
          <a:xfrm>
            <a:off x="8884285" y="3532505"/>
            <a:ext cx="697230" cy="2990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3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新颖性</a:t>
            </a:r>
            <a:endParaRPr lang="zh-CN" altLang="en-US" sz="13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6836410" y="1871980"/>
            <a:ext cx="640080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独特性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6303010" y="3843655"/>
            <a:ext cx="269113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保守性 ↔ 独特性：r = −0.489</a:t>
            </a:r>
            <a:endParaRPr lang="zh-CN" altLang="en-US" sz="15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93" name="任意多边形 192"/>
          <p:cNvSpPr/>
          <p:nvPr/>
        </p:nvSpPr>
        <p:spPr>
          <a:xfrm>
            <a:off x="7846060" y="4394200"/>
            <a:ext cx="0" cy="1180465"/>
          </a:xfrm>
          <a:custGeom>
            <a:avLst/>
            <a:gdLst>
              <a:gd name="connisteX0" fmla="*/ 0 w 0"/>
              <a:gd name="connsiteY0" fmla="*/ 0 h 1181099"/>
              <a:gd name="connisteX1" fmla="*/ 0 w 0"/>
              <a:gd name="connsiteY1" fmla="*/ 1181099 h 11810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DFEA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94" name="文本框 193"/>
          <p:cNvSpPr txBox="1"/>
          <p:nvPr/>
        </p:nvSpPr>
        <p:spPr>
          <a:xfrm>
            <a:off x="7652385" y="5564505"/>
            <a:ext cx="394335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0.8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95" name="任意多边形 194"/>
          <p:cNvSpPr/>
          <p:nvPr/>
        </p:nvSpPr>
        <p:spPr>
          <a:xfrm>
            <a:off x="9695180" y="4394200"/>
            <a:ext cx="0" cy="1180465"/>
          </a:xfrm>
          <a:custGeom>
            <a:avLst/>
            <a:gdLst>
              <a:gd name="connisteX0" fmla="*/ 0 w 0"/>
              <a:gd name="connsiteY0" fmla="*/ 0 h 1181099"/>
              <a:gd name="connisteX1" fmla="*/ 0 w 0"/>
              <a:gd name="connsiteY1" fmla="*/ 1181099 h 11810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DFEA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96" name="文本框 195"/>
          <p:cNvSpPr txBox="1"/>
          <p:nvPr/>
        </p:nvSpPr>
        <p:spPr>
          <a:xfrm>
            <a:off x="9501505" y="5564505"/>
            <a:ext cx="394335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0.9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97" name="任意多边形 196"/>
          <p:cNvSpPr/>
          <p:nvPr/>
        </p:nvSpPr>
        <p:spPr>
          <a:xfrm>
            <a:off x="11544300" y="4394200"/>
            <a:ext cx="0" cy="1180465"/>
          </a:xfrm>
          <a:custGeom>
            <a:avLst/>
            <a:gdLst>
              <a:gd name="connisteX0" fmla="*/ 0 w 0"/>
              <a:gd name="connsiteY0" fmla="*/ 0 h 1181099"/>
              <a:gd name="connisteX1" fmla="*/ 0 w 0"/>
              <a:gd name="connsiteY1" fmla="*/ 1181099 h 11810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DFEA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98" name="文本框 197"/>
          <p:cNvSpPr txBox="1"/>
          <p:nvPr/>
        </p:nvSpPr>
        <p:spPr>
          <a:xfrm>
            <a:off x="11357610" y="5564505"/>
            <a:ext cx="394335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1.0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99" name="任意多边形 198"/>
          <p:cNvSpPr/>
          <p:nvPr/>
        </p:nvSpPr>
        <p:spPr>
          <a:xfrm>
            <a:off x="6921500" y="5467350"/>
            <a:ext cx="4622800" cy="0"/>
          </a:xfrm>
          <a:custGeom>
            <a:avLst/>
            <a:gdLst>
              <a:gd name="connisteX0" fmla="*/ 0 w 4622800"/>
              <a:gd name="connsiteY0" fmla="*/ 0 h 0"/>
              <a:gd name="connisteX1" fmla="*/ 4622800 w 4622800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DFEA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0" name="文本框 199"/>
          <p:cNvSpPr txBox="1"/>
          <p:nvPr/>
        </p:nvSpPr>
        <p:spPr>
          <a:xfrm>
            <a:off x="6531610" y="5316855"/>
            <a:ext cx="394335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0.3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01" name="任意多边形 200"/>
          <p:cNvSpPr/>
          <p:nvPr/>
        </p:nvSpPr>
        <p:spPr>
          <a:xfrm>
            <a:off x="6921500" y="5038090"/>
            <a:ext cx="4622800" cy="0"/>
          </a:xfrm>
          <a:custGeom>
            <a:avLst/>
            <a:gdLst>
              <a:gd name="connisteX0" fmla="*/ 0 w 4622800"/>
              <a:gd name="connsiteY0" fmla="*/ 0 h 0"/>
              <a:gd name="connisteX1" fmla="*/ 4622800 w 4622800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DFEA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2" name="文本框 201"/>
          <p:cNvSpPr txBox="1"/>
          <p:nvPr/>
        </p:nvSpPr>
        <p:spPr>
          <a:xfrm>
            <a:off x="6531610" y="4887595"/>
            <a:ext cx="394335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0.5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03" name="任意多边形 202"/>
          <p:cNvSpPr/>
          <p:nvPr/>
        </p:nvSpPr>
        <p:spPr>
          <a:xfrm>
            <a:off x="6921500" y="4608830"/>
            <a:ext cx="4622800" cy="0"/>
          </a:xfrm>
          <a:custGeom>
            <a:avLst/>
            <a:gdLst>
              <a:gd name="connisteX0" fmla="*/ 0 w 4622800"/>
              <a:gd name="connsiteY0" fmla="*/ 0 h 0"/>
              <a:gd name="connisteX1" fmla="*/ 4622800 w 4622800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DFEAF4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4" name="文本框 203"/>
          <p:cNvSpPr txBox="1"/>
          <p:nvPr/>
        </p:nvSpPr>
        <p:spPr>
          <a:xfrm>
            <a:off x="6531610" y="4458335"/>
            <a:ext cx="394335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0.7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05" name="任意多边形 204"/>
          <p:cNvSpPr/>
          <p:nvPr/>
        </p:nvSpPr>
        <p:spPr>
          <a:xfrm>
            <a:off x="6921500" y="4394200"/>
            <a:ext cx="0" cy="1180465"/>
          </a:xfrm>
          <a:custGeom>
            <a:avLst/>
            <a:gdLst>
              <a:gd name="connisteX0" fmla="*/ 0 w 0"/>
              <a:gd name="connsiteY0" fmla="*/ 0 h 1181099"/>
              <a:gd name="connisteX1" fmla="*/ 0 w 0"/>
              <a:gd name="connsiteY1" fmla="*/ 1181099 h 11810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solidFill>
            <a:srgbClr val="000000"/>
          </a:solidFill>
          <a:ln w="12700" cap="flat">
            <a:solidFill>
              <a:srgbClr val="607C93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6" name="任意多边形 205"/>
          <p:cNvSpPr/>
          <p:nvPr/>
        </p:nvSpPr>
        <p:spPr>
          <a:xfrm>
            <a:off x="6921500" y="5574665"/>
            <a:ext cx="4622800" cy="0"/>
          </a:xfrm>
          <a:custGeom>
            <a:avLst/>
            <a:gdLst>
              <a:gd name="connisteX0" fmla="*/ 0 w 4622800"/>
              <a:gd name="connsiteY0" fmla="*/ 0 h 0"/>
              <a:gd name="connisteX1" fmla="*/ 4622800 w 4622800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solidFill>
            <a:srgbClr val="000000"/>
          </a:solidFill>
          <a:ln w="12700" cap="flat">
            <a:solidFill>
              <a:srgbClr val="607C93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grpSp>
        <p:nvGrpSpPr>
          <p:cNvPr id="321" name="组合 320"/>
          <p:cNvGrpSpPr/>
          <p:nvPr/>
        </p:nvGrpSpPr>
        <p:grpSpPr>
          <a:xfrm>
            <a:off x="9098915" y="4737100"/>
            <a:ext cx="2478405" cy="855345"/>
            <a:chOff x="14329" y="7460"/>
            <a:chExt cx="3903" cy="1347"/>
          </a:xfrm>
        </p:grpSpPr>
        <p:sp>
          <p:nvSpPr>
            <p:cNvPr id="207" name="任意多边形 206"/>
            <p:cNvSpPr/>
            <p:nvPr/>
          </p:nvSpPr>
          <p:spPr>
            <a:xfrm>
              <a:off x="18128" y="8469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8" name="任意多边形 207"/>
            <p:cNvSpPr/>
            <p:nvPr/>
          </p:nvSpPr>
          <p:spPr>
            <a:xfrm>
              <a:off x="18128" y="8061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" name="任意多边形 208"/>
            <p:cNvSpPr/>
            <p:nvPr/>
          </p:nvSpPr>
          <p:spPr>
            <a:xfrm>
              <a:off x="18128" y="8429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0" name="任意多边形 209"/>
            <p:cNvSpPr/>
            <p:nvPr/>
          </p:nvSpPr>
          <p:spPr>
            <a:xfrm>
              <a:off x="18128" y="8612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1" name="任意多边形 210"/>
            <p:cNvSpPr/>
            <p:nvPr/>
          </p:nvSpPr>
          <p:spPr>
            <a:xfrm>
              <a:off x="16861" y="8083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2" name="任意多边形 211"/>
            <p:cNvSpPr/>
            <p:nvPr/>
          </p:nvSpPr>
          <p:spPr>
            <a:xfrm>
              <a:off x="18128" y="8642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3" name="任意多边形 212"/>
            <p:cNvSpPr/>
            <p:nvPr/>
          </p:nvSpPr>
          <p:spPr>
            <a:xfrm>
              <a:off x="18128" y="8409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4" name="任意多边形 213"/>
            <p:cNvSpPr/>
            <p:nvPr/>
          </p:nvSpPr>
          <p:spPr>
            <a:xfrm>
              <a:off x="14329" y="7460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" name="任意多边形 214"/>
            <p:cNvSpPr/>
            <p:nvPr/>
          </p:nvSpPr>
          <p:spPr>
            <a:xfrm>
              <a:off x="18128" y="8462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" name="任意多边形 215"/>
            <p:cNvSpPr/>
            <p:nvPr/>
          </p:nvSpPr>
          <p:spPr>
            <a:xfrm>
              <a:off x="18128" y="8703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7" name="任意多边形 216"/>
            <p:cNvSpPr/>
            <p:nvPr/>
          </p:nvSpPr>
          <p:spPr>
            <a:xfrm>
              <a:off x="16861" y="8137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8" name="任意多边形 217"/>
            <p:cNvSpPr/>
            <p:nvPr/>
          </p:nvSpPr>
          <p:spPr>
            <a:xfrm>
              <a:off x="18128" y="8469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9" name="任意多边形 218"/>
            <p:cNvSpPr/>
            <p:nvPr/>
          </p:nvSpPr>
          <p:spPr>
            <a:xfrm>
              <a:off x="18128" y="7998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0" name="任意多边形 219"/>
            <p:cNvSpPr/>
            <p:nvPr/>
          </p:nvSpPr>
          <p:spPr>
            <a:xfrm>
              <a:off x="16861" y="8584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1" name="任意多边形 220"/>
            <p:cNvSpPr/>
            <p:nvPr/>
          </p:nvSpPr>
          <p:spPr>
            <a:xfrm>
              <a:off x="18128" y="8200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2" name="任意多边形 221"/>
            <p:cNvSpPr/>
            <p:nvPr/>
          </p:nvSpPr>
          <p:spPr>
            <a:xfrm>
              <a:off x="18128" y="8691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3" name="任意多边形 222"/>
            <p:cNvSpPr/>
            <p:nvPr/>
          </p:nvSpPr>
          <p:spPr>
            <a:xfrm>
              <a:off x="18128" y="8565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4" name="任意多边形 223"/>
            <p:cNvSpPr/>
            <p:nvPr/>
          </p:nvSpPr>
          <p:spPr>
            <a:xfrm>
              <a:off x="18128" y="8272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5" name="任意多边形 224"/>
            <p:cNvSpPr/>
            <p:nvPr/>
          </p:nvSpPr>
          <p:spPr>
            <a:xfrm>
              <a:off x="18128" y="8577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6" name="任意多边形 225"/>
            <p:cNvSpPr/>
            <p:nvPr/>
          </p:nvSpPr>
          <p:spPr>
            <a:xfrm>
              <a:off x="18128" y="817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7" name="任意多边形 226"/>
            <p:cNvSpPr/>
            <p:nvPr/>
          </p:nvSpPr>
          <p:spPr>
            <a:xfrm>
              <a:off x="18128" y="8412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8" name="任意多边形 227"/>
            <p:cNvSpPr/>
            <p:nvPr/>
          </p:nvSpPr>
          <p:spPr>
            <a:xfrm>
              <a:off x="18128" y="8060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9" name="任意多边形 228"/>
            <p:cNvSpPr/>
            <p:nvPr/>
          </p:nvSpPr>
          <p:spPr>
            <a:xfrm>
              <a:off x="15595" y="7937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0" name="任意多边形 229"/>
            <p:cNvSpPr/>
            <p:nvPr/>
          </p:nvSpPr>
          <p:spPr>
            <a:xfrm>
              <a:off x="18128" y="8570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1" name="任意多边形 230"/>
            <p:cNvSpPr/>
            <p:nvPr/>
          </p:nvSpPr>
          <p:spPr>
            <a:xfrm>
              <a:off x="18128" y="8535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2" name="任意多边形 231"/>
            <p:cNvSpPr/>
            <p:nvPr/>
          </p:nvSpPr>
          <p:spPr>
            <a:xfrm>
              <a:off x="18128" y="8619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3" name="任意多边形 232"/>
            <p:cNvSpPr/>
            <p:nvPr/>
          </p:nvSpPr>
          <p:spPr>
            <a:xfrm>
              <a:off x="18128" y="8496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4" name="任意多边形 233"/>
            <p:cNvSpPr/>
            <p:nvPr/>
          </p:nvSpPr>
          <p:spPr>
            <a:xfrm>
              <a:off x="18128" y="8388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" name="任意多边形 234"/>
            <p:cNvSpPr/>
            <p:nvPr/>
          </p:nvSpPr>
          <p:spPr>
            <a:xfrm>
              <a:off x="18128" y="8540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6" name="任意多边形 235"/>
            <p:cNvSpPr/>
            <p:nvPr/>
          </p:nvSpPr>
          <p:spPr>
            <a:xfrm>
              <a:off x="18128" y="8426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7" name="任意多边形 236"/>
            <p:cNvSpPr/>
            <p:nvPr/>
          </p:nvSpPr>
          <p:spPr>
            <a:xfrm>
              <a:off x="18128" y="8607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8" name="任意多边形 237"/>
            <p:cNvSpPr/>
            <p:nvPr/>
          </p:nvSpPr>
          <p:spPr>
            <a:xfrm>
              <a:off x="18128" y="801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9" name="任意多边形 238"/>
            <p:cNvSpPr/>
            <p:nvPr/>
          </p:nvSpPr>
          <p:spPr>
            <a:xfrm>
              <a:off x="18128" y="8459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0" name="任意多边形 239"/>
            <p:cNvSpPr/>
            <p:nvPr/>
          </p:nvSpPr>
          <p:spPr>
            <a:xfrm>
              <a:off x="18128" y="8077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1" name="任意多边形 240"/>
            <p:cNvSpPr/>
            <p:nvPr/>
          </p:nvSpPr>
          <p:spPr>
            <a:xfrm>
              <a:off x="15595" y="8150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2" name="任意多边形 241"/>
            <p:cNvSpPr/>
            <p:nvPr/>
          </p:nvSpPr>
          <p:spPr>
            <a:xfrm>
              <a:off x="16861" y="8120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3" name="任意多边形 242"/>
            <p:cNvSpPr/>
            <p:nvPr/>
          </p:nvSpPr>
          <p:spPr>
            <a:xfrm>
              <a:off x="16861" y="8220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4" name="任意多边形 243"/>
            <p:cNvSpPr/>
            <p:nvPr/>
          </p:nvSpPr>
          <p:spPr>
            <a:xfrm>
              <a:off x="15595" y="8315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" name="任意多边形 244"/>
            <p:cNvSpPr/>
            <p:nvPr/>
          </p:nvSpPr>
          <p:spPr>
            <a:xfrm>
              <a:off x="18128" y="8693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6" name="任意多边形 245"/>
            <p:cNvSpPr/>
            <p:nvPr/>
          </p:nvSpPr>
          <p:spPr>
            <a:xfrm>
              <a:off x="16861" y="8513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7" name="任意多边形 246"/>
            <p:cNvSpPr/>
            <p:nvPr/>
          </p:nvSpPr>
          <p:spPr>
            <a:xfrm>
              <a:off x="16861" y="8047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8" name="任意多边形 247"/>
            <p:cNvSpPr/>
            <p:nvPr/>
          </p:nvSpPr>
          <p:spPr>
            <a:xfrm>
              <a:off x="16861" y="8038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9" name="任意多边形 248"/>
            <p:cNvSpPr/>
            <p:nvPr/>
          </p:nvSpPr>
          <p:spPr>
            <a:xfrm>
              <a:off x="18128" y="8617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0" name="任意多边形 249"/>
            <p:cNvSpPr/>
            <p:nvPr/>
          </p:nvSpPr>
          <p:spPr>
            <a:xfrm>
              <a:off x="18128" y="8361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1" name="任意多边形 250"/>
            <p:cNvSpPr/>
            <p:nvPr/>
          </p:nvSpPr>
          <p:spPr>
            <a:xfrm>
              <a:off x="18128" y="8104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2" name="任意多边形 251"/>
            <p:cNvSpPr/>
            <p:nvPr/>
          </p:nvSpPr>
          <p:spPr>
            <a:xfrm>
              <a:off x="18128" y="8104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3" name="任意多边形 252"/>
            <p:cNvSpPr/>
            <p:nvPr/>
          </p:nvSpPr>
          <p:spPr>
            <a:xfrm>
              <a:off x="18128" y="855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4" name="任意多边形 253"/>
            <p:cNvSpPr/>
            <p:nvPr/>
          </p:nvSpPr>
          <p:spPr>
            <a:xfrm>
              <a:off x="16861" y="8224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5" name="任意多边形 254"/>
            <p:cNvSpPr/>
            <p:nvPr/>
          </p:nvSpPr>
          <p:spPr>
            <a:xfrm>
              <a:off x="16861" y="8358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" name="任意多边形 255"/>
            <p:cNvSpPr/>
            <p:nvPr/>
          </p:nvSpPr>
          <p:spPr>
            <a:xfrm>
              <a:off x="18128" y="8112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7" name="任意多边形 256"/>
            <p:cNvSpPr/>
            <p:nvPr/>
          </p:nvSpPr>
          <p:spPr>
            <a:xfrm>
              <a:off x="18128" y="8555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8" name="任意多边形 257"/>
            <p:cNvSpPr/>
            <p:nvPr/>
          </p:nvSpPr>
          <p:spPr>
            <a:xfrm>
              <a:off x="18128" y="8663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" name="任意多边形 258"/>
            <p:cNvSpPr/>
            <p:nvPr/>
          </p:nvSpPr>
          <p:spPr>
            <a:xfrm>
              <a:off x="18128" y="8596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0" name="任意多边形 259"/>
            <p:cNvSpPr/>
            <p:nvPr/>
          </p:nvSpPr>
          <p:spPr>
            <a:xfrm>
              <a:off x="18128" y="8508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1" name="任意多边形 260"/>
            <p:cNvSpPr/>
            <p:nvPr/>
          </p:nvSpPr>
          <p:spPr>
            <a:xfrm>
              <a:off x="18128" y="8593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2" name="任意多边形 261"/>
            <p:cNvSpPr/>
            <p:nvPr/>
          </p:nvSpPr>
          <p:spPr>
            <a:xfrm>
              <a:off x="18128" y="8196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3" name="任意多边形 262"/>
            <p:cNvSpPr/>
            <p:nvPr/>
          </p:nvSpPr>
          <p:spPr>
            <a:xfrm>
              <a:off x="18128" y="8441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4" name="任意多边形 263"/>
            <p:cNvSpPr/>
            <p:nvPr/>
          </p:nvSpPr>
          <p:spPr>
            <a:xfrm>
              <a:off x="18128" y="8524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5" name="任意多边形 264"/>
            <p:cNvSpPr/>
            <p:nvPr/>
          </p:nvSpPr>
          <p:spPr>
            <a:xfrm>
              <a:off x="18128" y="8573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" name="任意多边形 265"/>
            <p:cNvSpPr/>
            <p:nvPr/>
          </p:nvSpPr>
          <p:spPr>
            <a:xfrm>
              <a:off x="18128" y="8642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7" name="任意多边形 266"/>
            <p:cNvSpPr/>
            <p:nvPr/>
          </p:nvSpPr>
          <p:spPr>
            <a:xfrm>
              <a:off x="16861" y="8269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8" name="任意多边形 267"/>
            <p:cNvSpPr/>
            <p:nvPr/>
          </p:nvSpPr>
          <p:spPr>
            <a:xfrm>
              <a:off x="18128" y="7853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9" name="任意多边形 268"/>
            <p:cNvSpPr/>
            <p:nvPr/>
          </p:nvSpPr>
          <p:spPr>
            <a:xfrm>
              <a:off x="18128" y="8452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0" name="任意多边形 269"/>
            <p:cNvSpPr/>
            <p:nvPr/>
          </p:nvSpPr>
          <p:spPr>
            <a:xfrm>
              <a:off x="18128" y="8441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1" name="任意多边形 270"/>
            <p:cNvSpPr/>
            <p:nvPr/>
          </p:nvSpPr>
          <p:spPr>
            <a:xfrm>
              <a:off x="18128" y="8423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2" name="任意多边形 271"/>
            <p:cNvSpPr/>
            <p:nvPr/>
          </p:nvSpPr>
          <p:spPr>
            <a:xfrm>
              <a:off x="18128" y="8391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3" name="任意多边形 272"/>
            <p:cNvSpPr/>
            <p:nvPr/>
          </p:nvSpPr>
          <p:spPr>
            <a:xfrm>
              <a:off x="16861" y="8267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4" name="任意多边形 273"/>
            <p:cNvSpPr/>
            <p:nvPr/>
          </p:nvSpPr>
          <p:spPr>
            <a:xfrm>
              <a:off x="18128" y="8401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5" name="任意多边形 274"/>
            <p:cNvSpPr/>
            <p:nvPr/>
          </p:nvSpPr>
          <p:spPr>
            <a:xfrm>
              <a:off x="18128" y="8643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" name="任意多边形 275"/>
            <p:cNvSpPr/>
            <p:nvPr/>
          </p:nvSpPr>
          <p:spPr>
            <a:xfrm>
              <a:off x="18128" y="8578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" name="任意多边形 276"/>
            <p:cNvSpPr/>
            <p:nvPr/>
          </p:nvSpPr>
          <p:spPr>
            <a:xfrm>
              <a:off x="14329" y="7962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8" name="任意多边形 277"/>
            <p:cNvSpPr/>
            <p:nvPr/>
          </p:nvSpPr>
          <p:spPr>
            <a:xfrm>
              <a:off x="14329" y="8182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9" name="任意多边形 278"/>
            <p:cNvSpPr/>
            <p:nvPr/>
          </p:nvSpPr>
          <p:spPr>
            <a:xfrm>
              <a:off x="18128" y="857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0" name="任意多边形 279"/>
            <p:cNvSpPr/>
            <p:nvPr/>
          </p:nvSpPr>
          <p:spPr>
            <a:xfrm>
              <a:off x="18128" y="8594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1" name="任意多边形 280"/>
            <p:cNvSpPr/>
            <p:nvPr/>
          </p:nvSpPr>
          <p:spPr>
            <a:xfrm>
              <a:off x="18128" y="8630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2" name="任意多边形 281"/>
            <p:cNvSpPr/>
            <p:nvPr/>
          </p:nvSpPr>
          <p:spPr>
            <a:xfrm>
              <a:off x="18128" y="8497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3" name="任意多边形 282"/>
            <p:cNvSpPr/>
            <p:nvPr/>
          </p:nvSpPr>
          <p:spPr>
            <a:xfrm>
              <a:off x="18128" y="8015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4" name="任意多边形 283"/>
            <p:cNvSpPr/>
            <p:nvPr/>
          </p:nvSpPr>
          <p:spPr>
            <a:xfrm>
              <a:off x="18128" y="8459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5" name="任意多边形 284"/>
            <p:cNvSpPr/>
            <p:nvPr/>
          </p:nvSpPr>
          <p:spPr>
            <a:xfrm>
              <a:off x="18128" y="8439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" name="任意多边形 285"/>
            <p:cNvSpPr/>
            <p:nvPr/>
          </p:nvSpPr>
          <p:spPr>
            <a:xfrm>
              <a:off x="18128" y="8241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" name="任意多边形 286"/>
            <p:cNvSpPr/>
            <p:nvPr/>
          </p:nvSpPr>
          <p:spPr>
            <a:xfrm>
              <a:off x="18128" y="8193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8" name="任意多边形 287"/>
            <p:cNvSpPr/>
            <p:nvPr/>
          </p:nvSpPr>
          <p:spPr>
            <a:xfrm>
              <a:off x="18128" y="8409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9" name="任意多边形 288"/>
            <p:cNvSpPr/>
            <p:nvPr/>
          </p:nvSpPr>
          <p:spPr>
            <a:xfrm>
              <a:off x="18128" y="8437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0" name="任意多边形 289"/>
            <p:cNvSpPr/>
            <p:nvPr/>
          </p:nvSpPr>
          <p:spPr>
            <a:xfrm>
              <a:off x="18128" y="8468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1" name="任意多边形 290"/>
            <p:cNvSpPr/>
            <p:nvPr/>
          </p:nvSpPr>
          <p:spPr>
            <a:xfrm>
              <a:off x="16861" y="8007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2" name="任意多边形 291"/>
            <p:cNvSpPr/>
            <p:nvPr/>
          </p:nvSpPr>
          <p:spPr>
            <a:xfrm>
              <a:off x="18128" y="8605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3" name="任意多边形 292"/>
            <p:cNvSpPr/>
            <p:nvPr/>
          </p:nvSpPr>
          <p:spPr>
            <a:xfrm>
              <a:off x="18128" y="8440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4" name="任意多边形 293"/>
            <p:cNvSpPr/>
            <p:nvPr/>
          </p:nvSpPr>
          <p:spPr>
            <a:xfrm>
              <a:off x="18128" y="8577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5" name="任意多边形 294"/>
            <p:cNvSpPr/>
            <p:nvPr/>
          </p:nvSpPr>
          <p:spPr>
            <a:xfrm>
              <a:off x="18128" y="8667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6" name="任意多边形 295"/>
            <p:cNvSpPr/>
            <p:nvPr/>
          </p:nvSpPr>
          <p:spPr>
            <a:xfrm>
              <a:off x="18128" y="8156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" name="任意多边形 296"/>
            <p:cNvSpPr/>
            <p:nvPr/>
          </p:nvSpPr>
          <p:spPr>
            <a:xfrm>
              <a:off x="18128" y="7978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8" name="任意多边形 297"/>
            <p:cNvSpPr/>
            <p:nvPr/>
          </p:nvSpPr>
          <p:spPr>
            <a:xfrm>
              <a:off x="18128" y="8325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9" name="任意多边形 298"/>
            <p:cNvSpPr/>
            <p:nvPr/>
          </p:nvSpPr>
          <p:spPr>
            <a:xfrm>
              <a:off x="18128" y="8466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0" name="任意多边形 299"/>
            <p:cNvSpPr/>
            <p:nvPr/>
          </p:nvSpPr>
          <p:spPr>
            <a:xfrm>
              <a:off x="18128" y="8665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1" name="任意多边形 300"/>
            <p:cNvSpPr/>
            <p:nvPr/>
          </p:nvSpPr>
          <p:spPr>
            <a:xfrm>
              <a:off x="15595" y="8437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2" name="任意多边形 301"/>
            <p:cNvSpPr/>
            <p:nvPr/>
          </p:nvSpPr>
          <p:spPr>
            <a:xfrm>
              <a:off x="18128" y="8678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3" name="任意多边形 302"/>
            <p:cNvSpPr/>
            <p:nvPr/>
          </p:nvSpPr>
          <p:spPr>
            <a:xfrm>
              <a:off x="18128" y="8332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4" name="任意多边形 303"/>
            <p:cNvSpPr/>
            <p:nvPr/>
          </p:nvSpPr>
          <p:spPr>
            <a:xfrm>
              <a:off x="15595" y="8371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5" name="任意多边形 304"/>
            <p:cNvSpPr/>
            <p:nvPr/>
          </p:nvSpPr>
          <p:spPr>
            <a:xfrm>
              <a:off x="18128" y="8634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6" name="任意多边形 305"/>
            <p:cNvSpPr/>
            <p:nvPr/>
          </p:nvSpPr>
          <p:spPr>
            <a:xfrm>
              <a:off x="18128" y="8631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" name="任意多边形 306"/>
            <p:cNvSpPr/>
            <p:nvPr/>
          </p:nvSpPr>
          <p:spPr>
            <a:xfrm>
              <a:off x="18128" y="8616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8" name="任意多边形 307"/>
            <p:cNvSpPr/>
            <p:nvPr/>
          </p:nvSpPr>
          <p:spPr>
            <a:xfrm>
              <a:off x="18128" y="8562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9" name="任意多边形 308"/>
            <p:cNvSpPr/>
            <p:nvPr/>
          </p:nvSpPr>
          <p:spPr>
            <a:xfrm>
              <a:off x="16861" y="8468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0" name="任意多边形 309"/>
            <p:cNvSpPr/>
            <p:nvPr/>
          </p:nvSpPr>
          <p:spPr>
            <a:xfrm>
              <a:off x="18128" y="8565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1" name="任意多边形 310"/>
            <p:cNvSpPr/>
            <p:nvPr/>
          </p:nvSpPr>
          <p:spPr>
            <a:xfrm>
              <a:off x="18128" y="8548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2" name="任意多边形 311"/>
            <p:cNvSpPr/>
            <p:nvPr/>
          </p:nvSpPr>
          <p:spPr>
            <a:xfrm>
              <a:off x="16861" y="8097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3" name="任意多边形 312"/>
            <p:cNvSpPr/>
            <p:nvPr/>
          </p:nvSpPr>
          <p:spPr>
            <a:xfrm>
              <a:off x="18128" y="8447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4" name="任意多边形 313"/>
            <p:cNvSpPr/>
            <p:nvPr/>
          </p:nvSpPr>
          <p:spPr>
            <a:xfrm>
              <a:off x="18128" y="8225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5" name="任意多边形 314"/>
            <p:cNvSpPr/>
            <p:nvPr/>
          </p:nvSpPr>
          <p:spPr>
            <a:xfrm>
              <a:off x="16861" y="7998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6" name="任意多边形 315"/>
            <p:cNvSpPr/>
            <p:nvPr/>
          </p:nvSpPr>
          <p:spPr>
            <a:xfrm>
              <a:off x="16861" y="8243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" name="任意多边形 316"/>
            <p:cNvSpPr/>
            <p:nvPr/>
          </p:nvSpPr>
          <p:spPr>
            <a:xfrm>
              <a:off x="18128" y="8174"/>
              <a:ext cx="104" cy="104"/>
            </a:xfrm>
            <a:custGeom>
              <a:avLst/>
              <a:gdLst>
                <a:gd name="connisteX0" fmla="*/ 66040 w 66040"/>
                <a:gd name="connsiteY0" fmla="*/ 33020 h 66039"/>
                <a:gd name="connisteX1" fmla="*/ 33020 w 66040"/>
                <a:gd name="connsiteY1" fmla="*/ 66039 h 66039"/>
                <a:gd name="connisteX2" fmla="*/ 0 w 66040"/>
                <a:gd name="connsiteY2" fmla="*/ 33020 h 66039"/>
                <a:gd name="connisteX3" fmla="*/ 33020 w 66040"/>
                <a:gd name="connsiteY3" fmla="*/ 0 h 66039"/>
                <a:gd name="connisteX4" fmla="*/ 66040 w 66040"/>
                <a:gd name="connsiteY4" fmla="*/ 33020 h 660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8" name="任意多边形 317"/>
            <p:cNvSpPr/>
            <p:nvPr/>
          </p:nvSpPr>
          <p:spPr>
            <a:xfrm>
              <a:off x="18128" y="867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9" name="任意多边形 318"/>
            <p:cNvSpPr/>
            <p:nvPr/>
          </p:nvSpPr>
          <p:spPr>
            <a:xfrm>
              <a:off x="18128" y="8577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0" name="任意多边形 319"/>
            <p:cNvSpPr/>
            <p:nvPr/>
          </p:nvSpPr>
          <p:spPr>
            <a:xfrm>
              <a:off x="18128" y="8569"/>
              <a:ext cx="104" cy="104"/>
            </a:xfrm>
            <a:custGeom>
              <a:avLst/>
              <a:gdLst>
                <a:gd name="connisteX0" fmla="*/ 66040 w 66040"/>
                <a:gd name="connsiteY0" fmla="*/ 33020 h 66040"/>
                <a:gd name="connisteX1" fmla="*/ 33020 w 66040"/>
                <a:gd name="connsiteY1" fmla="*/ 66040 h 66040"/>
                <a:gd name="connisteX2" fmla="*/ 0 w 66040"/>
                <a:gd name="connsiteY2" fmla="*/ 33020 h 66040"/>
                <a:gd name="connisteX3" fmla="*/ 33020 w 66040"/>
                <a:gd name="connsiteY3" fmla="*/ 0 h 66040"/>
                <a:gd name="connisteX4" fmla="*/ 66040 w 66040"/>
                <a:gd name="connsiteY4" fmla="*/ 33020 h 660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040" h="66040">
                  <a:moveTo>
                    <a:pt x="66040" y="33020"/>
                  </a:moveTo>
                  <a:cubicBezTo>
                    <a:pt x="66040" y="51256"/>
                    <a:pt x="51256" y="66040"/>
                    <a:pt x="33020" y="66040"/>
                  </a:cubicBezTo>
                  <a:cubicBezTo>
                    <a:pt x="14784" y="66040"/>
                    <a:pt x="0" y="51256"/>
                    <a:pt x="0" y="33020"/>
                  </a:cubicBezTo>
                  <a:cubicBezTo>
                    <a:pt x="0" y="14784"/>
                    <a:pt x="14784" y="0"/>
                    <a:pt x="33020" y="0"/>
                  </a:cubicBezTo>
                  <a:cubicBezTo>
                    <a:pt x="51256" y="0"/>
                    <a:pt x="66040" y="14784"/>
                    <a:pt x="66040" y="33020"/>
                  </a:cubicBezTo>
                  <a:close/>
                </a:path>
              </a:pathLst>
            </a:custGeom>
            <a:solidFill>
              <a:srgbClr val="5197D5">
                <a:alpha val="76000"/>
              </a:srgbClr>
            </a:solidFill>
            <a:ln w="3810" cap="flat">
              <a:solidFill>
                <a:srgbClr val="FFFFFF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22" name="文本框 321"/>
          <p:cNvSpPr txBox="1"/>
          <p:nvPr/>
        </p:nvSpPr>
        <p:spPr>
          <a:xfrm>
            <a:off x="8884285" y="5779770"/>
            <a:ext cx="697230" cy="2990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3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保守性</a:t>
            </a:r>
            <a:endParaRPr lang="zh-CN" altLang="en-US" sz="13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23" name="文本框 322"/>
          <p:cNvSpPr txBox="1"/>
          <p:nvPr/>
        </p:nvSpPr>
        <p:spPr>
          <a:xfrm>
            <a:off x="6836410" y="4119880"/>
            <a:ext cx="640080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独特性</a:t>
            </a:r>
            <a:endParaRPr lang="zh-CN" altLang="en-US" sz="12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24" name="任意多边形 323"/>
          <p:cNvSpPr/>
          <p:nvPr/>
        </p:nvSpPr>
        <p:spPr>
          <a:xfrm>
            <a:off x="266700" y="6222365"/>
            <a:ext cx="11658600" cy="330835"/>
          </a:xfrm>
          <a:custGeom>
            <a:avLst/>
            <a:gdLst>
              <a:gd name="connisteX0" fmla="*/ 0 w 11658600"/>
              <a:gd name="connsiteY0" fmla="*/ 75946 h 330200"/>
              <a:gd name="connisteX1" fmla="*/ 58292 w 11658600"/>
              <a:gd name="connsiteY1" fmla="*/ 0 h 330200"/>
              <a:gd name="connisteX2" fmla="*/ 11600307 w 11658600"/>
              <a:gd name="connsiteY2" fmla="*/ 0 h 330200"/>
              <a:gd name="connisteX3" fmla="*/ 11658600 w 11658600"/>
              <a:gd name="connsiteY3" fmla="*/ 75946 h 330200"/>
              <a:gd name="connisteX4" fmla="*/ 11658600 w 11658600"/>
              <a:gd name="connsiteY4" fmla="*/ 254254 h 330200"/>
              <a:gd name="connisteX5" fmla="*/ 11600307 w 11658600"/>
              <a:gd name="connsiteY5" fmla="*/ 330200 h 330200"/>
              <a:gd name="connisteX6" fmla="*/ 58292 w 11658600"/>
              <a:gd name="connsiteY6" fmla="*/ 330200 h 330200"/>
              <a:gd name="connisteX7" fmla="*/ 0 w 11658600"/>
              <a:gd name="connsiteY7" fmla="*/ 254254 h 330200"/>
              <a:gd name="connisteX8" fmla="*/ 0 w 11658600"/>
              <a:gd name="connsiteY8" fmla="*/ 75946 h 330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330200">
                <a:moveTo>
                  <a:pt x="0" y="75946"/>
                </a:moveTo>
                <a:cubicBezTo>
                  <a:pt x="0" y="34002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34002"/>
                  <a:pt x="11658600" y="75946"/>
                </a:cubicBezTo>
                <a:lnTo>
                  <a:pt x="11658600" y="254254"/>
                </a:lnTo>
                <a:cubicBezTo>
                  <a:pt x="11658600" y="296198"/>
                  <a:pt x="11632501" y="330200"/>
                  <a:pt x="11600307" y="330200"/>
                </a:cubicBezTo>
                <a:lnTo>
                  <a:pt x="58293" y="330200"/>
                </a:lnTo>
                <a:cubicBezTo>
                  <a:pt x="26099" y="330200"/>
                  <a:pt x="0" y="296198"/>
                  <a:pt x="0" y="254254"/>
                </a:cubicBezTo>
                <a:lnTo>
                  <a:pt x="0" y="759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325" name="文本框 324"/>
          <p:cNvSpPr txBox="1"/>
          <p:nvPr/>
        </p:nvSpPr>
        <p:spPr>
          <a:xfrm>
            <a:off x="403225" y="6228080"/>
            <a:ext cx="5872480" cy="3067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当前候选池：新颖性与独特性高度相关；保守性与独特性的冲突最明显。</a:t>
            </a:r>
            <a:endParaRPr lang="zh-CN" altLang="en-US" sz="14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isteX0" fmla="*/ 0 w 12192000"/>
              <a:gd name="connsiteY0" fmla="*/ 0 h 6858000"/>
              <a:gd name="connisteX1" fmla="*/ 12192000 w 12192000"/>
              <a:gd name="connsiteY1" fmla="*/ 0 h 6858000"/>
              <a:gd name="connisteX2" fmla="*/ 12192000 w 12192000"/>
              <a:gd name="connsiteY2" fmla="*/ 6858000 h 6858000"/>
              <a:gd name="connisteX3" fmla="*/ 0 w 12192000"/>
              <a:gd name="connsiteY3" fmla="*/ 6858000 h 6858000"/>
              <a:gd name="connisteX4" fmla="*/ 0 w 12192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60350" y="76200"/>
            <a:ext cx="11506200" cy="716915"/>
            <a:chOff x="410" y="120"/>
            <a:chExt cx="18120" cy="1129"/>
          </a:xfrm>
        </p:grpSpPr>
        <p:grpSp>
          <p:nvGrpSpPr>
            <p:cNvPr id="6" name="组合 5"/>
            <p:cNvGrpSpPr/>
            <p:nvPr/>
          </p:nvGrpSpPr>
          <p:grpSpPr>
            <a:xfrm>
              <a:off x="410" y="170"/>
              <a:ext cx="990" cy="990"/>
              <a:chOff x="410" y="170"/>
              <a:chExt cx="990" cy="990"/>
            </a:xfrm>
          </p:grpSpPr>
          <p:sp>
            <p:nvSpPr>
              <p:cNvPr id="4" name="任意多边形 3"/>
              <p:cNvSpPr/>
              <p:nvPr/>
            </p:nvSpPr>
            <p:spPr>
              <a:xfrm>
                <a:off x="410" y="170"/>
                <a:ext cx="900" cy="900"/>
              </a:xfrm>
              <a:custGeom>
                <a:avLst/>
                <a:gdLst>
                  <a:gd name="connisteX0" fmla="*/ 133349 w 571500"/>
                  <a:gd name="connsiteY0" fmla="*/ 0 h 571500"/>
                  <a:gd name="connisteX1" fmla="*/ 571500 w 571500"/>
                  <a:gd name="connsiteY1" fmla="*/ 0 h 571500"/>
                  <a:gd name="connisteX2" fmla="*/ 444500 w 571500"/>
                  <a:gd name="connsiteY2" fmla="*/ 571500 h 571500"/>
                  <a:gd name="connisteX3" fmla="*/ 0 w 571500"/>
                  <a:gd name="connsiteY3" fmla="*/ 571500 h 571500"/>
                  <a:gd name="connisteX4" fmla="*/ 133349 w 571500"/>
                  <a:gd name="connsiteY4" fmla="*/ 0 h 5715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571500" h="571500">
                    <a:moveTo>
                      <a:pt x="133350" y="0"/>
                    </a:moveTo>
                    <a:lnTo>
                      <a:pt x="571500" y="0"/>
                    </a:lnTo>
                    <a:lnTo>
                      <a:pt x="444500" y="571500"/>
                    </a:lnTo>
                    <a:lnTo>
                      <a:pt x="0" y="571500"/>
                    </a:lnTo>
                    <a:lnTo>
                      <a:pt x="133350" y="0"/>
                    </a:lnTo>
                    <a:close/>
                  </a:path>
                </a:pathLst>
              </a:custGeom>
              <a:solidFill>
                <a:srgbClr val="0A5798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510" y="270"/>
                <a:ext cx="890" cy="890"/>
              </a:xfrm>
              <a:custGeom>
                <a:avLst/>
                <a:gdLst>
                  <a:gd name="connisteX0" fmla="*/ 520699 w 565150"/>
                  <a:gd name="connsiteY0" fmla="*/ 0 h 565150"/>
                  <a:gd name="connisteX1" fmla="*/ 565150 w 565150"/>
                  <a:gd name="connsiteY1" fmla="*/ 0 h 565150"/>
                  <a:gd name="connisteX2" fmla="*/ 450850 w 565150"/>
                  <a:gd name="connsiteY2" fmla="*/ 565150 h 565150"/>
                  <a:gd name="connisteX3" fmla="*/ 0 w 565150"/>
                  <a:gd name="connsiteY3" fmla="*/ 565150 h 5651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565150" h="565150">
                    <a:moveTo>
                      <a:pt x="520700" y="0"/>
                    </a:moveTo>
                    <a:lnTo>
                      <a:pt x="565150" y="0"/>
                    </a:lnTo>
                    <a:lnTo>
                      <a:pt x="450850" y="565150"/>
                    </a:lnTo>
                    <a:lnTo>
                      <a:pt x="0" y="565150"/>
                    </a:lnTo>
                  </a:path>
                </a:pathLst>
              </a:custGeom>
              <a:noFill/>
              <a:ln w="19050" cap="flat">
                <a:solidFill>
                  <a:srgbClr val="00549A"/>
                </a:solidFill>
                <a:custDash/>
                <a:miter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1625" y="403"/>
              <a:ext cx="6088" cy="846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9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实验二：策略对比结果</a:t>
              </a:r>
              <a:endParaRPr lang="zh-CN" altLang="en-US" sz="2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890" y="120"/>
              <a:ext cx="3640" cy="105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sp>
        <p:nvSpPr>
          <p:cNvPr id="10" name="任意多边形 9"/>
          <p:cNvSpPr/>
          <p:nvPr/>
        </p:nvSpPr>
        <p:spPr>
          <a:xfrm>
            <a:off x="266700" y="1060450"/>
            <a:ext cx="11658600" cy="482600"/>
          </a:xfrm>
          <a:custGeom>
            <a:avLst/>
            <a:gdLst>
              <a:gd name="connisteX0" fmla="*/ 0 w 11658600"/>
              <a:gd name="connsiteY0" fmla="*/ 101346 h 482600"/>
              <a:gd name="connisteX1" fmla="*/ 58292 w 11658600"/>
              <a:gd name="connsiteY1" fmla="*/ 0 h 482600"/>
              <a:gd name="connisteX2" fmla="*/ 11600307 w 11658600"/>
              <a:gd name="connsiteY2" fmla="*/ 0 h 482600"/>
              <a:gd name="connisteX3" fmla="*/ 11658600 w 11658600"/>
              <a:gd name="connsiteY3" fmla="*/ 101346 h 482600"/>
              <a:gd name="connisteX4" fmla="*/ 11658600 w 11658600"/>
              <a:gd name="connsiteY4" fmla="*/ 381253 h 482600"/>
              <a:gd name="connisteX5" fmla="*/ 11600307 w 11658600"/>
              <a:gd name="connsiteY5" fmla="*/ 482600 h 482600"/>
              <a:gd name="connisteX6" fmla="*/ 58292 w 11658600"/>
              <a:gd name="connsiteY6" fmla="*/ 482600 h 482600"/>
              <a:gd name="connisteX7" fmla="*/ 0 w 11658600"/>
              <a:gd name="connsiteY7" fmla="*/ 381253 h 482600"/>
              <a:gd name="connisteX8" fmla="*/ 0 w 11658600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482600">
                <a:moveTo>
                  <a:pt x="0" y="101346"/>
                </a:moveTo>
                <a:cubicBezTo>
                  <a:pt x="0" y="45374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45374"/>
                  <a:pt x="11658600" y="101346"/>
                </a:cubicBezTo>
                <a:lnTo>
                  <a:pt x="11658600" y="381254"/>
                </a:lnTo>
                <a:cubicBezTo>
                  <a:pt x="11658600" y="437226"/>
                  <a:pt x="11632501" y="482600"/>
                  <a:pt x="11600307" y="482600"/>
                </a:cubicBezTo>
                <a:lnTo>
                  <a:pt x="58293" y="482600"/>
                </a:lnTo>
                <a:cubicBezTo>
                  <a:pt x="26099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266700" y="1060450"/>
            <a:ext cx="101600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48310" y="1106170"/>
            <a:ext cx="5004435" cy="38354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同一候选池（114 条） · 同一预算（Top-20）</a:t>
            </a:r>
            <a:endParaRPr lang="zh-CN" altLang="en-US" sz="19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0210" y="1576070"/>
            <a:ext cx="361188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四维均值：每列越高代表该维度得分越高</a:t>
            </a:r>
            <a:endParaRPr lang="zh-CN" altLang="en-US" sz="15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463550" y="1962150"/>
            <a:ext cx="3219450" cy="444500"/>
          </a:xfrm>
          <a:custGeom>
            <a:avLst/>
            <a:gdLst>
              <a:gd name="connisteX0" fmla="*/ 0 w 3219449"/>
              <a:gd name="connsiteY0" fmla="*/ 0 h 444499"/>
              <a:gd name="connisteX1" fmla="*/ 3219449 w 3219449"/>
              <a:gd name="connsiteY1" fmla="*/ 0 h 444499"/>
              <a:gd name="connisteX2" fmla="*/ 3219449 w 3219449"/>
              <a:gd name="connsiteY2" fmla="*/ 444499 h 444499"/>
              <a:gd name="connisteX3" fmla="*/ 0 w 3219449"/>
              <a:gd name="connsiteY3" fmla="*/ 444499 h 444499"/>
              <a:gd name="connisteX4" fmla="*/ 0 w 3219449"/>
              <a:gd name="connsiteY4" fmla="*/ 0 h 4444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219450" h="444500">
                <a:moveTo>
                  <a:pt x="0" y="0"/>
                </a:moveTo>
                <a:lnTo>
                  <a:pt x="3219450" y="0"/>
                </a:lnTo>
                <a:lnTo>
                  <a:pt x="321945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574800" y="2011045"/>
            <a:ext cx="995680" cy="3371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筛选策略</a:t>
            </a:r>
            <a:endParaRPr lang="zh-CN" altLang="en-US" sz="16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3683000" y="1962150"/>
            <a:ext cx="1809750" cy="444500"/>
          </a:xfrm>
          <a:custGeom>
            <a:avLst/>
            <a:gdLst>
              <a:gd name="connisteX0" fmla="*/ 0 w 1809750"/>
              <a:gd name="connsiteY0" fmla="*/ 0 h 444499"/>
              <a:gd name="connisteX1" fmla="*/ 1809750 w 1809750"/>
              <a:gd name="connsiteY1" fmla="*/ 0 h 444499"/>
              <a:gd name="connisteX2" fmla="*/ 1809750 w 1809750"/>
              <a:gd name="connsiteY2" fmla="*/ 444499 h 444499"/>
              <a:gd name="connisteX3" fmla="*/ 0 w 1809750"/>
              <a:gd name="connsiteY3" fmla="*/ 444499 h 444499"/>
              <a:gd name="connisteX4" fmla="*/ 0 w 1809750"/>
              <a:gd name="connsiteY4" fmla="*/ 0 h 4444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809750" h="444500">
                <a:moveTo>
                  <a:pt x="0" y="0"/>
                </a:moveTo>
                <a:lnTo>
                  <a:pt x="1809750" y="0"/>
                </a:lnTo>
                <a:lnTo>
                  <a:pt x="180975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994150" y="2007870"/>
            <a:ext cx="1198880" cy="3371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约束满足度</a:t>
            </a:r>
            <a:endParaRPr lang="zh-CN" altLang="en-US" sz="16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5492750" y="1962150"/>
            <a:ext cx="1809750" cy="444500"/>
          </a:xfrm>
          <a:custGeom>
            <a:avLst/>
            <a:gdLst>
              <a:gd name="connisteX0" fmla="*/ 0 w 1809750"/>
              <a:gd name="connsiteY0" fmla="*/ 0 h 444499"/>
              <a:gd name="connisteX1" fmla="*/ 1809750 w 1809750"/>
              <a:gd name="connsiteY1" fmla="*/ 0 h 444499"/>
              <a:gd name="connisteX2" fmla="*/ 1809750 w 1809750"/>
              <a:gd name="connsiteY2" fmla="*/ 444499 h 444499"/>
              <a:gd name="connisteX3" fmla="*/ 0 w 1809750"/>
              <a:gd name="connsiteY3" fmla="*/ 444499 h 444499"/>
              <a:gd name="connisteX4" fmla="*/ 0 w 1809750"/>
              <a:gd name="connsiteY4" fmla="*/ 0 h 4444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809750" h="444500">
                <a:moveTo>
                  <a:pt x="0" y="0"/>
                </a:moveTo>
                <a:lnTo>
                  <a:pt x="1809750" y="0"/>
                </a:lnTo>
                <a:lnTo>
                  <a:pt x="180975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001385" y="2007870"/>
            <a:ext cx="792480" cy="3371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保守性</a:t>
            </a:r>
            <a:endParaRPr lang="zh-CN" altLang="en-US" sz="16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7302500" y="1962150"/>
            <a:ext cx="1809750" cy="444500"/>
          </a:xfrm>
          <a:custGeom>
            <a:avLst/>
            <a:gdLst>
              <a:gd name="connisteX0" fmla="*/ 0 w 1809750"/>
              <a:gd name="connsiteY0" fmla="*/ 0 h 444499"/>
              <a:gd name="connisteX1" fmla="*/ 1809750 w 1809750"/>
              <a:gd name="connsiteY1" fmla="*/ 0 h 444499"/>
              <a:gd name="connisteX2" fmla="*/ 1809750 w 1809750"/>
              <a:gd name="connsiteY2" fmla="*/ 444499 h 444499"/>
              <a:gd name="connisteX3" fmla="*/ 0 w 1809750"/>
              <a:gd name="connsiteY3" fmla="*/ 444499 h 444499"/>
              <a:gd name="connisteX4" fmla="*/ 0 w 1809750"/>
              <a:gd name="connsiteY4" fmla="*/ 0 h 4444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809750" h="444500">
                <a:moveTo>
                  <a:pt x="0" y="0"/>
                </a:moveTo>
                <a:lnTo>
                  <a:pt x="1809750" y="0"/>
                </a:lnTo>
                <a:lnTo>
                  <a:pt x="180975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811135" y="2007870"/>
            <a:ext cx="792480" cy="3371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新颖性</a:t>
            </a:r>
            <a:endParaRPr lang="zh-CN" altLang="en-US" sz="16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9112250" y="1962150"/>
            <a:ext cx="2285365" cy="444500"/>
          </a:xfrm>
          <a:custGeom>
            <a:avLst/>
            <a:gdLst>
              <a:gd name="connisteX0" fmla="*/ 0 w 2285999"/>
              <a:gd name="connsiteY0" fmla="*/ 0 h 444499"/>
              <a:gd name="connisteX1" fmla="*/ 2285999 w 2285999"/>
              <a:gd name="connsiteY1" fmla="*/ 0 h 444499"/>
              <a:gd name="connisteX2" fmla="*/ 2285999 w 2285999"/>
              <a:gd name="connsiteY2" fmla="*/ 444499 h 444499"/>
              <a:gd name="connisteX3" fmla="*/ 0 w 2285999"/>
              <a:gd name="connsiteY3" fmla="*/ 444499 h 444499"/>
              <a:gd name="connisteX4" fmla="*/ 0 w 2285999"/>
              <a:gd name="connsiteY4" fmla="*/ 0 h 4444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286000" h="444500">
                <a:moveTo>
                  <a:pt x="0" y="0"/>
                </a:moveTo>
                <a:lnTo>
                  <a:pt x="2286000" y="0"/>
                </a:lnTo>
                <a:lnTo>
                  <a:pt x="22860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655810" y="2011045"/>
            <a:ext cx="1198880" cy="3371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候选独特性</a:t>
            </a:r>
            <a:endParaRPr lang="zh-CN" altLang="en-US" sz="16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463550" y="2406650"/>
            <a:ext cx="3219450" cy="558800"/>
          </a:xfrm>
          <a:custGeom>
            <a:avLst/>
            <a:gdLst>
              <a:gd name="connisteX0" fmla="*/ 0 w 3219449"/>
              <a:gd name="connsiteY0" fmla="*/ 0 h 558799"/>
              <a:gd name="connisteX1" fmla="*/ 3219449 w 3219449"/>
              <a:gd name="connsiteY1" fmla="*/ 0 h 558799"/>
              <a:gd name="connisteX2" fmla="*/ 3219449 w 3219449"/>
              <a:gd name="connsiteY2" fmla="*/ 558799 h 558799"/>
              <a:gd name="connisteX3" fmla="*/ 0 w 3219449"/>
              <a:gd name="connsiteY3" fmla="*/ 558799 h 558799"/>
              <a:gd name="connisteX4" fmla="*/ 0 w 3219449"/>
              <a:gd name="connsiteY4" fmla="*/ 0 h 5587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219450" h="558800">
                <a:moveTo>
                  <a:pt x="0" y="0"/>
                </a:moveTo>
                <a:lnTo>
                  <a:pt x="3219450" y="0"/>
                </a:lnTo>
                <a:lnTo>
                  <a:pt x="321945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6FAFD"/>
          </a:solidFill>
        </p:spPr>
        <p:txBody>
          <a:bodyPr/>
          <a:p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3683000" y="2406650"/>
            <a:ext cx="1809750" cy="558800"/>
          </a:xfrm>
          <a:custGeom>
            <a:avLst/>
            <a:gdLst>
              <a:gd name="connisteX0" fmla="*/ 0 w 1809750"/>
              <a:gd name="connsiteY0" fmla="*/ 0 h 558799"/>
              <a:gd name="connisteX1" fmla="*/ 1809750 w 1809750"/>
              <a:gd name="connsiteY1" fmla="*/ 0 h 558799"/>
              <a:gd name="connisteX2" fmla="*/ 1809750 w 1809750"/>
              <a:gd name="connsiteY2" fmla="*/ 558799 h 558799"/>
              <a:gd name="connisteX3" fmla="*/ 0 w 1809750"/>
              <a:gd name="connsiteY3" fmla="*/ 558799 h 558799"/>
              <a:gd name="connisteX4" fmla="*/ 0 w 1809750"/>
              <a:gd name="connsiteY4" fmla="*/ 0 h 5587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809750" h="558800">
                <a:moveTo>
                  <a:pt x="0" y="0"/>
                </a:moveTo>
                <a:lnTo>
                  <a:pt x="1809750" y="0"/>
                </a:lnTo>
                <a:lnTo>
                  <a:pt x="180975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6FAFD"/>
          </a:solidFill>
        </p:spPr>
        <p:txBody>
          <a:bodyPr/>
          <a:p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5492750" y="2406650"/>
            <a:ext cx="1809750" cy="558800"/>
          </a:xfrm>
          <a:custGeom>
            <a:avLst/>
            <a:gdLst>
              <a:gd name="connisteX0" fmla="*/ 0 w 1809750"/>
              <a:gd name="connsiteY0" fmla="*/ 0 h 558799"/>
              <a:gd name="connisteX1" fmla="*/ 1809750 w 1809750"/>
              <a:gd name="connsiteY1" fmla="*/ 0 h 558799"/>
              <a:gd name="connisteX2" fmla="*/ 1809750 w 1809750"/>
              <a:gd name="connsiteY2" fmla="*/ 558799 h 558799"/>
              <a:gd name="connisteX3" fmla="*/ 0 w 1809750"/>
              <a:gd name="connsiteY3" fmla="*/ 558799 h 558799"/>
              <a:gd name="connisteX4" fmla="*/ 0 w 1809750"/>
              <a:gd name="connsiteY4" fmla="*/ 0 h 5587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809750" h="558800">
                <a:moveTo>
                  <a:pt x="0" y="0"/>
                </a:moveTo>
                <a:lnTo>
                  <a:pt x="1809750" y="0"/>
                </a:lnTo>
                <a:lnTo>
                  <a:pt x="180975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6FAFD"/>
          </a:solidFill>
        </p:spPr>
        <p:txBody>
          <a:bodyPr/>
          <a:p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>
            <a:off x="7302500" y="2406650"/>
            <a:ext cx="1809750" cy="558800"/>
          </a:xfrm>
          <a:custGeom>
            <a:avLst/>
            <a:gdLst>
              <a:gd name="connisteX0" fmla="*/ 0 w 1809750"/>
              <a:gd name="connsiteY0" fmla="*/ 0 h 558799"/>
              <a:gd name="connisteX1" fmla="*/ 1809750 w 1809750"/>
              <a:gd name="connsiteY1" fmla="*/ 0 h 558799"/>
              <a:gd name="connisteX2" fmla="*/ 1809750 w 1809750"/>
              <a:gd name="connsiteY2" fmla="*/ 558799 h 558799"/>
              <a:gd name="connisteX3" fmla="*/ 0 w 1809750"/>
              <a:gd name="connsiteY3" fmla="*/ 558799 h 558799"/>
              <a:gd name="connisteX4" fmla="*/ 0 w 1809750"/>
              <a:gd name="connsiteY4" fmla="*/ 0 h 5587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809750" h="558800">
                <a:moveTo>
                  <a:pt x="0" y="0"/>
                </a:moveTo>
                <a:lnTo>
                  <a:pt x="1809750" y="0"/>
                </a:lnTo>
                <a:lnTo>
                  <a:pt x="180975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6FAFD"/>
          </a:solidFill>
        </p:spPr>
        <p:txBody>
          <a:bodyPr/>
          <a:p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9112250" y="2406650"/>
            <a:ext cx="2285365" cy="558800"/>
          </a:xfrm>
          <a:custGeom>
            <a:avLst/>
            <a:gdLst>
              <a:gd name="connisteX0" fmla="*/ 0 w 2285999"/>
              <a:gd name="connsiteY0" fmla="*/ 0 h 558799"/>
              <a:gd name="connisteX1" fmla="*/ 2285999 w 2285999"/>
              <a:gd name="connsiteY1" fmla="*/ 0 h 558799"/>
              <a:gd name="connisteX2" fmla="*/ 2285999 w 2285999"/>
              <a:gd name="connsiteY2" fmla="*/ 558799 h 558799"/>
              <a:gd name="connisteX3" fmla="*/ 0 w 2285999"/>
              <a:gd name="connsiteY3" fmla="*/ 558799 h 558799"/>
              <a:gd name="connisteX4" fmla="*/ 0 w 2285999"/>
              <a:gd name="connsiteY4" fmla="*/ 0 h 5587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286000" h="558800">
                <a:moveTo>
                  <a:pt x="0" y="0"/>
                </a:moveTo>
                <a:lnTo>
                  <a:pt x="2286000" y="0"/>
                </a:lnTo>
                <a:lnTo>
                  <a:pt x="22860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6FAFD"/>
          </a:solidFill>
        </p:spPr>
        <p:txBody>
          <a:bodyPr/>
          <a:p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13410" y="2513330"/>
            <a:ext cx="1021080" cy="3448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等权加权</a:t>
            </a:r>
            <a:endParaRPr lang="zh-CN" altLang="en-US" sz="16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216400" y="2490470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0.897</a:t>
            </a:r>
            <a:endParaRPr lang="zh-CN" altLang="en-US" sz="17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026785" y="2490470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0.989</a:t>
            </a:r>
            <a:endParaRPr lang="zh-CN" altLang="en-US" sz="17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836535" y="2490470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0.307</a:t>
            </a:r>
            <a:endParaRPr lang="zh-CN" altLang="en-US" sz="175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884410" y="2490470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0.405</a:t>
            </a:r>
            <a:endParaRPr lang="zh-CN" altLang="en-US" sz="175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463550" y="2965450"/>
            <a:ext cx="10934065" cy="0"/>
          </a:xfrm>
          <a:custGeom>
            <a:avLst/>
            <a:gdLst>
              <a:gd name="connisteX0" fmla="*/ 0 w 10934699"/>
              <a:gd name="connsiteY0" fmla="*/ 0 h 0"/>
              <a:gd name="connisteX1" fmla="*/ 10934699 w 10934699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0934700">
                <a:moveTo>
                  <a:pt x="0" y="0"/>
                </a:moveTo>
                <a:lnTo>
                  <a:pt x="10934700" y="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C9DDEC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5" name="任意多边形 34"/>
          <p:cNvSpPr/>
          <p:nvPr/>
        </p:nvSpPr>
        <p:spPr>
          <a:xfrm>
            <a:off x="463550" y="2965450"/>
            <a:ext cx="3219450" cy="558800"/>
          </a:xfrm>
          <a:custGeom>
            <a:avLst/>
            <a:gdLst>
              <a:gd name="connisteX0" fmla="*/ 0 w 3219449"/>
              <a:gd name="connsiteY0" fmla="*/ 0 h 558800"/>
              <a:gd name="connisteX1" fmla="*/ 3219449 w 3219449"/>
              <a:gd name="connsiteY1" fmla="*/ 0 h 558800"/>
              <a:gd name="connisteX2" fmla="*/ 3219449 w 3219449"/>
              <a:gd name="connsiteY2" fmla="*/ 558800 h 558800"/>
              <a:gd name="connisteX3" fmla="*/ 0 w 3219449"/>
              <a:gd name="connsiteY3" fmla="*/ 558800 h 558800"/>
              <a:gd name="connisteX4" fmla="*/ 0 w 3219449"/>
              <a:gd name="connsiteY4" fmla="*/ 0 h 55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219450" h="558800">
                <a:moveTo>
                  <a:pt x="0" y="0"/>
                </a:moveTo>
                <a:lnTo>
                  <a:pt x="3219450" y="0"/>
                </a:lnTo>
                <a:lnTo>
                  <a:pt x="321945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>
            <a:off x="3683000" y="2965450"/>
            <a:ext cx="1809750" cy="558800"/>
          </a:xfrm>
          <a:custGeom>
            <a:avLst/>
            <a:gdLst>
              <a:gd name="connisteX0" fmla="*/ 0 w 1809750"/>
              <a:gd name="connsiteY0" fmla="*/ 0 h 558800"/>
              <a:gd name="connisteX1" fmla="*/ 1809750 w 1809750"/>
              <a:gd name="connsiteY1" fmla="*/ 0 h 558800"/>
              <a:gd name="connisteX2" fmla="*/ 1809750 w 1809750"/>
              <a:gd name="connsiteY2" fmla="*/ 558800 h 558800"/>
              <a:gd name="connisteX3" fmla="*/ 0 w 1809750"/>
              <a:gd name="connsiteY3" fmla="*/ 558800 h 558800"/>
              <a:gd name="connisteX4" fmla="*/ 0 w 1809750"/>
              <a:gd name="connsiteY4" fmla="*/ 0 h 55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809750" h="558800">
                <a:moveTo>
                  <a:pt x="0" y="0"/>
                </a:moveTo>
                <a:lnTo>
                  <a:pt x="1809750" y="0"/>
                </a:lnTo>
                <a:lnTo>
                  <a:pt x="180975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>
            <a:off x="5492750" y="2965450"/>
            <a:ext cx="1809750" cy="558800"/>
          </a:xfrm>
          <a:custGeom>
            <a:avLst/>
            <a:gdLst>
              <a:gd name="connisteX0" fmla="*/ 0 w 1809750"/>
              <a:gd name="connsiteY0" fmla="*/ 0 h 558800"/>
              <a:gd name="connisteX1" fmla="*/ 1809750 w 1809750"/>
              <a:gd name="connsiteY1" fmla="*/ 0 h 558800"/>
              <a:gd name="connisteX2" fmla="*/ 1809750 w 1809750"/>
              <a:gd name="connsiteY2" fmla="*/ 558800 h 558800"/>
              <a:gd name="connisteX3" fmla="*/ 0 w 1809750"/>
              <a:gd name="connsiteY3" fmla="*/ 558800 h 558800"/>
              <a:gd name="connisteX4" fmla="*/ 0 w 1809750"/>
              <a:gd name="connsiteY4" fmla="*/ 0 h 55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809750" h="558800">
                <a:moveTo>
                  <a:pt x="0" y="0"/>
                </a:moveTo>
                <a:lnTo>
                  <a:pt x="1809750" y="0"/>
                </a:lnTo>
                <a:lnTo>
                  <a:pt x="180975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7302500" y="2965450"/>
            <a:ext cx="1809750" cy="558800"/>
          </a:xfrm>
          <a:custGeom>
            <a:avLst/>
            <a:gdLst>
              <a:gd name="connisteX0" fmla="*/ 0 w 1809750"/>
              <a:gd name="connsiteY0" fmla="*/ 0 h 558800"/>
              <a:gd name="connisteX1" fmla="*/ 1809750 w 1809750"/>
              <a:gd name="connsiteY1" fmla="*/ 0 h 558800"/>
              <a:gd name="connisteX2" fmla="*/ 1809750 w 1809750"/>
              <a:gd name="connsiteY2" fmla="*/ 558800 h 558800"/>
              <a:gd name="connisteX3" fmla="*/ 0 w 1809750"/>
              <a:gd name="connsiteY3" fmla="*/ 558800 h 558800"/>
              <a:gd name="connisteX4" fmla="*/ 0 w 1809750"/>
              <a:gd name="connsiteY4" fmla="*/ 0 h 55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809750" h="558800">
                <a:moveTo>
                  <a:pt x="0" y="0"/>
                </a:moveTo>
                <a:lnTo>
                  <a:pt x="1809750" y="0"/>
                </a:lnTo>
                <a:lnTo>
                  <a:pt x="180975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sp>
        <p:nvSpPr>
          <p:cNvPr id="39" name="任意多边形 38"/>
          <p:cNvSpPr/>
          <p:nvPr/>
        </p:nvSpPr>
        <p:spPr>
          <a:xfrm>
            <a:off x="9112250" y="2965450"/>
            <a:ext cx="2285365" cy="558800"/>
          </a:xfrm>
          <a:custGeom>
            <a:avLst/>
            <a:gdLst>
              <a:gd name="connisteX0" fmla="*/ 0 w 2285999"/>
              <a:gd name="connsiteY0" fmla="*/ 0 h 558800"/>
              <a:gd name="connisteX1" fmla="*/ 2285999 w 2285999"/>
              <a:gd name="connsiteY1" fmla="*/ 0 h 558800"/>
              <a:gd name="connisteX2" fmla="*/ 2285999 w 2285999"/>
              <a:gd name="connsiteY2" fmla="*/ 558800 h 558800"/>
              <a:gd name="connisteX3" fmla="*/ 0 w 2285999"/>
              <a:gd name="connsiteY3" fmla="*/ 558800 h 558800"/>
              <a:gd name="connisteX4" fmla="*/ 0 w 2285999"/>
              <a:gd name="connsiteY4" fmla="*/ 0 h 55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286000" h="558800">
                <a:moveTo>
                  <a:pt x="0" y="0"/>
                </a:moveTo>
                <a:lnTo>
                  <a:pt x="2286000" y="0"/>
                </a:lnTo>
                <a:lnTo>
                  <a:pt x="22860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632460" y="3072130"/>
            <a:ext cx="1313180" cy="3448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Pareto 分层</a:t>
            </a:r>
            <a:endParaRPr lang="zh-CN" altLang="en-US" sz="16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216400" y="3049905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0.607</a:t>
            </a:r>
            <a:endParaRPr lang="zh-CN" altLang="en-US" sz="175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026785" y="3049905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0.974</a:t>
            </a:r>
            <a:endParaRPr lang="zh-CN" altLang="en-US" sz="175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836535" y="3049905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0.375</a:t>
            </a:r>
            <a:endParaRPr lang="zh-CN" altLang="en-US" sz="17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883775" y="3049905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0.460</a:t>
            </a:r>
            <a:endParaRPr lang="zh-CN" altLang="en-US" sz="17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5" name="任意多边形 44"/>
          <p:cNvSpPr/>
          <p:nvPr/>
        </p:nvSpPr>
        <p:spPr>
          <a:xfrm>
            <a:off x="463550" y="3524250"/>
            <a:ext cx="10934065" cy="0"/>
          </a:xfrm>
          <a:custGeom>
            <a:avLst/>
            <a:gdLst>
              <a:gd name="connisteX0" fmla="*/ 0 w 10934699"/>
              <a:gd name="connsiteY0" fmla="*/ 0 h 0"/>
              <a:gd name="connisteX1" fmla="*/ 10934699 w 10934699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0934700">
                <a:moveTo>
                  <a:pt x="0" y="0"/>
                </a:moveTo>
                <a:lnTo>
                  <a:pt x="10934700" y="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C9DDEC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46" name="任意多边形 45"/>
          <p:cNvSpPr/>
          <p:nvPr/>
        </p:nvSpPr>
        <p:spPr>
          <a:xfrm>
            <a:off x="463550" y="3524250"/>
            <a:ext cx="3219450" cy="558800"/>
          </a:xfrm>
          <a:custGeom>
            <a:avLst/>
            <a:gdLst>
              <a:gd name="connisteX0" fmla="*/ 0 w 3219449"/>
              <a:gd name="connsiteY0" fmla="*/ 0 h 558799"/>
              <a:gd name="connisteX1" fmla="*/ 3219449 w 3219449"/>
              <a:gd name="connsiteY1" fmla="*/ 0 h 558799"/>
              <a:gd name="connisteX2" fmla="*/ 3219449 w 3219449"/>
              <a:gd name="connsiteY2" fmla="*/ 558799 h 558799"/>
              <a:gd name="connisteX3" fmla="*/ 0 w 3219449"/>
              <a:gd name="connsiteY3" fmla="*/ 558799 h 558799"/>
              <a:gd name="connisteX4" fmla="*/ 0 w 3219449"/>
              <a:gd name="connsiteY4" fmla="*/ 0 h 5587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219450" h="558800">
                <a:moveTo>
                  <a:pt x="0" y="0"/>
                </a:moveTo>
                <a:lnTo>
                  <a:pt x="3219450" y="0"/>
                </a:lnTo>
                <a:lnTo>
                  <a:pt x="321945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6FAFD"/>
          </a:solidFill>
        </p:spPr>
        <p:txBody>
          <a:bodyPr/>
          <a:p>
            <a:endParaRPr lang="zh-CN" altLang="en-US"/>
          </a:p>
        </p:txBody>
      </p:sp>
      <p:sp>
        <p:nvSpPr>
          <p:cNvPr id="47" name="任意多边形 46"/>
          <p:cNvSpPr/>
          <p:nvPr/>
        </p:nvSpPr>
        <p:spPr>
          <a:xfrm>
            <a:off x="3683000" y="3524250"/>
            <a:ext cx="1809750" cy="558800"/>
          </a:xfrm>
          <a:custGeom>
            <a:avLst/>
            <a:gdLst>
              <a:gd name="connisteX0" fmla="*/ 0 w 1809750"/>
              <a:gd name="connsiteY0" fmla="*/ 0 h 558799"/>
              <a:gd name="connisteX1" fmla="*/ 1809750 w 1809750"/>
              <a:gd name="connsiteY1" fmla="*/ 0 h 558799"/>
              <a:gd name="connisteX2" fmla="*/ 1809750 w 1809750"/>
              <a:gd name="connsiteY2" fmla="*/ 558799 h 558799"/>
              <a:gd name="connisteX3" fmla="*/ 0 w 1809750"/>
              <a:gd name="connsiteY3" fmla="*/ 558799 h 558799"/>
              <a:gd name="connisteX4" fmla="*/ 0 w 1809750"/>
              <a:gd name="connsiteY4" fmla="*/ 0 h 5587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809750" h="558800">
                <a:moveTo>
                  <a:pt x="0" y="0"/>
                </a:moveTo>
                <a:lnTo>
                  <a:pt x="1809750" y="0"/>
                </a:lnTo>
                <a:lnTo>
                  <a:pt x="180975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6FAFD"/>
          </a:solidFill>
        </p:spPr>
        <p:txBody>
          <a:bodyPr/>
          <a:p>
            <a:endParaRPr lang="zh-CN" altLang="en-US"/>
          </a:p>
        </p:txBody>
      </p:sp>
      <p:sp>
        <p:nvSpPr>
          <p:cNvPr id="48" name="任意多边形 47"/>
          <p:cNvSpPr/>
          <p:nvPr/>
        </p:nvSpPr>
        <p:spPr>
          <a:xfrm>
            <a:off x="5492750" y="3524250"/>
            <a:ext cx="1809750" cy="558800"/>
          </a:xfrm>
          <a:custGeom>
            <a:avLst/>
            <a:gdLst>
              <a:gd name="connisteX0" fmla="*/ 0 w 1809750"/>
              <a:gd name="connsiteY0" fmla="*/ 0 h 558799"/>
              <a:gd name="connisteX1" fmla="*/ 1809750 w 1809750"/>
              <a:gd name="connsiteY1" fmla="*/ 0 h 558799"/>
              <a:gd name="connisteX2" fmla="*/ 1809750 w 1809750"/>
              <a:gd name="connsiteY2" fmla="*/ 558799 h 558799"/>
              <a:gd name="connisteX3" fmla="*/ 0 w 1809750"/>
              <a:gd name="connsiteY3" fmla="*/ 558799 h 558799"/>
              <a:gd name="connisteX4" fmla="*/ 0 w 1809750"/>
              <a:gd name="connsiteY4" fmla="*/ 0 h 5587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809750" h="558800">
                <a:moveTo>
                  <a:pt x="0" y="0"/>
                </a:moveTo>
                <a:lnTo>
                  <a:pt x="1809750" y="0"/>
                </a:lnTo>
                <a:lnTo>
                  <a:pt x="180975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6FAFD"/>
          </a:solidFill>
        </p:spPr>
        <p:txBody>
          <a:bodyPr/>
          <a:p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>
            <a:off x="7302500" y="3524250"/>
            <a:ext cx="1809750" cy="558800"/>
          </a:xfrm>
          <a:custGeom>
            <a:avLst/>
            <a:gdLst>
              <a:gd name="connisteX0" fmla="*/ 0 w 1809750"/>
              <a:gd name="connsiteY0" fmla="*/ 0 h 558799"/>
              <a:gd name="connisteX1" fmla="*/ 1809750 w 1809750"/>
              <a:gd name="connsiteY1" fmla="*/ 0 h 558799"/>
              <a:gd name="connisteX2" fmla="*/ 1809750 w 1809750"/>
              <a:gd name="connsiteY2" fmla="*/ 558799 h 558799"/>
              <a:gd name="connisteX3" fmla="*/ 0 w 1809750"/>
              <a:gd name="connsiteY3" fmla="*/ 558799 h 558799"/>
              <a:gd name="connisteX4" fmla="*/ 0 w 1809750"/>
              <a:gd name="connsiteY4" fmla="*/ 0 h 5587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809750" h="558800">
                <a:moveTo>
                  <a:pt x="0" y="0"/>
                </a:moveTo>
                <a:lnTo>
                  <a:pt x="1809750" y="0"/>
                </a:lnTo>
                <a:lnTo>
                  <a:pt x="180975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6FAFD"/>
          </a:solidFill>
        </p:spPr>
        <p:txBody>
          <a:bodyPr/>
          <a:p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>
            <a:off x="9112250" y="3524250"/>
            <a:ext cx="2285365" cy="558800"/>
          </a:xfrm>
          <a:custGeom>
            <a:avLst/>
            <a:gdLst>
              <a:gd name="connisteX0" fmla="*/ 0 w 2285999"/>
              <a:gd name="connsiteY0" fmla="*/ 0 h 558799"/>
              <a:gd name="connisteX1" fmla="*/ 2285999 w 2285999"/>
              <a:gd name="connsiteY1" fmla="*/ 0 h 558799"/>
              <a:gd name="connisteX2" fmla="*/ 2285999 w 2285999"/>
              <a:gd name="connsiteY2" fmla="*/ 558799 h 558799"/>
              <a:gd name="connisteX3" fmla="*/ 0 w 2285999"/>
              <a:gd name="connsiteY3" fmla="*/ 558799 h 558799"/>
              <a:gd name="connisteX4" fmla="*/ 0 w 2285999"/>
              <a:gd name="connsiteY4" fmla="*/ 0 h 5587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286000" h="558800">
                <a:moveTo>
                  <a:pt x="0" y="0"/>
                </a:moveTo>
                <a:lnTo>
                  <a:pt x="2286000" y="0"/>
                </a:lnTo>
                <a:lnTo>
                  <a:pt x="22860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F6FAFD"/>
          </a:solidFill>
        </p:spPr>
        <p:txBody>
          <a:bodyPr/>
          <a:p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613410" y="3627755"/>
            <a:ext cx="1230630" cy="3448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分维度轮转</a:t>
            </a:r>
            <a:endParaRPr lang="zh-CN" altLang="en-US" sz="16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216400" y="3608705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0.625</a:t>
            </a:r>
            <a:endParaRPr lang="zh-CN" altLang="en-US" sz="175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026785" y="3608705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0.976</a:t>
            </a:r>
            <a:endParaRPr lang="zh-CN" altLang="en-US" sz="175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836535" y="3608705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0.312</a:t>
            </a:r>
            <a:endParaRPr lang="zh-CN" altLang="en-US" sz="175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9883775" y="3608705"/>
            <a:ext cx="739775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0.418</a:t>
            </a:r>
            <a:endParaRPr lang="zh-CN" altLang="en-US" sz="175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6" name="任意多边形 55"/>
          <p:cNvSpPr/>
          <p:nvPr/>
        </p:nvSpPr>
        <p:spPr>
          <a:xfrm>
            <a:off x="463550" y="4083050"/>
            <a:ext cx="10934065" cy="0"/>
          </a:xfrm>
          <a:custGeom>
            <a:avLst/>
            <a:gdLst>
              <a:gd name="connisteX0" fmla="*/ 0 w 10934699"/>
              <a:gd name="connsiteY0" fmla="*/ 0 h 0"/>
              <a:gd name="connisteX1" fmla="*/ 10934699 w 10934699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0934700">
                <a:moveTo>
                  <a:pt x="0" y="0"/>
                </a:moveTo>
                <a:lnTo>
                  <a:pt x="10934700" y="0"/>
                </a:lnTo>
              </a:path>
            </a:pathLst>
          </a:custGeom>
          <a:solidFill>
            <a:srgbClr val="000000"/>
          </a:solidFill>
          <a:ln w="6350" cap="flat">
            <a:solidFill>
              <a:srgbClr val="C9DDEC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397510" y="4132580"/>
            <a:ext cx="6361430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加权所得约束与保守性更高；Pareto 选出的候选更具新颖性与独特性。</a:t>
            </a:r>
            <a:endParaRPr lang="zh-CN" altLang="en-US" sz="15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8" name="任意多边形 57"/>
          <p:cNvSpPr/>
          <p:nvPr/>
        </p:nvSpPr>
        <p:spPr>
          <a:xfrm>
            <a:off x="266700" y="4578350"/>
            <a:ext cx="5657850" cy="419100"/>
          </a:xfrm>
          <a:custGeom>
            <a:avLst/>
            <a:gdLst>
              <a:gd name="connisteX0" fmla="*/ 0 w 5657850"/>
              <a:gd name="connsiteY0" fmla="*/ 100584 h 419100"/>
              <a:gd name="connisteX1" fmla="*/ 84867 w 5657850"/>
              <a:gd name="connsiteY1" fmla="*/ 0 h 419100"/>
              <a:gd name="connisteX2" fmla="*/ 5572982 w 5657850"/>
              <a:gd name="connsiteY2" fmla="*/ 0 h 419100"/>
              <a:gd name="connisteX3" fmla="*/ 5657850 w 5657850"/>
              <a:gd name="connsiteY3" fmla="*/ 100584 h 419100"/>
              <a:gd name="connisteX4" fmla="*/ 5657850 w 5657850"/>
              <a:gd name="connsiteY4" fmla="*/ 318516 h 419100"/>
              <a:gd name="connisteX5" fmla="*/ 5572982 w 5657850"/>
              <a:gd name="connsiteY5" fmla="*/ 419100 h 419100"/>
              <a:gd name="connisteX6" fmla="*/ 84867 w 5657850"/>
              <a:gd name="connsiteY6" fmla="*/ 419100 h 419100"/>
              <a:gd name="connisteX7" fmla="*/ 0 w 5657850"/>
              <a:gd name="connsiteY7" fmla="*/ 318516 h 419100"/>
              <a:gd name="connisteX8" fmla="*/ 0 w 5657850"/>
              <a:gd name="connsiteY8" fmla="*/ 100584 h 4191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657850" h="419100">
                <a:moveTo>
                  <a:pt x="0" y="100584"/>
                </a:moveTo>
                <a:cubicBezTo>
                  <a:pt x="0" y="45033"/>
                  <a:pt x="37997" y="0"/>
                  <a:pt x="84868" y="0"/>
                </a:cubicBezTo>
                <a:lnTo>
                  <a:pt x="5572982" y="0"/>
                </a:lnTo>
                <a:cubicBezTo>
                  <a:pt x="5619853" y="0"/>
                  <a:pt x="5657850" y="45033"/>
                  <a:pt x="5657850" y="100584"/>
                </a:cubicBezTo>
                <a:lnTo>
                  <a:pt x="5657850" y="318516"/>
                </a:lnTo>
                <a:cubicBezTo>
                  <a:pt x="5657850" y="374067"/>
                  <a:pt x="5619853" y="419100"/>
                  <a:pt x="5572982" y="419100"/>
                </a:cubicBezTo>
                <a:lnTo>
                  <a:pt x="84868" y="419100"/>
                </a:lnTo>
                <a:cubicBezTo>
                  <a:pt x="37997" y="419100"/>
                  <a:pt x="0" y="374067"/>
                  <a:pt x="0" y="318516"/>
                </a:cubicBezTo>
                <a:lnTo>
                  <a:pt x="0" y="100584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59" name="任意多边形 58"/>
          <p:cNvSpPr/>
          <p:nvPr/>
        </p:nvSpPr>
        <p:spPr>
          <a:xfrm>
            <a:off x="266700" y="4578350"/>
            <a:ext cx="101600" cy="418465"/>
          </a:xfrm>
          <a:custGeom>
            <a:avLst/>
            <a:gdLst>
              <a:gd name="connisteX0" fmla="*/ 0 w 101599"/>
              <a:gd name="connsiteY0" fmla="*/ 50291 h 419099"/>
              <a:gd name="connisteX1" fmla="*/ 50799 w 101599"/>
              <a:gd name="connsiteY1" fmla="*/ 0 h 419099"/>
              <a:gd name="connisteX2" fmla="*/ 101599 w 101599"/>
              <a:gd name="connsiteY2" fmla="*/ 50291 h 419099"/>
              <a:gd name="connisteX3" fmla="*/ 101599 w 101599"/>
              <a:gd name="connsiteY3" fmla="*/ 368807 h 419099"/>
              <a:gd name="connisteX4" fmla="*/ 50799 w 101599"/>
              <a:gd name="connsiteY4" fmla="*/ 419099 h 419099"/>
              <a:gd name="connisteX5" fmla="*/ 0 w 101599"/>
              <a:gd name="connsiteY5" fmla="*/ 368807 h 419099"/>
              <a:gd name="connisteX6" fmla="*/ 0 w 101599"/>
              <a:gd name="connsiteY6" fmla="*/ 50291 h 4190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19100">
                <a:moveTo>
                  <a:pt x="0" y="50292"/>
                </a:moveTo>
                <a:cubicBezTo>
                  <a:pt x="0" y="22516"/>
                  <a:pt x="22744" y="0"/>
                  <a:pt x="50800" y="0"/>
                </a:cubicBezTo>
                <a:cubicBezTo>
                  <a:pt x="78856" y="0"/>
                  <a:pt x="101600" y="22516"/>
                  <a:pt x="101600" y="50292"/>
                </a:cubicBezTo>
                <a:lnTo>
                  <a:pt x="101600" y="368808"/>
                </a:lnTo>
                <a:cubicBezTo>
                  <a:pt x="101600" y="396584"/>
                  <a:pt x="78856" y="419100"/>
                  <a:pt x="50800" y="419100"/>
                </a:cubicBezTo>
                <a:cubicBezTo>
                  <a:pt x="22744" y="419100"/>
                  <a:pt x="0" y="396584"/>
                  <a:pt x="0" y="368808"/>
                </a:cubicBezTo>
                <a:lnTo>
                  <a:pt x="0" y="50292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434975" y="4592955"/>
            <a:ext cx="3381375" cy="38354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Top-20 名单重叠（Jaccard）</a:t>
            </a:r>
            <a:endParaRPr lang="zh-CN" altLang="en-US" sz="19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61" name="任意多边形 60"/>
          <p:cNvSpPr/>
          <p:nvPr/>
        </p:nvSpPr>
        <p:spPr>
          <a:xfrm>
            <a:off x="6178550" y="4578350"/>
            <a:ext cx="5746750" cy="419100"/>
          </a:xfrm>
          <a:custGeom>
            <a:avLst/>
            <a:gdLst>
              <a:gd name="connisteX0" fmla="*/ 0 w 5746750"/>
              <a:gd name="connsiteY0" fmla="*/ 100584 h 419100"/>
              <a:gd name="connisteX1" fmla="*/ 86201 w 5746750"/>
              <a:gd name="connsiteY1" fmla="*/ 0 h 419100"/>
              <a:gd name="connisteX2" fmla="*/ 5660548 w 5746750"/>
              <a:gd name="connsiteY2" fmla="*/ 0 h 419100"/>
              <a:gd name="connisteX3" fmla="*/ 5746750 w 5746750"/>
              <a:gd name="connsiteY3" fmla="*/ 100584 h 419100"/>
              <a:gd name="connisteX4" fmla="*/ 5746750 w 5746750"/>
              <a:gd name="connsiteY4" fmla="*/ 318516 h 419100"/>
              <a:gd name="connisteX5" fmla="*/ 5660548 w 5746750"/>
              <a:gd name="connsiteY5" fmla="*/ 419100 h 419100"/>
              <a:gd name="connisteX6" fmla="*/ 86201 w 5746750"/>
              <a:gd name="connsiteY6" fmla="*/ 419100 h 419100"/>
              <a:gd name="connisteX7" fmla="*/ 0 w 5746750"/>
              <a:gd name="connsiteY7" fmla="*/ 318516 h 419100"/>
              <a:gd name="connisteX8" fmla="*/ 0 w 5746750"/>
              <a:gd name="connsiteY8" fmla="*/ 100584 h 4191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746750" h="419100">
                <a:moveTo>
                  <a:pt x="0" y="100584"/>
                </a:moveTo>
                <a:cubicBezTo>
                  <a:pt x="0" y="45033"/>
                  <a:pt x="38594" y="0"/>
                  <a:pt x="86201" y="0"/>
                </a:cubicBezTo>
                <a:lnTo>
                  <a:pt x="5660549" y="0"/>
                </a:lnTo>
                <a:cubicBezTo>
                  <a:pt x="5708156" y="0"/>
                  <a:pt x="5746750" y="45033"/>
                  <a:pt x="5746750" y="100584"/>
                </a:cubicBezTo>
                <a:lnTo>
                  <a:pt x="5746750" y="318516"/>
                </a:lnTo>
                <a:cubicBezTo>
                  <a:pt x="5746750" y="374067"/>
                  <a:pt x="5708156" y="419100"/>
                  <a:pt x="5660549" y="419100"/>
                </a:cubicBezTo>
                <a:lnTo>
                  <a:pt x="86201" y="419100"/>
                </a:lnTo>
                <a:cubicBezTo>
                  <a:pt x="38594" y="419100"/>
                  <a:pt x="0" y="374067"/>
                  <a:pt x="0" y="318516"/>
                </a:cubicBezTo>
                <a:lnTo>
                  <a:pt x="0" y="100584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62" name="任意多边形 61"/>
          <p:cNvSpPr/>
          <p:nvPr/>
        </p:nvSpPr>
        <p:spPr>
          <a:xfrm>
            <a:off x="6178550" y="4578350"/>
            <a:ext cx="100965" cy="418465"/>
          </a:xfrm>
          <a:custGeom>
            <a:avLst/>
            <a:gdLst>
              <a:gd name="connisteX0" fmla="*/ 0 w 101599"/>
              <a:gd name="connsiteY0" fmla="*/ 50291 h 419099"/>
              <a:gd name="connisteX1" fmla="*/ 50800 w 101599"/>
              <a:gd name="connsiteY1" fmla="*/ 0 h 419099"/>
              <a:gd name="connisteX2" fmla="*/ 101599 w 101599"/>
              <a:gd name="connsiteY2" fmla="*/ 50291 h 419099"/>
              <a:gd name="connisteX3" fmla="*/ 101599 w 101599"/>
              <a:gd name="connsiteY3" fmla="*/ 368807 h 419099"/>
              <a:gd name="connisteX4" fmla="*/ 50800 w 101599"/>
              <a:gd name="connsiteY4" fmla="*/ 419099 h 419099"/>
              <a:gd name="connisteX5" fmla="*/ 0 w 101599"/>
              <a:gd name="connsiteY5" fmla="*/ 368807 h 419099"/>
              <a:gd name="connisteX6" fmla="*/ 0 w 101599"/>
              <a:gd name="connsiteY6" fmla="*/ 50291 h 4190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19100">
                <a:moveTo>
                  <a:pt x="0" y="50292"/>
                </a:moveTo>
                <a:cubicBezTo>
                  <a:pt x="0" y="22516"/>
                  <a:pt x="22744" y="0"/>
                  <a:pt x="50800" y="0"/>
                </a:cubicBezTo>
                <a:cubicBezTo>
                  <a:pt x="78856" y="0"/>
                  <a:pt x="101600" y="22516"/>
                  <a:pt x="101600" y="50292"/>
                </a:cubicBezTo>
                <a:lnTo>
                  <a:pt x="101600" y="368808"/>
                </a:lnTo>
                <a:cubicBezTo>
                  <a:pt x="101600" y="396584"/>
                  <a:pt x="78856" y="419100"/>
                  <a:pt x="50800" y="419100"/>
                </a:cubicBezTo>
                <a:cubicBezTo>
                  <a:pt x="22744" y="419100"/>
                  <a:pt x="0" y="396584"/>
                  <a:pt x="0" y="368808"/>
                </a:cubicBezTo>
                <a:lnTo>
                  <a:pt x="0" y="50292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6341110" y="4583430"/>
            <a:ext cx="3481070" cy="38354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第一前沿覆盖（全池共 10 条）</a:t>
            </a:r>
            <a:endParaRPr lang="zh-CN" altLang="en-US" sz="19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97510" y="5046980"/>
            <a:ext cx="1283335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加权 / Pareto</a:t>
            </a:r>
            <a:endParaRPr lang="zh-CN" altLang="en-US" sz="150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65" name="任意多边形 64"/>
          <p:cNvSpPr/>
          <p:nvPr/>
        </p:nvSpPr>
        <p:spPr>
          <a:xfrm>
            <a:off x="2857500" y="5117465"/>
            <a:ext cx="2216150" cy="184150"/>
          </a:xfrm>
          <a:custGeom>
            <a:avLst/>
            <a:gdLst>
              <a:gd name="connisteX0" fmla="*/ 0 w 2216149"/>
              <a:gd name="connsiteY0" fmla="*/ 31305 h 184149"/>
              <a:gd name="connisteX1" fmla="*/ 22161 w 2216149"/>
              <a:gd name="connsiteY1" fmla="*/ 0 h 184149"/>
              <a:gd name="connisteX2" fmla="*/ 2193988 w 2216149"/>
              <a:gd name="connsiteY2" fmla="*/ 0 h 184149"/>
              <a:gd name="connisteX3" fmla="*/ 2216149 w 2216149"/>
              <a:gd name="connsiteY3" fmla="*/ 31305 h 184149"/>
              <a:gd name="connisteX4" fmla="*/ 2216149 w 2216149"/>
              <a:gd name="connsiteY4" fmla="*/ 152844 h 184149"/>
              <a:gd name="connisteX5" fmla="*/ 2193988 w 2216149"/>
              <a:gd name="connsiteY5" fmla="*/ 184149 h 184149"/>
              <a:gd name="connisteX6" fmla="*/ 22161 w 2216149"/>
              <a:gd name="connsiteY6" fmla="*/ 184149 h 184149"/>
              <a:gd name="connisteX7" fmla="*/ 0 w 2216149"/>
              <a:gd name="connsiteY7" fmla="*/ 152844 h 184149"/>
              <a:gd name="connisteX8" fmla="*/ 0 w 2216149"/>
              <a:gd name="connsiteY8" fmla="*/ 31305 h 1841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216150" h="184150">
                <a:moveTo>
                  <a:pt x="0" y="31305"/>
                </a:moveTo>
                <a:cubicBezTo>
                  <a:pt x="0" y="14016"/>
                  <a:pt x="9922" y="0"/>
                  <a:pt x="22161" y="0"/>
                </a:cubicBezTo>
                <a:lnTo>
                  <a:pt x="2193988" y="0"/>
                </a:lnTo>
                <a:cubicBezTo>
                  <a:pt x="2206228" y="0"/>
                  <a:pt x="2216150" y="14016"/>
                  <a:pt x="2216150" y="31305"/>
                </a:cubicBezTo>
                <a:lnTo>
                  <a:pt x="2216150" y="152844"/>
                </a:lnTo>
                <a:cubicBezTo>
                  <a:pt x="2216150" y="170134"/>
                  <a:pt x="2206228" y="184150"/>
                  <a:pt x="2193988" y="184150"/>
                </a:cubicBezTo>
                <a:lnTo>
                  <a:pt x="22161" y="184150"/>
                </a:lnTo>
                <a:cubicBezTo>
                  <a:pt x="9922" y="184150"/>
                  <a:pt x="0" y="170134"/>
                  <a:pt x="0" y="152844"/>
                </a:cubicBezTo>
                <a:lnTo>
                  <a:pt x="0" y="31305"/>
                </a:lnTo>
                <a:close/>
              </a:path>
            </a:pathLst>
          </a:custGeom>
          <a:solidFill>
            <a:srgbClr val="E3EEF7"/>
          </a:solidFill>
        </p:spPr>
        <p:txBody>
          <a:bodyPr/>
          <a:p>
            <a:endParaRPr lang="zh-CN" altLang="en-US"/>
          </a:p>
        </p:txBody>
      </p:sp>
      <p:sp>
        <p:nvSpPr>
          <p:cNvPr id="66" name="任意多边形 65"/>
          <p:cNvSpPr/>
          <p:nvPr/>
        </p:nvSpPr>
        <p:spPr>
          <a:xfrm>
            <a:off x="2857500" y="5117465"/>
            <a:ext cx="738505" cy="184150"/>
          </a:xfrm>
          <a:custGeom>
            <a:avLst/>
            <a:gdLst>
              <a:gd name="connisteX0" fmla="*/ 0 w 738716"/>
              <a:gd name="connsiteY0" fmla="*/ 31305 h 184149"/>
              <a:gd name="connisteX1" fmla="*/ 29548 w 738716"/>
              <a:gd name="connsiteY1" fmla="*/ 0 h 184149"/>
              <a:gd name="connisteX2" fmla="*/ 709167 w 738716"/>
              <a:gd name="connsiteY2" fmla="*/ 0 h 184149"/>
              <a:gd name="connisteX3" fmla="*/ 738716 w 738716"/>
              <a:gd name="connsiteY3" fmla="*/ 31305 h 184149"/>
              <a:gd name="connisteX4" fmla="*/ 738716 w 738716"/>
              <a:gd name="connsiteY4" fmla="*/ 152844 h 184149"/>
              <a:gd name="connisteX5" fmla="*/ 709167 w 738716"/>
              <a:gd name="connsiteY5" fmla="*/ 184149 h 184149"/>
              <a:gd name="connisteX6" fmla="*/ 29548 w 738716"/>
              <a:gd name="connsiteY6" fmla="*/ 184149 h 184149"/>
              <a:gd name="connisteX7" fmla="*/ 0 w 738716"/>
              <a:gd name="connsiteY7" fmla="*/ 152844 h 184149"/>
              <a:gd name="connisteX8" fmla="*/ 0 w 738716"/>
              <a:gd name="connsiteY8" fmla="*/ 31305 h 1841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738717" h="184150">
                <a:moveTo>
                  <a:pt x="0" y="31305"/>
                </a:moveTo>
                <a:cubicBezTo>
                  <a:pt x="0" y="14016"/>
                  <a:pt x="13229" y="0"/>
                  <a:pt x="29549" y="0"/>
                </a:cubicBezTo>
                <a:lnTo>
                  <a:pt x="709168" y="0"/>
                </a:lnTo>
                <a:cubicBezTo>
                  <a:pt x="725487" y="0"/>
                  <a:pt x="738717" y="14016"/>
                  <a:pt x="738717" y="31305"/>
                </a:cubicBezTo>
                <a:lnTo>
                  <a:pt x="738717" y="152844"/>
                </a:lnTo>
                <a:cubicBezTo>
                  <a:pt x="738717" y="170134"/>
                  <a:pt x="725487" y="184150"/>
                  <a:pt x="709168" y="184150"/>
                </a:cubicBezTo>
                <a:lnTo>
                  <a:pt x="29549" y="184150"/>
                </a:lnTo>
                <a:cubicBezTo>
                  <a:pt x="13229" y="184150"/>
                  <a:pt x="0" y="170134"/>
                  <a:pt x="0" y="152844"/>
                </a:cubicBezTo>
                <a:lnTo>
                  <a:pt x="0" y="31305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5102860" y="5040630"/>
            <a:ext cx="659765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0.333</a:t>
            </a:r>
            <a:endParaRPr lang="zh-CN" altLang="en-US" sz="15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397510" y="5440680"/>
            <a:ext cx="1102995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加权 / 轮转</a:t>
            </a:r>
            <a:endParaRPr lang="zh-CN" altLang="en-US" sz="150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69" name="任意多边形 68"/>
          <p:cNvSpPr/>
          <p:nvPr/>
        </p:nvSpPr>
        <p:spPr>
          <a:xfrm>
            <a:off x="2857500" y="5511800"/>
            <a:ext cx="2216150" cy="183515"/>
          </a:xfrm>
          <a:custGeom>
            <a:avLst/>
            <a:gdLst>
              <a:gd name="connisteX0" fmla="*/ 0 w 2216149"/>
              <a:gd name="connsiteY0" fmla="*/ 31305 h 184149"/>
              <a:gd name="connisteX1" fmla="*/ 22161 w 2216149"/>
              <a:gd name="connsiteY1" fmla="*/ 0 h 184149"/>
              <a:gd name="connisteX2" fmla="*/ 2193988 w 2216149"/>
              <a:gd name="connsiteY2" fmla="*/ 0 h 184149"/>
              <a:gd name="connisteX3" fmla="*/ 2216149 w 2216149"/>
              <a:gd name="connsiteY3" fmla="*/ 31305 h 184149"/>
              <a:gd name="connisteX4" fmla="*/ 2216149 w 2216149"/>
              <a:gd name="connsiteY4" fmla="*/ 152844 h 184149"/>
              <a:gd name="connisteX5" fmla="*/ 2193988 w 2216149"/>
              <a:gd name="connsiteY5" fmla="*/ 184149 h 184149"/>
              <a:gd name="connisteX6" fmla="*/ 22161 w 2216149"/>
              <a:gd name="connsiteY6" fmla="*/ 184149 h 184149"/>
              <a:gd name="connisteX7" fmla="*/ 0 w 2216149"/>
              <a:gd name="connsiteY7" fmla="*/ 152844 h 184149"/>
              <a:gd name="connisteX8" fmla="*/ 0 w 2216149"/>
              <a:gd name="connsiteY8" fmla="*/ 31305 h 1841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216150" h="184150">
                <a:moveTo>
                  <a:pt x="0" y="31305"/>
                </a:moveTo>
                <a:cubicBezTo>
                  <a:pt x="0" y="14016"/>
                  <a:pt x="9922" y="0"/>
                  <a:pt x="22161" y="0"/>
                </a:cubicBezTo>
                <a:lnTo>
                  <a:pt x="2193988" y="0"/>
                </a:lnTo>
                <a:cubicBezTo>
                  <a:pt x="2206228" y="0"/>
                  <a:pt x="2216150" y="14016"/>
                  <a:pt x="2216150" y="31305"/>
                </a:cubicBezTo>
                <a:lnTo>
                  <a:pt x="2216150" y="152844"/>
                </a:lnTo>
                <a:cubicBezTo>
                  <a:pt x="2216150" y="170134"/>
                  <a:pt x="2206228" y="184150"/>
                  <a:pt x="2193988" y="184150"/>
                </a:cubicBezTo>
                <a:lnTo>
                  <a:pt x="22161" y="184150"/>
                </a:lnTo>
                <a:cubicBezTo>
                  <a:pt x="9922" y="184150"/>
                  <a:pt x="0" y="170134"/>
                  <a:pt x="0" y="152844"/>
                </a:cubicBezTo>
                <a:lnTo>
                  <a:pt x="0" y="31305"/>
                </a:lnTo>
                <a:close/>
              </a:path>
            </a:pathLst>
          </a:custGeom>
          <a:solidFill>
            <a:srgbClr val="E3EEF7"/>
          </a:solidFill>
        </p:spPr>
        <p:txBody>
          <a:bodyPr/>
          <a:p>
            <a:endParaRPr lang="zh-CN" altLang="en-US"/>
          </a:p>
        </p:txBody>
      </p:sp>
      <p:sp>
        <p:nvSpPr>
          <p:cNvPr id="70" name="任意多边形 69"/>
          <p:cNvSpPr/>
          <p:nvPr/>
        </p:nvSpPr>
        <p:spPr>
          <a:xfrm>
            <a:off x="2857500" y="5511800"/>
            <a:ext cx="390525" cy="183515"/>
          </a:xfrm>
          <a:custGeom>
            <a:avLst/>
            <a:gdLst>
              <a:gd name="connisteX0" fmla="*/ 0 w 391085"/>
              <a:gd name="connsiteY0" fmla="*/ 31305 h 184149"/>
              <a:gd name="connisteX1" fmla="*/ 31286 w 391085"/>
              <a:gd name="connsiteY1" fmla="*/ 0 h 184149"/>
              <a:gd name="connisteX2" fmla="*/ 359798 w 391085"/>
              <a:gd name="connsiteY2" fmla="*/ 0 h 184149"/>
              <a:gd name="connisteX3" fmla="*/ 391085 w 391085"/>
              <a:gd name="connsiteY3" fmla="*/ 31305 h 184149"/>
              <a:gd name="connisteX4" fmla="*/ 391085 w 391085"/>
              <a:gd name="connsiteY4" fmla="*/ 152844 h 184149"/>
              <a:gd name="connisteX5" fmla="*/ 359798 w 391085"/>
              <a:gd name="connsiteY5" fmla="*/ 184149 h 184149"/>
              <a:gd name="connisteX6" fmla="*/ 31286 w 391085"/>
              <a:gd name="connsiteY6" fmla="*/ 184149 h 184149"/>
              <a:gd name="connisteX7" fmla="*/ 0 w 391085"/>
              <a:gd name="connsiteY7" fmla="*/ 152844 h 184149"/>
              <a:gd name="connisteX8" fmla="*/ 0 w 391085"/>
              <a:gd name="connsiteY8" fmla="*/ 31305 h 1841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391085" h="184150">
                <a:moveTo>
                  <a:pt x="0" y="31305"/>
                </a:moveTo>
                <a:cubicBezTo>
                  <a:pt x="0" y="14016"/>
                  <a:pt x="14008" y="0"/>
                  <a:pt x="31287" y="0"/>
                </a:cubicBezTo>
                <a:lnTo>
                  <a:pt x="359798" y="0"/>
                </a:lnTo>
                <a:cubicBezTo>
                  <a:pt x="377078" y="0"/>
                  <a:pt x="391085" y="14016"/>
                  <a:pt x="391085" y="31305"/>
                </a:cubicBezTo>
                <a:lnTo>
                  <a:pt x="391085" y="152844"/>
                </a:lnTo>
                <a:cubicBezTo>
                  <a:pt x="391085" y="170134"/>
                  <a:pt x="377078" y="184150"/>
                  <a:pt x="359798" y="184150"/>
                </a:cubicBezTo>
                <a:lnTo>
                  <a:pt x="31287" y="184150"/>
                </a:lnTo>
                <a:cubicBezTo>
                  <a:pt x="14008" y="184150"/>
                  <a:pt x="0" y="170134"/>
                  <a:pt x="0" y="152844"/>
                </a:cubicBezTo>
                <a:lnTo>
                  <a:pt x="0" y="31305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5102860" y="5434330"/>
            <a:ext cx="659765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0.176</a:t>
            </a:r>
            <a:endParaRPr lang="zh-CN" altLang="en-US" sz="15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416560" y="5834380"/>
            <a:ext cx="1283335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Pareto / 轮转</a:t>
            </a:r>
            <a:endParaRPr lang="zh-CN" altLang="en-US" sz="150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73" name="任意多边形 72"/>
          <p:cNvSpPr/>
          <p:nvPr/>
        </p:nvSpPr>
        <p:spPr>
          <a:xfrm>
            <a:off x="2857500" y="5905500"/>
            <a:ext cx="2216150" cy="183515"/>
          </a:xfrm>
          <a:custGeom>
            <a:avLst/>
            <a:gdLst>
              <a:gd name="connisteX0" fmla="*/ 0 w 2216149"/>
              <a:gd name="connsiteY0" fmla="*/ 31305 h 184149"/>
              <a:gd name="connisteX1" fmla="*/ 22161 w 2216149"/>
              <a:gd name="connsiteY1" fmla="*/ 0 h 184149"/>
              <a:gd name="connisteX2" fmla="*/ 2193988 w 2216149"/>
              <a:gd name="connsiteY2" fmla="*/ 0 h 184149"/>
              <a:gd name="connisteX3" fmla="*/ 2216149 w 2216149"/>
              <a:gd name="connsiteY3" fmla="*/ 31305 h 184149"/>
              <a:gd name="connisteX4" fmla="*/ 2216149 w 2216149"/>
              <a:gd name="connsiteY4" fmla="*/ 152844 h 184149"/>
              <a:gd name="connisteX5" fmla="*/ 2193988 w 2216149"/>
              <a:gd name="connsiteY5" fmla="*/ 184149 h 184149"/>
              <a:gd name="connisteX6" fmla="*/ 22161 w 2216149"/>
              <a:gd name="connsiteY6" fmla="*/ 184149 h 184149"/>
              <a:gd name="connisteX7" fmla="*/ 0 w 2216149"/>
              <a:gd name="connsiteY7" fmla="*/ 152844 h 184149"/>
              <a:gd name="connisteX8" fmla="*/ 0 w 2216149"/>
              <a:gd name="connsiteY8" fmla="*/ 31305 h 1841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216150" h="184150">
                <a:moveTo>
                  <a:pt x="0" y="31305"/>
                </a:moveTo>
                <a:cubicBezTo>
                  <a:pt x="0" y="14016"/>
                  <a:pt x="9922" y="0"/>
                  <a:pt x="22161" y="0"/>
                </a:cubicBezTo>
                <a:lnTo>
                  <a:pt x="2193988" y="0"/>
                </a:lnTo>
                <a:cubicBezTo>
                  <a:pt x="2206228" y="0"/>
                  <a:pt x="2216150" y="14016"/>
                  <a:pt x="2216150" y="31305"/>
                </a:cubicBezTo>
                <a:lnTo>
                  <a:pt x="2216150" y="152844"/>
                </a:lnTo>
                <a:cubicBezTo>
                  <a:pt x="2216150" y="170134"/>
                  <a:pt x="2206228" y="184150"/>
                  <a:pt x="2193988" y="184150"/>
                </a:cubicBezTo>
                <a:lnTo>
                  <a:pt x="22161" y="184150"/>
                </a:lnTo>
                <a:cubicBezTo>
                  <a:pt x="9922" y="184150"/>
                  <a:pt x="0" y="170134"/>
                  <a:pt x="0" y="152844"/>
                </a:cubicBezTo>
                <a:lnTo>
                  <a:pt x="0" y="31305"/>
                </a:lnTo>
                <a:close/>
              </a:path>
            </a:pathLst>
          </a:custGeom>
          <a:solidFill>
            <a:srgbClr val="E3EEF7"/>
          </a:solidFill>
        </p:spPr>
        <p:txBody>
          <a:bodyPr/>
          <a:p>
            <a:endParaRPr lang="zh-CN" altLang="en-US"/>
          </a:p>
        </p:txBody>
      </p:sp>
      <p:sp>
        <p:nvSpPr>
          <p:cNvPr id="74" name="任意多边形 73"/>
          <p:cNvSpPr/>
          <p:nvPr/>
        </p:nvSpPr>
        <p:spPr>
          <a:xfrm>
            <a:off x="2857500" y="5905500"/>
            <a:ext cx="1193165" cy="183515"/>
          </a:xfrm>
          <a:custGeom>
            <a:avLst/>
            <a:gdLst>
              <a:gd name="connisteX0" fmla="*/ 0 w 1193311"/>
              <a:gd name="connsiteY0" fmla="*/ 31305 h 184149"/>
              <a:gd name="connisteX1" fmla="*/ 29832 w 1193311"/>
              <a:gd name="connsiteY1" fmla="*/ 0 h 184149"/>
              <a:gd name="connisteX2" fmla="*/ 1163478 w 1193311"/>
              <a:gd name="connsiteY2" fmla="*/ 0 h 184149"/>
              <a:gd name="connisteX3" fmla="*/ 1193311 w 1193311"/>
              <a:gd name="connsiteY3" fmla="*/ 31305 h 184149"/>
              <a:gd name="connisteX4" fmla="*/ 1193311 w 1193311"/>
              <a:gd name="connsiteY4" fmla="*/ 152844 h 184149"/>
              <a:gd name="connisteX5" fmla="*/ 1163478 w 1193311"/>
              <a:gd name="connsiteY5" fmla="*/ 184149 h 184149"/>
              <a:gd name="connisteX6" fmla="*/ 29832 w 1193311"/>
              <a:gd name="connsiteY6" fmla="*/ 184149 h 184149"/>
              <a:gd name="connisteX7" fmla="*/ 0 w 1193311"/>
              <a:gd name="connsiteY7" fmla="*/ 152844 h 184149"/>
              <a:gd name="connisteX8" fmla="*/ 0 w 1193311"/>
              <a:gd name="connsiteY8" fmla="*/ 31305 h 1841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93312" h="184150">
                <a:moveTo>
                  <a:pt x="0" y="31305"/>
                </a:moveTo>
                <a:cubicBezTo>
                  <a:pt x="0" y="14016"/>
                  <a:pt x="13357" y="0"/>
                  <a:pt x="29833" y="0"/>
                </a:cubicBezTo>
                <a:lnTo>
                  <a:pt x="1163479" y="0"/>
                </a:lnTo>
                <a:cubicBezTo>
                  <a:pt x="1179955" y="0"/>
                  <a:pt x="1193312" y="14016"/>
                  <a:pt x="1193312" y="31305"/>
                </a:cubicBezTo>
                <a:lnTo>
                  <a:pt x="1193312" y="152844"/>
                </a:lnTo>
                <a:cubicBezTo>
                  <a:pt x="1193312" y="170134"/>
                  <a:pt x="1179955" y="184150"/>
                  <a:pt x="1163479" y="184150"/>
                </a:cubicBezTo>
                <a:lnTo>
                  <a:pt x="29833" y="184150"/>
                </a:lnTo>
                <a:cubicBezTo>
                  <a:pt x="13357" y="184150"/>
                  <a:pt x="0" y="170134"/>
                  <a:pt x="0" y="152844"/>
                </a:cubicBezTo>
                <a:lnTo>
                  <a:pt x="0" y="31305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5102860" y="5828030"/>
            <a:ext cx="659765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0.538</a:t>
            </a:r>
            <a:endParaRPr lang="zh-CN" altLang="en-US" sz="15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322060" y="5046980"/>
            <a:ext cx="56388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加权</a:t>
            </a:r>
            <a:endParaRPr lang="zh-CN" altLang="en-US" sz="150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77" name="任意多边形 76"/>
          <p:cNvSpPr/>
          <p:nvPr/>
        </p:nvSpPr>
        <p:spPr>
          <a:xfrm>
            <a:off x="7493000" y="5098415"/>
            <a:ext cx="234950" cy="197485"/>
          </a:xfrm>
          <a:custGeom>
            <a:avLst/>
            <a:gdLst>
              <a:gd name="connisteX0" fmla="*/ 0 w 234949"/>
              <a:gd name="connsiteY0" fmla="*/ 24606 h 196850"/>
              <a:gd name="connisteX1" fmla="*/ 24669 w 234949"/>
              <a:gd name="connsiteY1" fmla="*/ 0 h 196850"/>
              <a:gd name="connisteX2" fmla="*/ 210280 w 234949"/>
              <a:gd name="connsiteY2" fmla="*/ 0 h 196850"/>
              <a:gd name="connisteX3" fmla="*/ 234949 w 234949"/>
              <a:gd name="connsiteY3" fmla="*/ 24606 h 196850"/>
              <a:gd name="connisteX4" fmla="*/ 234949 w 234949"/>
              <a:gd name="connsiteY4" fmla="*/ 172243 h 196850"/>
              <a:gd name="connisteX5" fmla="*/ 210280 w 234949"/>
              <a:gd name="connsiteY5" fmla="*/ 196850 h 196850"/>
              <a:gd name="connisteX6" fmla="*/ 24669 w 234949"/>
              <a:gd name="connsiteY6" fmla="*/ 196850 h 196850"/>
              <a:gd name="connisteX7" fmla="*/ 0 w 234949"/>
              <a:gd name="connsiteY7" fmla="*/ 172243 h 196850"/>
              <a:gd name="connisteX8" fmla="*/ 0 w 234949"/>
              <a:gd name="connsiteY8" fmla="*/ 24606 h 1968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78" name="任意多边形 77"/>
          <p:cNvSpPr/>
          <p:nvPr/>
        </p:nvSpPr>
        <p:spPr>
          <a:xfrm>
            <a:off x="7804150" y="5098415"/>
            <a:ext cx="234950" cy="197485"/>
          </a:xfrm>
          <a:custGeom>
            <a:avLst/>
            <a:gdLst>
              <a:gd name="connisteX0" fmla="*/ 0 w 234950"/>
              <a:gd name="connsiteY0" fmla="*/ 24606 h 196850"/>
              <a:gd name="connisteX1" fmla="*/ 24669 w 234950"/>
              <a:gd name="connsiteY1" fmla="*/ 0 h 196850"/>
              <a:gd name="connisteX2" fmla="*/ 210280 w 234950"/>
              <a:gd name="connsiteY2" fmla="*/ 0 h 196850"/>
              <a:gd name="connisteX3" fmla="*/ 234950 w 234950"/>
              <a:gd name="connsiteY3" fmla="*/ 24606 h 196850"/>
              <a:gd name="connisteX4" fmla="*/ 234950 w 234950"/>
              <a:gd name="connsiteY4" fmla="*/ 172243 h 196850"/>
              <a:gd name="connisteX5" fmla="*/ 210280 w 234950"/>
              <a:gd name="connsiteY5" fmla="*/ 196850 h 196850"/>
              <a:gd name="connisteX6" fmla="*/ 24669 w 234950"/>
              <a:gd name="connsiteY6" fmla="*/ 196850 h 196850"/>
              <a:gd name="connisteX7" fmla="*/ 0 w 234950"/>
              <a:gd name="connsiteY7" fmla="*/ 172243 h 196850"/>
              <a:gd name="connisteX8" fmla="*/ 0 w 234950"/>
              <a:gd name="connsiteY8" fmla="*/ 24606 h 1968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79" name="任意多边形 78"/>
          <p:cNvSpPr/>
          <p:nvPr/>
        </p:nvSpPr>
        <p:spPr>
          <a:xfrm>
            <a:off x="8115300" y="5098415"/>
            <a:ext cx="234950" cy="197485"/>
          </a:xfrm>
          <a:custGeom>
            <a:avLst/>
            <a:gdLst>
              <a:gd name="connisteX0" fmla="*/ 0 w 234949"/>
              <a:gd name="connsiteY0" fmla="*/ 24606 h 196850"/>
              <a:gd name="connisteX1" fmla="*/ 24669 w 234949"/>
              <a:gd name="connsiteY1" fmla="*/ 0 h 196850"/>
              <a:gd name="connisteX2" fmla="*/ 210280 w 234949"/>
              <a:gd name="connsiteY2" fmla="*/ 0 h 196850"/>
              <a:gd name="connisteX3" fmla="*/ 234949 w 234949"/>
              <a:gd name="connsiteY3" fmla="*/ 24606 h 196850"/>
              <a:gd name="connisteX4" fmla="*/ 234949 w 234949"/>
              <a:gd name="connsiteY4" fmla="*/ 172243 h 196850"/>
              <a:gd name="connisteX5" fmla="*/ 210280 w 234949"/>
              <a:gd name="connsiteY5" fmla="*/ 196850 h 196850"/>
              <a:gd name="connisteX6" fmla="*/ 24669 w 234949"/>
              <a:gd name="connsiteY6" fmla="*/ 196850 h 196850"/>
              <a:gd name="connisteX7" fmla="*/ 0 w 234949"/>
              <a:gd name="connsiteY7" fmla="*/ 172243 h 196850"/>
              <a:gd name="connisteX8" fmla="*/ 0 w 234949"/>
              <a:gd name="connsiteY8" fmla="*/ 24606 h 1968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80" name="任意多边形 79"/>
          <p:cNvSpPr/>
          <p:nvPr/>
        </p:nvSpPr>
        <p:spPr>
          <a:xfrm>
            <a:off x="8426450" y="5098415"/>
            <a:ext cx="234950" cy="197485"/>
          </a:xfrm>
          <a:custGeom>
            <a:avLst/>
            <a:gdLst>
              <a:gd name="connisteX0" fmla="*/ 0 w 234949"/>
              <a:gd name="connsiteY0" fmla="*/ 24606 h 196850"/>
              <a:gd name="connisteX1" fmla="*/ 24669 w 234949"/>
              <a:gd name="connsiteY1" fmla="*/ 0 h 196850"/>
              <a:gd name="connisteX2" fmla="*/ 210280 w 234949"/>
              <a:gd name="connsiteY2" fmla="*/ 0 h 196850"/>
              <a:gd name="connisteX3" fmla="*/ 234949 w 234949"/>
              <a:gd name="connsiteY3" fmla="*/ 24606 h 196850"/>
              <a:gd name="connisteX4" fmla="*/ 234949 w 234949"/>
              <a:gd name="connsiteY4" fmla="*/ 172243 h 196850"/>
              <a:gd name="connisteX5" fmla="*/ 210280 w 234949"/>
              <a:gd name="connsiteY5" fmla="*/ 196850 h 196850"/>
              <a:gd name="connisteX6" fmla="*/ 24669 w 234949"/>
              <a:gd name="connsiteY6" fmla="*/ 196850 h 196850"/>
              <a:gd name="connisteX7" fmla="*/ 0 w 234949"/>
              <a:gd name="connsiteY7" fmla="*/ 172243 h 196850"/>
              <a:gd name="connisteX8" fmla="*/ 0 w 234949"/>
              <a:gd name="connsiteY8" fmla="*/ 24606 h 1968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81" name="任意多边形 80"/>
          <p:cNvSpPr/>
          <p:nvPr/>
        </p:nvSpPr>
        <p:spPr>
          <a:xfrm>
            <a:off x="8737600" y="5098415"/>
            <a:ext cx="234950" cy="197485"/>
          </a:xfrm>
          <a:custGeom>
            <a:avLst/>
            <a:gdLst>
              <a:gd name="connisteX0" fmla="*/ 0 w 234950"/>
              <a:gd name="connsiteY0" fmla="*/ 24606 h 196850"/>
              <a:gd name="connisteX1" fmla="*/ 24669 w 234950"/>
              <a:gd name="connsiteY1" fmla="*/ 0 h 196850"/>
              <a:gd name="connisteX2" fmla="*/ 210280 w 234950"/>
              <a:gd name="connsiteY2" fmla="*/ 0 h 196850"/>
              <a:gd name="connisteX3" fmla="*/ 234950 w 234950"/>
              <a:gd name="connsiteY3" fmla="*/ 24606 h 196850"/>
              <a:gd name="connisteX4" fmla="*/ 234950 w 234950"/>
              <a:gd name="connsiteY4" fmla="*/ 172243 h 196850"/>
              <a:gd name="connisteX5" fmla="*/ 210280 w 234950"/>
              <a:gd name="connsiteY5" fmla="*/ 196850 h 196850"/>
              <a:gd name="connisteX6" fmla="*/ 24669 w 234950"/>
              <a:gd name="connsiteY6" fmla="*/ 196850 h 196850"/>
              <a:gd name="connisteX7" fmla="*/ 0 w 234950"/>
              <a:gd name="connsiteY7" fmla="*/ 172243 h 196850"/>
              <a:gd name="connisteX8" fmla="*/ 0 w 234950"/>
              <a:gd name="connsiteY8" fmla="*/ 24606 h 1968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E3EEF7"/>
          </a:solidFill>
        </p:spPr>
        <p:txBody>
          <a:bodyPr/>
          <a:p>
            <a:endParaRPr lang="zh-CN" altLang="en-US"/>
          </a:p>
        </p:txBody>
      </p:sp>
      <p:sp>
        <p:nvSpPr>
          <p:cNvPr id="82" name="任意多边形 81"/>
          <p:cNvSpPr/>
          <p:nvPr/>
        </p:nvSpPr>
        <p:spPr>
          <a:xfrm>
            <a:off x="9048750" y="5098415"/>
            <a:ext cx="234950" cy="197485"/>
          </a:xfrm>
          <a:custGeom>
            <a:avLst/>
            <a:gdLst>
              <a:gd name="connisteX0" fmla="*/ 0 w 234949"/>
              <a:gd name="connsiteY0" fmla="*/ 24606 h 196850"/>
              <a:gd name="connisteX1" fmla="*/ 24669 w 234949"/>
              <a:gd name="connsiteY1" fmla="*/ 0 h 196850"/>
              <a:gd name="connisteX2" fmla="*/ 210280 w 234949"/>
              <a:gd name="connsiteY2" fmla="*/ 0 h 196850"/>
              <a:gd name="connisteX3" fmla="*/ 234949 w 234949"/>
              <a:gd name="connsiteY3" fmla="*/ 24606 h 196850"/>
              <a:gd name="connisteX4" fmla="*/ 234949 w 234949"/>
              <a:gd name="connsiteY4" fmla="*/ 172243 h 196850"/>
              <a:gd name="connisteX5" fmla="*/ 210280 w 234949"/>
              <a:gd name="connsiteY5" fmla="*/ 196850 h 196850"/>
              <a:gd name="connisteX6" fmla="*/ 24669 w 234949"/>
              <a:gd name="connsiteY6" fmla="*/ 196850 h 196850"/>
              <a:gd name="connisteX7" fmla="*/ 0 w 234949"/>
              <a:gd name="connsiteY7" fmla="*/ 172243 h 196850"/>
              <a:gd name="connisteX8" fmla="*/ 0 w 234949"/>
              <a:gd name="connsiteY8" fmla="*/ 24606 h 1968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E3EEF7"/>
          </a:solidFill>
        </p:spPr>
        <p:txBody>
          <a:bodyPr/>
          <a:p>
            <a:endParaRPr lang="zh-CN" altLang="en-US"/>
          </a:p>
        </p:txBody>
      </p:sp>
      <p:sp>
        <p:nvSpPr>
          <p:cNvPr id="83" name="任意多边形 82"/>
          <p:cNvSpPr/>
          <p:nvPr/>
        </p:nvSpPr>
        <p:spPr>
          <a:xfrm>
            <a:off x="9359900" y="5098415"/>
            <a:ext cx="234950" cy="197485"/>
          </a:xfrm>
          <a:custGeom>
            <a:avLst/>
            <a:gdLst>
              <a:gd name="connisteX0" fmla="*/ 0 w 234949"/>
              <a:gd name="connsiteY0" fmla="*/ 24606 h 196850"/>
              <a:gd name="connisteX1" fmla="*/ 24669 w 234949"/>
              <a:gd name="connsiteY1" fmla="*/ 0 h 196850"/>
              <a:gd name="connisteX2" fmla="*/ 210280 w 234949"/>
              <a:gd name="connsiteY2" fmla="*/ 0 h 196850"/>
              <a:gd name="connisteX3" fmla="*/ 234949 w 234949"/>
              <a:gd name="connsiteY3" fmla="*/ 24606 h 196850"/>
              <a:gd name="connisteX4" fmla="*/ 234949 w 234949"/>
              <a:gd name="connsiteY4" fmla="*/ 172243 h 196850"/>
              <a:gd name="connisteX5" fmla="*/ 210280 w 234949"/>
              <a:gd name="connsiteY5" fmla="*/ 196850 h 196850"/>
              <a:gd name="connisteX6" fmla="*/ 24669 w 234949"/>
              <a:gd name="connsiteY6" fmla="*/ 196850 h 196850"/>
              <a:gd name="connisteX7" fmla="*/ 0 w 234949"/>
              <a:gd name="connsiteY7" fmla="*/ 172243 h 196850"/>
              <a:gd name="connisteX8" fmla="*/ 0 w 234949"/>
              <a:gd name="connsiteY8" fmla="*/ 24606 h 1968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E3EEF7"/>
          </a:solidFill>
        </p:spPr>
        <p:txBody>
          <a:bodyPr/>
          <a:p>
            <a:endParaRPr lang="zh-CN" altLang="en-US"/>
          </a:p>
        </p:txBody>
      </p:sp>
      <p:sp>
        <p:nvSpPr>
          <p:cNvPr id="84" name="任意多边形 83"/>
          <p:cNvSpPr/>
          <p:nvPr/>
        </p:nvSpPr>
        <p:spPr>
          <a:xfrm>
            <a:off x="9671050" y="5098415"/>
            <a:ext cx="234950" cy="197485"/>
          </a:xfrm>
          <a:custGeom>
            <a:avLst/>
            <a:gdLst>
              <a:gd name="connisteX0" fmla="*/ 0 w 234950"/>
              <a:gd name="connsiteY0" fmla="*/ 24606 h 196850"/>
              <a:gd name="connisteX1" fmla="*/ 24669 w 234950"/>
              <a:gd name="connsiteY1" fmla="*/ 0 h 196850"/>
              <a:gd name="connisteX2" fmla="*/ 210280 w 234950"/>
              <a:gd name="connsiteY2" fmla="*/ 0 h 196850"/>
              <a:gd name="connisteX3" fmla="*/ 234950 w 234950"/>
              <a:gd name="connsiteY3" fmla="*/ 24606 h 196850"/>
              <a:gd name="connisteX4" fmla="*/ 234950 w 234950"/>
              <a:gd name="connsiteY4" fmla="*/ 172243 h 196850"/>
              <a:gd name="connisteX5" fmla="*/ 210280 w 234950"/>
              <a:gd name="connsiteY5" fmla="*/ 196850 h 196850"/>
              <a:gd name="connisteX6" fmla="*/ 24669 w 234950"/>
              <a:gd name="connsiteY6" fmla="*/ 196850 h 196850"/>
              <a:gd name="connisteX7" fmla="*/ 0 w 234950"/>
              <a:gd name="connsiteY7" fmla="*/ 172243 h 196850"/>
              <a:gd name="connisteX8" fmla="*/ 0 w 234950"/>
              <a:gd name="connsiteY8" fmla="*/ 24606 h 1968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E3EEF7"/>
          </a:solidFill>
        </p:spPr>
        <p:txBody>
          <a:bodyPr/>
          <a:p>
            <a:endParaRPr lang="zh-CN" altLang="en-US"/>
          </a:p>
        </p:txBody>
      </p:sp>
      <p:sp>
        <p:nvSpPr>
          <p:cNvPr id="85" name="任意多边形 84"/>
          <p:cNvSpPr/>
          <p:nvPr/>
        </p:nvSpPr>
        <p:spPr>
          <a:xfrm>
            <a:off x="9982200" y="5098415"/>
            <a:ext cx="234315" cy="197485"/>
          </a:xfrm>
          <a:custGeom>
            <a:avLst/>
            <a:gdLst>
              <a:gd name="connisteX0" fmla="*/ 0 w 234949"/>
              <a:gd name="connsiteY0" fmla="*/ 24606 h 196850"/>
              <a:gd name="connisteX1" fmla="*/ 24669 w 234949"/>
              <a:gd name="connsiteY1" fmla="*/ 0 h 196850"/>
              <a:gd name="connisteX2" fmla="*/ 210280 w 234949"/>
              <a:gd name="connsiteY2" fmla="*/ 0 h 196850"/>
              <a:gd name="connisteX3" fmla="*/ 234949 w 234949"/>
              <a:gd name="connsiteY3" fmla="*/ 24606 h 196850"/>
              <a:gd name="connisteX4" fmla="*/ 234949 w 234949"/>
              <a:gd name="connsiteY4" fmla="*/ 172243 h 196850"/>
              <a:gd name="connisteX5" fmla="*/ 210280 w 234949"/>
              <a:gd name="connsiteY5" fmla="*/ 196850 h 196850"/>
              <a:gd name="connisteX6" fmla="*/ 24669 w 234949"/>
              <a:gd name="connsiteY6" fmla="*/ 196850 h 196850"/>
              <a:gd name="connisteX7" fmla="*/ 0 w 234949"/>
              <a:gd name="connsiteY7" fmla="*/ 172243 h 196850"/>
              <a:gd name="connisteX8" fmla="*/ 0 w 234949"/>
              <a:gd name="connsiteY8" fmla="*/ 24606 h 1968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E3EEF7"/>
          </a:solidFill>
        </p:spPr>
        <p:txBody>
          <a:bodyPr/>
          <a:p>
            <a:endParaRPr lang="zh-CN" altLang="en-US"/>
          </a:p>
        </p:txBody>
      </p:sp>
      <p:sp>
        <p:nvSpPr>
          <p:cNvPr id="86" name="任意多边形 85"/>
          <p:cNvSpPr/>
          <p:nvPr/>
        </p:nvSpPr>
        <p:spPr>
          <a:xfrm>
            <a:off x="10292715" y="5098415"/>
            <a:ext cx="235585" cy="197485"/>
          </a:xfrm>
          <a:custGeom>
            <a:avLst/>
            <a:gdLst>
              <a:gd name="connisteX0" fmla="*/ 0 w 234950"/>
              <a:gd name="connsiteY0" fmla="*/ 24606 h 196850"/>
              <a:gd name="connisteX1" fmla="*/ 24669 w 234950"/>
              <a:gd name="connsiteY1" fmla="*/ 0 h 196850"/>
              <a:gd name="connisteX2" fmla="*/ 210280 w 234950"/>
              <a:gd name="connsiteY2" fmla="*/ 0 h 196850"/>
              <a:gd name="connisteX3" fmla="*/ 234950 w 234950"/>
              <a:gd name="connsiteY3" fmla="*/ 24606 h 196850"/>
              <a:gd name="connisteX4" fmla="*/ 234950 w 234950"/>
              <a:gd name="connsiteY4" fmla="*/ 172243 h 196850"/>
              <a:gd name="connisteX5" fmla="*/ 210280 w 234950"/>
              <a:gd name="connsiteY5" fmla="*/ 196850 h 196850"/>
              <a:gd name="connisteX6" fmla="*/ 24669 w 234950"/>
              <a:gd name="connsiteY6" fmla="*/ 196850 h 196850"/>
              <a:gd name="connisteX7" fmla="*/ 0 w 234950"/>
              <a:gd name="connsiteY7" fmla="*/ 172243 h 196850"/>
              <a:gd name="connisteX8" fmla="*/ 0 w 234950"/>
              <a:gd name="connsiteY8" fmla="*/ 24606 h 1968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E3EEF7"/>
          </a:solidFill>
        </p:spPr>
        <p:txBody>
          <a:bodyPr/>
          <a:p>
            <a:endParaRPr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10970260" y="5053330"/>
            <a:ext cx="65913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4 / 10</a:t>
            </a:r>
            <a:endParaRPr lang="zh-CN" altLang="en-US" sz="15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6341110" y="5434330"/>
            <a:ext cx="74422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Pareto</a:t>
            </a:r>
            <a:endParaRPr lang="zh-CN" altLang="en-US" sz="150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89" name="任意多边形 88"/>
          <p:cNvSpPr/>
          <p:nvPr/>
        </p:nvSpPr>
        <p:spPr>
          <a:xfrm>
            <a:off x="7493000" y="5492750"/>
            <a:ext cx="234950" cy="196215"/>
          </a:xfrm>
          <a:custGeom>
            <a:avLst/>
            <a:gdLst>
              <a:gd name="connisteX0" fmla="*/ 0 w 234949"/>
              <a:gd name="connsiteY0" fmla="*/ 24606 h 196849"/>
              <a:gd name="connisteX1" fmla="*/ 24669 w 234949"/>
              <a:gd name="connsiteY1" fmla="*/ 0 h 196849"/>
              <a:gd name="connisteX2" fmla="*/ 210280 w 234949"/>
              <a:gd name="connsiteY2" fmla="*/ 0 h 196849"/>
              <a:gd name="connisteX3" fmla="*/ 234949 w 234949"/>
              <a:gd name="connsiteY3" fmla="*/ 24606 h 196849"/>
              <a:gd name="connisteX4" fmla="*/ 234949 w 234949"/>
              <a:gd name="connsiteY4" fmla="*/ 172243 h 196849"/>
              <a:gd name="connisteX5" fmla="*/ 210280 w 234949"/>
              <a:gd name="connsiteY5" fmla="*/ 196849 h 196849"/>
              <a:gd name="connisteX6" fmla="*/ 24669 w 234949"/>
              <a:gd name="connsiteY6" fmla="*/ 196849 h 196849"/>
              <a:gd name="connisteX7" fmla="*/ 0 w 234949"/>
              <a:gd name="connsiteY7" fmla="*/ 172243 h 196849"/>
              <a:gd name="connisteX8" fmla="*/ 0 w 234949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90" name="任意多边形 89"/>
          <p:cNvSpPr/>
          <p:nvPr/>
        </p:nvSpPr>
        <p:spPr>
          <a:xfrm>
            <a:off x="7804150" y="5492750"/>
            <a:ext cx="234950" cy="196215"/>
          </a:xfrm>
          <a:custGeom>
            <a:avLst/>
            <a:gdLst>
              <a:gd name="connisteX0" fmla="*/ 0 w 234950"/>
              <a:gd name="connsiteY0" fmla="*/ 24606 h 196849"/>
              <a:gd name="connisteX1" fmla="*/ 24669 w 234950"/>
              <a:gd name="connsiteY1" fmla="*/ 0 h 196849"/>
              <a:gd name="connisteX2" fmla="*/ 210280 w 234950"/>
              <a:gd name="connsiteY2" fmla="*/ 0 h 196849"/>
              <a:gd name="connisteX3" fmla="*/ 234950 w 234950"/>
              <a:gd name="connsiteY3" fmla="*/ 24606 h 196849"/>
              <a:gd name="connisteX4" fmla="*/ 234950 w 234950"/>
              <a:gd name="connsiteY4" fmla="*/ 172243 h 196849"/>
              <a:gd name="connisteX5" fmla="*/ 210280 w 234950"/>
              <a:gd name="connsiteY5" fmla="*/ 196849 h 196849"/>
              <a:gd name="connisteX6" fmla="*/ 24669 w 234950"/>
              <a:gd name="connsiteY6" fmla="*/ 196849 h 196849"/>
              <a:gd name="connisteX7" fmla="*/ 0 w 234950"/>
              <a:gd name="connsiteY7" fmla="*/ 172243 h 196849"/>
              <a:gd name="connisteX8" fmla="*/ 0 w 234950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91" name="任意多边形 90"/>
          <p:cNvSpPr/>
          <p:nvPr/>
        </p:nvSpPr>
        <p:spPr>
          <a:xfrm>
            <a:off x="8115300" y="5492750"/>
            <a:ext cx="234950" cy="196215"/>
          </a:xfrm>
          <a:custGeom>
            <a:avLst/>
            <a:gdLst>
              <a:gd name="connisteX0" fmla="*/ 0 w 234949"/>
              <a:gd name="connsiteY0" fmla="*/ 24606 h 196849"/>
              <a:gd name="connisteX1" fmla="*/ 24669 w 234949"/>
              <a:gd name="connsiteY1" fmla="*/ 0 h 196849"/>
              <a:gd name="connisteX2" fmla="*/ 210280 w 234949"/>
              <a:gd name="connsiteY2" fmla="*/ 0 h 196849"/>
              <a:gd name="connisteX3" fmla="*/ 234949 w 234949"/>
              <a:gd name="connsiteY3" fmla="*/ 24606 h 196849"/>
              <a:gd name="connisteX4" fmla="*/ 234949 w 234949"/>
              <a:gd name="connsiteY4" fmla="*/ 172243 h 196849"/>
              <a:gd name="connisteX5" fmla="*/ 210280 w 234949"/>
              <a:gd name="connsiteY5" fmla="*/ 196849 h 196849"/>
              <a:gd name="connisteX6" fmla="*/ 24669 w 234949"/>
              <a:gd name="connsiteY6" fmla="*/ 196849 h 196849"/>
              <a:gd name="connisteX7" fmla="*/ 0 w 234949"/>
              <a:gd name="connsiteY7" fmla="*/ 172243 h 196849"/>
              <a:gd name="connisteX8" fmla="*/ 0 w 234949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92" name="任意多边形 91"/>
          <p:cNvSpPr/>
          <p:nvPr/>
        </p:nvSpPr>
        <p:spPr>
          <a:xfrm>
            <a:off x="8426450" y="5492750"/>
            <a:ext cx="234950" cy="196215"/>
          </a:xfrm>
          <a:custGeom>
            <a:avLst/>
            <a:gdLst>
              <a:gd name="connisteX0" fmla="*/ 0 w 234949"/>
              <a:gd name="connsiteY0" fmla="*/ 24606 h 196849"/>
              <a:gd name="connisteX1" fmla="*/ 24669 w 234949"/>
              <a:gd name="connsiteY1" fmla="*/ 0 h 196849"/>
              <a:gd name="connisteX2" fmla="*/ 210280 w 234949"/>
              <a:gd name="connsiteY2" fmla="*/ 0 h 196849"/>
              <a:gd name="connisteX3" fmla="*/ 234949 w 234949"/>
              <a:gd name="connsiteY3" fmla="*/ 24606 h 196849"/>
              <a:gd name="connisteX4" fmla="*/ 234949 w 234949"/>
              <a:gd name="connsiteY4" fmla="*/ 172243 h 196849"/>
              <a:gd name="connisteX5" fmla="*/ 210280 w 234949"/>
              <a:gd name="connsiteY5" fmla="*/ 196849 h 196849"/>
              <a:gd name="connisteX6" fmla="*/ 24669 w 234949"/>
              <a:gd name="connsiteY6" fmla="*/ 196849 h 196849"/>
              <a:gd name="connisteX7" fmla="*/ 0 w 234949"/>
              <a:gd name="connsiteY7" fmla="*/ 172243 h 196849"/>
              <a:gd name="connisteX8" fmla="*/ 0 w 234949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93" name="任意多边形 92"/>
          <p:cNvSpPr/>
          <p:nvPr/>
        </p:nvSpPr>
        <p:spPr>
          <a:xfrm>
            <a:off x="8737600" y="5492750"/>
            <a:ext cx="234950" cy="196215"/>
          </a:xfrm>
          <a:custGeom>
            <a:avLst/>
            <a:gdLst>
              <a:gd name="connisteX0" fmla="*/ 0 w 234950"/>
              <a:gd name="connsiteY0" fmla="*/ 24606 h 196849"/>
              <a:gd name="connisteX1" fmla="*/ 24669 w 234950"/>
              <a:gd name="connsiteY1" fmla="*/ 0 h 196849"/>
              <a:gd name="connisteX2" fmla="*/ 210280 w 234950"/>
              <a:gd name="connsiteY2" fmla="*/ 0 h 196849"/>
              <a:gd name="connisteX3" fmla="*/ 234950 w 234950"/>
              <a:gd name="connsiteY3" fmla="*/ 24606 h 196849"/>
              <a:gd name="connisteX4" fmla="*/ 234950 w 234950"/>
              <a:gd name="connsiteY4" fmla="*/ 172243 h 196849"/>
              <a:gd name="connisteX5" fmla="*/ 210280 w 234950"/>
              <a:gd name="connsiteY5" fmla="*/ 196849 h 196849"/>
              <a:gd name="connisteX6" fmla="*/ 24669 w 234950"/>
              <a:gd name="connsiteY6" fmla="*/ 196849 h 196849"/>
              <a:gd name="connisteX7" fmla="*/ 0 w 234950"/>
              <a:gd name="connsiteY7" fmla="*/ 172243 h 196849"/>
              <a:gd name="connisteX8" fmla="*/ 0 w 234950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94" name="任意多边形 93"/>
          <p:cNvSpPr/>
          <p:nvPr/>
        </p:nvSpPr>
        <p:spPr>
          <a:xfrm>
            <a:off x="9048750" y="5492750"/>
            <a:ext cx="234950" cy="196215"/>
          </a:xfrm>
          <a:custGeom>
            <a:avLst/>
            <a:gdLst>
              <a:gd name="connisteX0" fmla="*/ 0 w 234949"/>
              <a:gd name="connsiteY0" fmla="*/ 24606 h 196849"/>
              <a:gd name="connisteX1" fmla="*/ 24669 w 234949"/>
              <a:gd name="connsiteY1" fmla="*/ 0 h 196849"/>
              <a:gd name="connisteX2" fmla="*/ 210280 w 234949"/>
              <a:gd name="connsiteY2" fmla="*/ 0 h 196849"/>
              <a:gd name="connisteX3" fmla="*/ 234949 w 234949"/>
              <a:gd name="connsiteY3" fmla="*/ 24606 h 196849"/>
              <a:gd name="connisteX4" fmla="*/ 234949 w 234949"/>
              <a:gd name="connsiteY4" fmla="*/ 172243 h 196849"/>
              <a:gd name="connisteX5" fmla="*/ 210280 w 234949"/>
              <a:gd name="connsiteY5" fmla="*/ 196849 h 196849"/>
              <a:gd name="connisteX6" fmla="*/ 24669 w 234949"/>
              <a:gd name="connsiteY6" fmla="*/ 196849 h 196849"/>
              <a:gd name="connisteX7" fmla="*/ 0 w 234949"/>
              <a:gd name="connsiteY7" fmla="*/ 172243 h 196849"/>
              <a:gd name="connisteX8" fmla="*/ 0 w 234949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95" name="任意多边形 94"/>
          <p:cNvSpPr/>
          <p:nvPr/>
        </p:nvSpPr>
        <p:spPr>
          <a:xfrm>
            <a:off x="9359900" y="5492750"/>
            <a:ext cx="234950" cy="196215"/>
          </a:xfrm>
          <a:custGeom>
            <a:avLst/>
            <a:gdLst>
              <a:gd name="connisteX0" fmla="*/ 0 w 234949"/>
              <a:gd name="connsiteY0" fmla="*/ 24606 h 196849"/>
              <a:gd name="connisteX1" fmla="*/ 24669 w 234949"/>
              <a:gd name="connsiteY1" fmla="*/ 0 h 196849"/>
              <a:gd name="connisteX2" fmla="*/ 210280 w 234949"/>
              <a:gd name="connsiteY2" fmla="*/ 0 h 196849"/>
              <a:gd name="connisteX3" fmla="*/ 234949 w 234949"/>
              <a:gd name="connsiteY3" fmla="*/ 24606 h 196849"/>
              <a:gd name="connisteX4" fmla="*/ 234949 w 234949"/>
              <a:gd name="connsiteY4" fmla="*/ 172243 h 196849"/>
              <a:gd name="connisteX5" fmla="*/ 210280 w 234949"/>
              <a:gd name="connsiteY5" fmla="*/ 196849 h 196849"/>
              <a:gd name="connisteX6" fmla="*/ 24669 w 234949"/>
              <a:gd name="connsiteY6" fmla="*/ 196849 h 196849"/>
              <a:gd name="connisteX7" fmla="*/ 0 w 234949"/>
              <a:gd name="connsiteY7" fmla="*/ 172243 h 196849"/>
              <a:gd name="connisteX8" fmla="*/ 0 w 234949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96" name="任意多边形 95"/>
          <p:cNvSpPr/>
          <p:nvPr/>
        </p:nvSpPr>
        <p:spPr>
          <a:xfrm>
            <a:off x="9671050" y="5492750"/>
            <a:ext cx="234950" cy="196215"/>
          </a:xfrm>
          <a:custGeom>
            <a:avLst/>
            <a:gdLst>
              <a:gd name="connisteX0" fmla="*/ 0 w 234950"/>
              <a:gd name="connsiteY0" fmla="*/ 24606 h 196849"/>
              <a:gd name="connisteX1" fmla="*/ 24669 w 234950"/>
              <a:gd name="connsiteY1" fmla="*/ 0 h 196849"/>
              <a:gd name="connisteX2" fmla="*/ 210280 w 234950"/>
              <a:gd name="connsiteY2" fmla="*/ 0 h 196849"/>
              <a:gd name="connisteX3" fmla="*/ 234950 w 234950"/>
              <a:gd name="connsiteY3" fmla="*/ 24606 h 196849"/>
              <a:gd name="connisteX4" fmla="*/ 234950 w 234950"/>
              <a:gd name="connsiteY4" fmla="*/ 172243 h 196849"/>
              <a:gd name="connisteX5" fmla="*/ 210280 w 234950"/>
              <a:gd name="connsiteY5" fmla="*/ 196849 h 196849"/>
              <a:gd name="connisteX6" fmla="*/ 24669 w 234950"/>
              <a:gd name="connsiteY6" fmla="*/ 196849 h 196849"/>
              <a:gd name="connisteX7" fmla="*/ 0 w 234950"/>
              <a:gd name="connsiteY7" fmla="*/ 172243 h 196849"/>
              <a:gd name="connisteX8" fmla="*/ 0 w 234950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97" name="任意多边形 96"/>
          <p:cNvSpPr/>
          <p:nvPr/>
        </p:nvSpPr>
        <p:spPr>
          <a:xfrm>
            <a:off x="9982200" y="5492750"/>
            <a:ext cx="234315" cy="196215"/>
          </a:xfrm>
          <a:custGeom>
            <a:avLst/>
            <a:gdLst>
              <a:gd name="connisteX0" fmla="*/ 0 w 234949"/>
              <a:gd name="connsiteY0" fmla="*/ 24606 h 196849"/>
              <a:gd name="connisteX1" fmla="*/ 24669 w 234949"/>
              <a:gd name="connsiteY1" fmla="*/ 0 h 196849"/>
              <a:gd name="connisteX2" fmla="*/ 210280 w 234949"/>
              <a:gd name="connsiteY2" fmla="*/ 0 h 196849"/>
              <a:gd name="connisteX3" fmla="*/ 234949 w 234949"/>
              <a:gd name="connsiteY3" fmla="*/ 24606 h 196849"/>
              <a:gd name="connisteX4" fmla="*/ 234949 w 234949"/>
              <a:gd name="connsiteY4" fmla="*/ 172243 h 196849"/>
              <a:gd name="connisteX5" fmla="*/ 210280 w 234949"/>
              <a:gd name="connsiteY5" fmla="*/ 196849 h 196849"/>
              <a:gd name="connisteX6" fmla="*/ 24669 w 234949"/>
              <a:gd name="connsiteY6" fmla="*/ 196849 h 196849"/>
              <a:gd name="connisteX7" fmla="*/ 0 w 234949"/>
              <a:gd name="connsiteY7" fmla="*/ 172243 h 196849"/>
              <a:gd name="connisteX8" fmla="*/ 0 w 234949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98" name="任意多边形 97"/>
          <p:cNvSpPr/>
          <p:nvPr/>
        </p:nvSpPr>
        <p:spPr>
          <a:xfrm>
            <a:off x="10292715" y="5492750"/>
            <a:ext cx="235585" cy="196215"/>
          </a:xfrm>
          <a:custGeom>
            <a:avLst/>
            <a:gdLst>
              <a:gd name="connisteX0" fmla="*/ 0 w 234950"/>
              <a:gd name="connsiteY0" fmla="*/ 24606 h 196849"/>
              <a:gd name="connisteX1" fmla="*/ 24669 w 234950"/>
              <a:gd name="connsiteY1" fmla="*/ 0 h 196849"/>
              <a:gd name="connisteX2" fmla="*/ 210280 w 234950"/>
              <a:gd name="connsiteY2" fmla="*/ 0 h 196849"/>
              <a:gd name="connisteX3" fmla="*/ 234950 w 234950"/>
              <a:gd name="connsiteY3" fmla="*/ 24606 h 196849"/>
              <a:gd name="connisteX4" fmla="*/ 234950 w 234950"/>
              <a:gd name="connsiteY4" fmla="*/ 172243 h 196849"/>
              <a:gd name="connisteX5" fmla="*/ 210280 w 234950"/>
              <a:gd name="connsiteY5" fmla="*/ 196849 h 196849"/>
              <a:gd name="connisteX6" fmla="*/ 24669 w 234950"/>
              <a:gd name="connsiteY6" fmla="*/ 196849 h 196849"/>
              <a:gd name="connisteX7" fmla="*/ 0 w 234950"/>
              <a:gd name="connsiteY7" fmla="*/ 172243 h 196849"/>
              <a:gd name="connisteX8" fmla="*/ 0 w 234950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99" name="文本框 98"/>
          <p:cNvSpPr txBox="1"/>
          <p:nvPr/>
        </p:nvSpPr>
        <p:spPr>
          <a:xfrm>
            <a:off x="10875010" y="5447030"/>
            <a:ext cx="765175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10 / 10</a:t>
            </a:r>
            <a:endParaRPr lang="zh-CN" altLang="en-US" sz="15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322060" y="5834380"/>
            <a:ext cx="56388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轮转</a:t>
            </a:r>
            <a:endParaRPr lang="zh-CN" altLang="en-US" sz="150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01" name="任意多边形 100"/>
          <p:cNvSpPr/>
          <p:nvPr/>
        </p:nvSpPr>
        <p:spPr>
          <a:xfrm>
            <a:off x="7493000" y="5886450"/>
            <a:ext cx="234950" cy="196850"/>
          </a:xfrm>
          <a:custGeom>
            <a:avLst/>
            <a:gdLst>
              <a:gd name="connisteX0" fmla="*/ 0 w 234949"/>
              <a:gd name="connsiteY0" fmla="*/ 24606 h 196849"/>
              <a:gd name="connisteX1" fmla="*/ 24669 w 234949"/>
              <a:gd name="connsiteY1" fmla="*/ 0 h 196849"/>
              <a:gd name="connisteX2" fmla="*/ 210280 w 234949"/>
              <a:gd name="connsiteY2" fmla="*/ 0 h 196849"/>
              <a:gd name="connisteX3" fmla="*/ 234949 w 234949"/>
              <a:gd name="connsiteY3" fmla="*/ 24606 h 196849"/>
              <a:gd name="connisteX4" fmla="*/ 234949 w 234949"/>
              <a:gd name="connsiteY4" fmla="*/ 172243 h 196849"/>
              <a:gd name="connisteX5" fmla="*/ 210280 w 234949"/>
              <a:gd name="connsiteY5" fmla="*/ 196849 h 196849"/>
              <a:gd name="connisteX6" fmla="*/ 24669 w 234949"/>
              <a:gd name="connsiteY6" fmla="*/ 196849 h 196849"/>
              <a:gd name="connisteX7" fmla="*/ 0 w 234949"/>
              <a:gd name="connsiteY7" fmla="*/ 172243 h 196849"/>
              <a:gd name="connisteX8" fmla="*/ 0 w 234949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02" name="任意多边形 101"/>
          <p:cNvSpPr/>
          <p:nvPr/>
        </p:nvSpPr>
        <p:spPr>
          <a:xfrm>
            <a:off x="7804150" y="5886450"/>
            <a:ext cx="234950" cy="196850"/>
          </a:xfrm>
          <a:custGeom>
            <a:avLst/>
            <a:gdLst>
              <a:gd name="connisteX0" fmla="*/ 0 w 234950"/>
              <a:gd name="connsiteY0" fmla="*/ 24606 h 196849"/>
              <a:gd name="connisteX1" fmla="*/ 24669 w 234950"/>
              <a:gd name="connsiteY1" fmla="*/ 0 h 196849"/>
              <a:gd name="connisteX2" fmla="*/ 210280 w 234950"/>
              <a:gd name="connsiteY2" fmla="*/ 0 h 196849"/>
              <a:gd name="connisteX3" fmla="*/ 234950 w 234950"/>
              <a:gd name="connsiteY3" fmla="*/ 24606 h 196849"/>
              <a:gd name="connisteX4" fmla="*/ 234950 w 234950"/>
              <a:gd name="connsiteY4" fmla="*/ 172243 h 196849"/>
              <a:gd name="connisteX5" fmla="*/ 210280 w 234950"/>
              <a:gd name="connsiteY5" fmla="*/ 196849 h 196849"/>
              <a:gd name="connisteX6" fmla="*/ 24669 w 234950"/>
              <a:gd name="connsiteY6" fmla="*/ 196849 h 196849"/>
              <a:gd name="connisteX7" fmla="*/ 0 w 234950"/>
              <a:gd name="connsiteY7" fmla="*/ 172243 h 196849"/>
              <a:gd name="connisteX8" fmla="*/ 0 w 234950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03" name="任意多边形 102"/>
          <p:cNvSpPr/>
          <p:nvPr/>
        </p:nvSpPr>
        <p:spPr>
          <a:xfrm>
            <a:off x="8115300" y="5886450"/>
            <a:ext cx="234950" cy="196850"/>
          </a:xfrm>
          <a:custGeom>
            <a:avLst/>
            <a:gdLst>
              <a:gd name="connisteX0" fmla="*/ 0 w 234949"/>
              <a:gd name="connsiteY0" fmla="*/ 24606 h 196849"/>
              <a:gd name="connisteX1" fmla="*/ 24669 w 234949"/>
              <a:gd name="connsiteY1" fmla="*/ 0 h 196849"/>
              <a:gd name="connisteX2" fmla="*/ 210280 w 234949"/>
              <a:gd name="connsiteY2" fmla="*/ 0 h 196849"/>
              <a:gd name="connisteX3" fmla="*/ 234949 w 234949"/>
              <a:gd name="connsiteY3" fmla="*/ 24606 h 196849"/>
              <a:gd name="connisteX4" fmla="*/ 234949 w 234949"/>
              <a:gd name="connsiteY4" fmla="*/ 172243 h 196849"/>
              <a:gd name="connisteX5" fmla="*/ 210280 w 234949"/>
              <a:gd name="connsiteY5" fmla="*/ 196849 h 196849"/>
              <a:gd name="connisteX6" fmla="*/ 24669 w 234949"/>
              <a:gd name="connsiteY6" fmla="*/ 196849 h 196849"/>
              <a:gd name="connisteX7" fmla="*/ 0 w 234949"/>
              <a:gd name="connsiteY7" fmla="*/ 172243 h 196849"/>
              <a:gd name="connisteX8" fmla="*/ 0 w 234949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04" name="任意多边形 103"/>
          <p:cNvSpPr/>
          <p:nvPr/>
        </p:nvSpPr>
        <p:spPr>
          <a:xfrm>
            <a:off x="8426450" y="5886450"/>
            <a:ext cx="234950" cy="196850"/>
          </a:xfrm>
          <a:custGeom>
            <a:avLst/>
            <a:gdLst>
              <a:gd name="connisteX0" fmla="*/ 0 w 234949"/>
              <a:gd name="connsiteY0" fmla="*/ 24606 h 196849"/>
              <a:gd name="connisteX1" fmla="*/ 24669 w 234949"/>
              <a:gd name="connsiteY1" fmla="*/ 0 h 196849"/>
              <a:gd name="connisteX2" fmla="*/ 210280 w 234949"/>
              <a:gd name="connsiteY2" fmla="*/ 0 h 196849"/>
              <a:gd name="connisteX3" fmla="*/ 234949 w 234949"/>
              <a:gd name="connsiteY3" fmla="*/ 24606 h 196849"/>
              <a:gd name="connisteX4" fmla="*/ 234949 w 234949"/>
              <a:gd name="connsiteY4" fmla="*/ 172243 h 196849"/>
              <a:gd name="connisteX5" fmla="*/ 210280 w 234949"/>
              <a:gd name="connsiteY5" fmla="*/ 196849 h 196849"/>
              <a:gd name="connisteX6" fmla="*/ 24669 w 234949"/>
              <a:gd name="connsiteY6" fmla="*/ 196849 h 196849"/>
              <a:gd name="connisteX7" fmla="*/ 0 w 234949"/>
              <a:gd name="connsiteY7" fmla="*/ 172243 h 196849"/>
              <a:gd name="connisteX8" fmla="*/ 0 w 234949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05" name="任意多边形 104"/>
          <p:cNvSpPr/>
          <p:nvPr/>
        </p:nvSpPr>
        <p:spPr>
          <a:xfrm>
            <a:off x="8737600" y="5886450"/>
            <a:ext cx="234950" cy="196850"/>
          </a:xfrm>
          <a:custGeom>
            <a:avLst/>
            <a:gdLst>
              <a:gd name="connisteX0" fmla="*/ 0 w 234950"/>
              <a:gd name="connsiteY0" fmla="*/ 24606 h 196849"/>
              <a:gd name="connisteX1" fmla="*/ 24669 w 234950"/>
              <a:gd name="connsiteY1" fmla="*/ 0 h 196849"/>
              <a:gd name="connisteX2" fmla="*/ 210280 w 234950"/>
              <a:gd name="connsiteY2" fmla="*/ 0 h 196849"/>
              <a:gd name="connisteX3" fmla="*/ 234950 w 234950"/>
              <a:gd name="connsiteY3" fmla="*/ 24606 h 196849"/>
              <a:gd name="connisteX4" fmla="*/ 234950 w 234950"/>
              <a:gd name="connsiteY4" fmla="*/ 172243 h 196849"/>
              <a:gd name="connisteX5" fmla="*/ 210280 w 234950"/>
              <a:gd name="connsiteY5" fmla="*/ 196849 h 196849"/>
              <a:gd name="connisteX6" fmla="*/ 24669 w 234950"/>
              <a:gd name="connsiteY6" fmla="*/ 196849 h 196849"/>
              <a:gd name="connisteX7" fmla="*/ 0 w 234950"/>
              <a:gd name="connsiteY7" fmla="*/ 172243 h 196849"/>
              <a:gd name="connisteX8" fmla="*/ 0 w 234950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06" name="任意多边形 105"/>
          <p:cNvSpPr/>
          <p:nvPr/>
        </p:nvSpPr>
        <p:spPr>
          <a:xfrm>
            <a:off x="9048750" y="5886450"/>
            <a:ext cx="234950" cy="196850"/>
          </a:xfrm>
          <a:custGeom>
            <a:avLst/>
            <a:gdLst>
              <a:gd name="connisteX0" fmla="*/ 0 w 234949"/>
              <a:gd name="connsiteY0" fmla="*/ 24606 h 196849"/>
              <a:gd name="connisteX1" fmla="*/ 24669 w 234949"/>
              <a:gd name="connsiteY1" fmla="*/ 0 h 196849"/>
              <a:gd name="connisteX2" fmla="*/ 210280 w 234949"/>
              <a:gd name="connsiteY2" fmla="*/ 0 h 196849"/>
              <a:gd name="connisteX3" fmla="*/ 234949 w 234949"/>
              <a:gd name="connsiteY3" fmla="*/ 24606 h 196849"/>
              <a:gd name="connisteX4" fmla="*/ 234949 w 234949"/>
              <a:gd name="connsiteY4" fmla="*/ 172243 h 196849"/>
              <a:gd name="connisteX5" fmla="*/ 210280 w 234949"/>
              <a:gd name="connsiteY5" fmla="*/ 196849 h 196849"/>
              <a:gd name="connisteX6" fmla="*/ 24669 w 234949"/>
              <a:gd name="connsiteY6" fmla="*/ 196849 h 196849"/>
              <a:gd name="connisteX7" fmla="*/ 0 w 234949"/>
              <a:gd name="connsiteY7" fmla="*/ 172243 h 196849"/>
              <a:gd name="connisteX8" fmla="*/ 0 w 234949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07" name="任意多边形 106"/>
          <p:cNvSpPr/>
          <p:nvPr/>
        </p:nvSpPr>
        <p:spPr>
          <a:xfrm>
            <a:off x="9359900" y="5886450"/>
            <a:ext cx="234950" cy="196850"/>
          </a:xfrm>
          <a:custGeom>
            <a:avLst/>
            <a:gdLst>
              <a:gd name="connisteX0" fmla="*/ 0 w 234949"/>
              <a:gd name="connsiteY0" fmla="*/ 24606 h 196849"/>
              <a:gd name="connisteX1" fmla="*/ 24669 w 234949"/>
              <a:gd name="connsiteY1" fmla="*/ 0 h 196849"/>
              <a:gd name="connisteX2" fmla="*/ 210280 w 234949"/>
              <a:gd name="connsiteY2" fmla="*/ 0 h 196849"/>
              <a:gd name="connisteX3" fmla="*/ 234949 w 234949"/>
              <a:gd name="connsiteY3" fmla="*/ 24606 h 196849"/>
              <a:gd name="connisteX4" fmla="*/ 234949 w 234949"/>
              <a:gd name="connsiteY4" fmla="*/ 172243 h 196849"/>
              <a:gd name="connisteX5" fmla="*/ 210280 w 234949"/>
              <a:gd name="connsiteY5" fmla="*/ 196849 h 196849"/>
              <a:gd name="connisteX6" fmla="*/ 24669 w 234949"/>
              <a:gd name="connsiteY6" fmla="*/ 196849 h 196849"/>
              <a:gd name="connisteX7" fmla="*/ 0 w 234949"/>
              <a:gd name="connsiteY7" fmla="*/ 172243 h 196849"/>
              <a:gd name="connisteX8" fmla="*/ 0 w 234949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08" name="任意多边形 107"/>
          <p:cNvSpPr/>
          <p:nvPr/>
        </p:nvSpPr>
        <p:spPr>
          <a:xfrm>
            <a:off x="9671050" y="5886450"/>
            <a:ext cx="234950" cy="196850"/>
          </a:xfrm>
          <a:custGeom>
            <a:avLst/>
            <a:gdLst>
              <a:gd name="connisteX0" fmla="*/ 0 w 234950"/>
              <a:gd name="connsiteY0" fmla="*/ 24606 h 196849"/>
              <a:gd name="connisteX1" fmla="*/ 24669 w 234950"/>
              <a:gd name="connsiteY1" fmla="*/ 0 h 196849"/>
              <a:gd name="connisteX2" fmla="*/ 210280 w 234950"/>
              <a:gd name="connsiteY2" fmla="*/ 0 h 196849"/>
              <a:gd name="connisteX3" fmla="*/ 234950 w 234950"/>
              <a:gd name="connsiteY3" fmla="*/ 24606 h 196849"/>
              <a:gd name="connisteX4" fmla="*/ 234950 w 234950"/>
              <a:gd name="connsiteY4" fmla="*/ 172243 h 196849"/>
              <a:gd name="connisteX5" fmla="*/ 210280 w 234950"/>
              <a:gd name="connsiteY5" fmla="*/ 196849 h 196849"/>
              <a:gd name="connisteX6" fmla="*/ 24669 w 234950"/>
              <a:gd name="connsiteY6" fmla="*/ 196849 h 196849"/>
              <a:gd name="connisteX7" fmla="*/ 0 w 234950"/>
              <a:gd name="connsiteY7" fmla="*/ 172243 h 196849"/>
              <a:gd name="connisteX8" fmla="*/ 0 w 234950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09" name="任意多边形 108"/>
          <p:cNvSpPr/>
          <p:nvPr/>
        </p:nvSpPr>
        <p:spPr>
          <a:xfrm>
            <a:off x="9982200" y="5886450"/>
            <a:ext cx="234315" cy="196850"/>
          </a:xfrm>
          <a:custGeom>
            <a:avLst/>
            <a:gdLst>
              <a:gd name="connisteX0" fmla="*/ 0 w 234949"/>
              <a:gd name="connsiteY0" fmla="*/ 24606 h 196849"/>
              <a:gd name="connisteX1" fmla="*/ 24669 w 234949"/>
              <a:gd name="connsiteY1" fmla="*/ 0 h 196849"/>
              <a:gd name="connisteX2" fmla="*/ 210280 w 234949"/>
              <a:gd name="connsiteY2" fmla="*/ 0 h 196849"/>
              <a:gd name="connisteX3" fmla="*/ 234949 w 234949"/>
              <a:gd name="connsiteY3" fmla="*/ 24606 h 196849"/>
              <a:gd name="connisteX4" fmla="*/ 234949 w 234949"/>
              <a:gd name="connsiteY4" fmla="*/ 172243 h 196849"/>
              <a:gd name="connisteX5" fmla="*/ 210280 w 234949"/>
              <a:gd name="connsiteY5" fmla="*/ 196849 h 196849"/>
              <a:gd name="connisteX6" fmla="*/ 24669 w 234949"/>
              <a:gd name="connsiteY6" fmla="*/ 196849 h 196849"/>
              <a:gd name="connisteX7" fmla="*/ 0 w 234949"/>
              <a:gd name="connsiteY7" fmla="*/ 172243 h 196849"/>
              <a:gd name="connisteX8" fmla="*/ 0 w 234949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10" name="任意多边形 109"/>
          <p:cNvSpPr/>
          <p:nvPr/>
        </p:nvSpPr>
        <p:spPr>
          <a:xfrm>
            <a:off x="10292715" y="5886450"/>
            <a:ext cx="235585" cy="196850"/>
          </a:xfrm>
          <a:custGeom>
            <a:avLst/>
            <a:gdLst>
              <a:gd name="connisteX0" fmla="*/ 0 w 234950"/>
              <a:gd name="connsiteY0" fmla="*/ 24606 h 196849"/>
              <a:gd name="connisteX1" fmla="*/ 24669 w 234950"/>
              <a:gd name="connsiteY1" fmla="*/ 0 h 196849"/>
              <a:gd name="connisteX2" fmla="*/ 210280 w 234950"/>
              <a:gd name="connsiteY2" fmla="*/ 0 h 196849"/>
              <a:gd name="connisteX3" fmla="*/ 234950 w 234950"/>
              <a:gd name="connsiteY3" fmla="*/ 24606 h 196849"/>
              <a:gd name="connisteX4" fmla="*/ 234950 w 234950"/>
              <a:gd name="connsiteY4" fmla="*/ 172243 h 196849"/>
              <a:gd name="connisteX5" fmla="*/ 210280 w 234950"/>
              <a:gd name="connsiteY5" fmla="*/ 196849 h 196849"/>
              <a:gd name="connisteX6" fmla="*/ 24669 w 234950"/>
              <a:gd name="connsiteY6" fmla="*/ 196849 h 196849"/>
              <a:gd name="connisteX7" fmla="*/ 0 w 234950"/>
              <a:gd name="connsiteY7" fmla="*/ 172243 h 196849"/>
              <a:gd name="connisteX8" fmla="*/ 0 w 234950"/>
              <a:gd name="connsiteY8" fmla="*/ 24606 h 1968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34950" h="196850">
                <a:moveTo>
                  <a:pt x="0" y="24606"/>
                </a:moveTo>
                <a:cubicBezTo>
                  <a:pt x="0" y="11017"/>
                  <a:pt x="11045" y="0"/>
                  <a:pt x="24670" y="0"/>
                </a:cubicBezTo>
                <a:lnTo>
                  <a:pt x="210280" y="0"/>
                </a:lnTo>
                <a:cubicBezTo>
                  <a:pt x="223905" y="0"/>
                  <a:pt x="234950" y="11017"/>
                  <a:pt x="234950" y="24606"/>
                </a:cubicBezTo>
                <a:lnTo>
                  <a:pt x="234950" y="172244"/>
                </a:lnTo>
                <a:cubicBezTo>
                  <a:pt x="234950" y="185833"/>
                  <a:pt x="223905" y="196850"/>
                  <a:pt x="210280" y="196850"/>
                </a:cubicBezTo>
                <a:lnTo>
                  <a:pt x="24670" y="196850"/>
                </a:lnTo>
                <a:cubicBezTo>
                  <a:pt x="11045" y="196850"/>
                  <a:pt x="0" y="185833"/>
                  <a:pt x="0" y="172244"/>
                </a:cubicBezTo>
                <a:lnTo>
                  <a:pt x="0" y="24606"/>
                </a:lnTo>
                <a:close/>
              </a:path>
            </a:pathLst>
          </a:custGeom>
          <a:solidFill>
            <a:srgbClr val="E3EEF7"/>
          </a:solidFill>
        </p:spPr>
        <p:txBody>
          <a:bodyPr/>
          <a:p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10976610" y="5840730"/>
            <a:ext cx="65913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9 / 10</a:t>
            </a:r>
            <a:endParaRPr lang="zh-CN" altLang="en-US" sz="15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12" name="任意多边形 111"/>
          <p:cNvSpPr/>
          <p:nvPr/>
        </p:nvSpPr>
        <p:spPr>
          <a:xfrm>
            <a:off x="266700" y="6260465"/>
            <a:ext cx="11658600" cy="292735"/>
          </a:xfrm>
          <a:custGeom>
            <a:avLst/>
            <a:gdLst>
              <a:gd name="connisteX0" fmla="*/ 0 w 11658600"/>
              <a:gd name="connsiteY0" fmla="*/ 75946 h 292100"/>
              <a:gd name="connisteX1" fmla="*/ 58292 w 11658600"/>
              <a:gd name="connsiteY1" fmla="*/ 0 h 292100"/>
              <a:gd name="connisteX2" fmla="*/ 11600307 w 11658600"/>
              <a:gd name="connsiteY2" fmla="*/ 0 h 292100"/>
              <a:gd name="connisteX3" fmla="*/ 11658600 w 11658600"/>
              <a:gd name="connsiteY3" fmla="*/ 75946 h 292100"/>
              <a:gd name="connisteX4" fmla="*/ 11658600 w 11658600"/>
              <a:gd name="connsiteY4" fmla="*/ 216154 h 292100"/>
              <a:gd name="connisteX5" fmla="*/ 11600307 w 11658600"/>
              <a:gd name="connsiteY5" fmla="*/ 292100 h 292100"/>
              <a:gd name="connisteX6" fmla="*/ 58292 w 11658600"/>
              <a:gd name="connsiteY6" fmla="*/ 292100 h 292100"/>
              <a:gd name="connisteX7" fmla="*/ 0 w 11658600"/>
              <a:gd name="connsiteY7" fmla="*/ 216154 h 292100"/>
              <a:gd name="connisteX8" fmla="*/ 0 w 11658600"/>
              <a:gd name="connsiteY8" fmla="*/ 75946 h 2921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292100">
                <a:moveTo>
                  <a:pt x="0" y="75946"/>
                </a:moveTo>
                <a:cubicBezTo>
                  <a:pt x="0" y="34002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34002"/>
                  <a:pt x="11658600" y="75946"/>
                </a:cubicBezTo>
                <a:lnTo>
                  <a:pt x="11658600" y="216154"/>
                </a:lnTo>
                <a:cubicBezTo>
                  <a:pt x="11658600" y="258098"/>
                  <a:pt x="11632501" y="292100"/>
                  <a:pt x="11600307" y="292100"/>
                </a:cubicBezTo>
                <a:lnTo>
                  <a:pt x="58293" y="292100"/>
                </a:lnTo>
                <a:cubicBezTo>
                  <a:pt x="26099" y="292100"/>
                  <a:pt x="0" y="258098"/>
                  <a:pt x="0" y="216154"/>
                </a:cubicBezTo>
                <a:lnTo>
                  <a:pt x="0" y="759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113" name="文本框 112"/>
          <p:cNvSpPr txBox="1"/>
          <p:nvPr/>
        </p:nvSpPr>
        <p:spPr>
          <a:xfrm>
            <a:off x="396875" y="6243955"/>
            <a:ext cx="4983480" cy="2990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3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策略选择会改变候选名单；前沿覆盖衡量评价空间中的代表性。</a:t>
            </a:r>
            <a:endParaRPr lang="zh-CN" altLang="en-US" sz="13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isteX0" fmla="*/ 0 w 12192000"/>
              <a:gd name="connsiteY0" fmla="*/ 0 h 6858000"/>
              <a:gd name="connisteX1" fmla="*/ 12192000 w 12192000"/>
              <a:gd name="connsiteY1" fmla="*/ 0 h 6858000"/>
              <a:gd name="connisteX2" fmla="*/ 12192000 w 12192000"/>
              <a:gd name="connsiteY2" fmla="*/ 6858000 h 6858000"/>
              <a:gd name="connisteX3" fmla="*/ 0 w 12192000"/>
              <a:gd name="connsiteY3" fmla="*/ 6858000 h 6858000"/>
              <a:gd name="connisteX4" fmla="*/ 0 w 12192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60350" y="76200"/>
            <a:ext cx="11506200" cy="716915"/>
            <a:chOff x="410" y="120"/>
            <a:chExt cx="18120" cy="1129"/>
          </a:xfrm>
        </p:grpSpPr>
        <p:grpSp>
          <p:nvGrpSpPr>
            <p:cNvPr id="6" name="组合 5"/>
            <p:cNvGrpSpPr/>
            <p:nvPr/>
          </p:nvGrpSpPr>
          <p:grpSpPr>
            <a:xfrm>
              <a:off x="410" y="170"/>
              <a:ext cx="990" cy="990"/>
              <a:chOff x="410" y="170"/>
              <a:chExt cx="990" cy="990"/>
            </a:xfrm>
          </p:grpSpPr>
          <p:sp>
            <p:nvSpPr>
              <p:cNvPr id="4" name="任意多边形 3"/>
              <p:cNvSpPr/>
              <p:nvPr/>
            </p:nvSpPr>
            <p:spPr>
              <a:xfrm>
                <a:off x="410" y="170"/>
                <a:ext cx="900" cy="900"/>
              </a:xfrm>
              <a:custGeom>
                <a:avLst/>
                <a:gdLst>
                  <a:gd name="connisteX0" fmla="*/ 133349 w 571500"/>
                  <a:gd name="connsiteY0" fmla="*/ 0 h 571500"/>
                  <a:gd name="connisteX1" fmla="*/ 571500 w 571500"/>
                  <a:gd name="connsiteY1" fmla="*/ 0 h 571500"/>
                  <a:gd name="connisteX2" fmla="*/ 444500 w 571500"/>
                  <a:gd name="connsiteY2" fmla="*/ 571500 h 571500"/>
                  <a:gd name="connisteX3" fmla="*/ 0 w 571500"/>
                  <a:gd name="connsiteY3" fmla="*/ 571500 h 571500"/>
                  <a:gd name="connisteX4" fmla="*/ 133349 w 571500"/>
                  <a:gd name="connsiteY4" fmla="*/ 0 h 5715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571500" h="571500">
                    <a:moveTo>
                      <a:pt x="133350" y="0"/>
                    </a:moveTo>
                    <a:lnTo>
                      <a:pt x="571500" y="0"/>
                    </a:lnTo>
                    <a:lnTo>
                      <a:pt x="444500" y="571500"/>
                    </a:lnTo>
                    <a:lnTo>
                      <a:pt x="0" y="571500"/>
                    </a:lnTo>
                    <a:lnTo>
                      <a:pt x="133350" y="0"/>
                    </a:lnTo>
                    <a:close/>
                  </a:path>
                </a:pathLst>
              </a:custGeom>
              <a:solidFill>
                <a:srgbClr val="0A5798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510" y="270"/>
                <a:ext cx="890" cy="890"/>
              </a:xfrm>
              <a:custGeom>
                <a:avLst/>
                <a:gdLst>
                  <a:gd name="connisteX0" fmla="*/ 520699 w 565150"/>
                  <a:gd name="connsiteY0" fmla="*/ 0 h 565150"/>
                  <a:gd name="connisteX1" fmla="*/ 565150 w 565150"/>
                  <a:gd name="connsiteY1" fmla="*/ 0 h 565150"/>
                  <a:gd name="connisteX2" fmla="*/ 450850 w 565150"/>
                  <a:gd name="connsiteY2" fmla="*/ 565150 h 565150"/>
                  <a:gd name="connisteX3" fmla="*/ 0 w 565150"/>
                  <a:gd name="connsiteY3" fmla="*/ 565150 h 5651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565150" h="565150">
                    <a:moveTo>
                      <a:pt x="520700" y="0"/>
                    </a:moveTo>
                    <a:lnTo>
                      <a:pt x="565150" y="0"/>
                    </a:lnTo>
                    <a:lnTo>
                      <a:pt x="450850" y="565150"/>
                    </a:lnTo>
                    <a:lnTo>
                      <a:pt x="0" y="565150"/>
                    </a:lnTo>
                  </a:path>
                </a:pathLst>
              </a:custGeom>
              <a:noFill/>
              <a:ln w="19050" cap="flat">
                <a:solidFill>
                  <a:srgbClr val="00549A"/>
                </a:solidFill>
                <a:custDash/>
                <a:miter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1626" y="403"/>
              <a:ext cx="4928" cy="846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9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实验三：逐维消融</a:t>
              </a:r>
              <a:endParaRPr lang="zh-CN" altLang="en-US" sz="2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890" y="120"/>
              <a:ext cx="3640" cy="105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sp>
        <p:nvSpPr>
          <p:cNvPr id="10" name="任意多边形 9"/>
          <p:cNvSpPr/>
          <p:nvPr/>
        </p:nvSpPr>
        <p:spPr>
          <a:xfrm>
            <a:off x="266700" y="1060450"/>
            <a:ext cx="6921500" cy="482600"/>
          </a:xfrm>
          <a:custGeom>
            <a:avLst/>
            <a:gdLst>
              <a:gd name="connisteX0" fmla="*/ 0 w 6921500"/>
              <a:gd name="connsiteY0" fmla="*/ 101346 h 482600"/>
              <a:gd name="connisteX1" fmla="*/ 69214 w 6921500"/>
              <a:gd name="connsiteY1" fmla="*/ 0 h 482600"/>
              <a:gd name="connisteX2" fmla="*/ 6852285 w 6921500"/>
              <a:gd name="connsiteY2" fmla="*/ 0 h 482600"/>
              <a:gd name="connisteX3" fmla="*/ 6921500 w 6921500"/>
              <a:gd name="connsiteY3" fmla="*/ 101346 h 482600"/>
              <a:gd name="connisteX4" fmla="*/ 6921500 w 6921500"/>
              <a:gd name="connsiteY4" fmla="*/ 381253 h 482600"/>
              <a:gd name="connisteX5" fmla="*/ 6852285 w 6921500"/>
              <a:gd name="connsiteY5" fmla="*/ 482600 h 482600"/>
              <a:gd name="connisteX6" fmla="*/ 69214 w 6921500"/>
              <a:gd name="connsiteY6" fmla="*/ 482600 h 482600"/>
              <a:gd name="connisteX7" fmla="*/ 0 w 6921500"/>
              <a:gd name="connsiteY7" fmla="*/ 381253 h 482600"/>
              <a:gd name="connisteX8" fmla="*/ 0 w 6921500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6921500" h="482600">
                <a:moveTo>
                  <a:pt x="0" y="101346"/>
                </a:moveTo>
                <a:cubicBezTo>
                  <a:pt x="0" y="45374"/>
                  <a:pt x="30989" y="0"/>
                  <a:pt x="69215" y="0"/>
                </a:cubicBezTo>
                <a:lnTo>
                  <a:pt x="6852285" y="0"/>
                </a:lnTo>
                <a:cubicBezTo>
                  <a:pt x="6890511" y="0"/>
                  <a:pt x="6921500" y="45374"/>
                  <a:pt x="6921500" y="101346"/>
                </a:cubicBezTo>
                <a:lnTo>
                  <a:pt x="6921500" y="381254"/>
                </a:lnTo>
                <a:cubicBezTo>
                  <a:pt x="6921500" y="437226"/>
                  <a:pt x="6890511" y="482600"/>
                  <a:pt x="6852285" y="482600"/>
                </a:cubicBezTo>
                <a:lnTo>
                  <a:pt x="69215" y="482600"/>
                </a:lnTo>
                <a:cubicBezTo>
                  <a:pt x="30989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266700" y="1060450"/>
            <a:ext cx="101600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35610" y="1096645"/>
            <a:ext cx="4043680" cy="38354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逐一移除评分维度，名单改变多少？</a:t>
            </a:r>
            <a:endParaRPr lang="zh-CN" altLang="en-US" sz="19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7448550" y="1060450"/>
            <a:ext cx="4476115" cy="482600"/>
          </a:xfrm>
          <a:custGeom>
            <a:avLst/>
            <a:gdLst>
              <a:gd name="connisteX0" fmla="*/ 0 w 4476749"/>
              <a:gd name="connsiteY0" fmla="*/ 101346 h 482600"/>
              <a:gd name="connisteX1" fmla="*/ 89534 w 4476749"/>
              <a:gd name="connsiteY1" fmla="*/ 0 h 482600"/>
              <a:gd name="connisteX2" fmla="*/ 4387214 w 4476749"/>
              <a:gd name="connsiteY2" fmla="*/ 0 h 482600"/>
              <a:gd name="connisteX3" fmla="*/ 4476749 w 4476749"/>
              <a:gd name="connsiteY3" fmla="*/ 101346 h 482600"/>
              <a:gd name="connisteX4" fmla="*/ 4476749 w 4476749"/>
              <a:gd name="connsiteY4" fmla="*/ 381253 h 482600"/>
              <a:gd name="connisteX5" fmla="*/ 4387214 w 4476749"/>
              <a:gd name="connsiteY5" fmla="*/ 482600 h 482600"/>
              <a:gd name="connisteX6" fmla="*/ 89534 w 4476749"/>
              <a:gd name="connsiteY6" fmla="*/ 482600 h 482600"/>
              <a:gd name="connisteX7" fmla="*/ 0 w 4476749"/>
              <a:gd name="connsiteY7" fmla="*/ 381253 h 482600"/>
              <a:gd name="connisteX8" fmla="*/ 0 w 4476749"/>
              <a:gd name="connsiteY8" fmla="*/ 101346 h 48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4476750" h="482600">
                <a:moveTo>
                  <a:pt x="0" y="101346"/>
                </a:moveTo>
                <a:cubicBezTo>
                  <a:pt x="0" y="45374"/>
                  <a:pt x="40086" y="0"/>
                  <a:pt x="89535" y="0"/>
                </a:cubicBezTo>
                <a:lnTo>
                  <a:pt x="4387215" y="0"/>
                </a:lnTo>
                <a:cubicBezTo>
                  <a:pt x="4436664" y="0"/>
                  <a:pt x="4476750" y="45374"/>
                  <a:pt x="4476750" y="101346"/>
                </a:cubicBezTo>
                <a:lnTo>
                  <a:pt x="4476750" y="381254"/>
                </a:lnTo>
                <a:cubicBezTo>
                  <a:pt x="4476750" y="437226"/>
                  <a:pt x="4436664" y="482600"/>
                  <a:pt x="4387215" y="482600"/>
                </a:cubicBezTo>
                <a:lnTo>
                  <a:pt x="89535" y="482600"/>
                </a:lnTo>
                <a:cubicBezTo>
                  <a:pt x="40086" y="482600"/>
                  <a:pt x="0" y="437226"/>
                  <a:pt x="0" y="381254"/>
                </a:cubicBezTo>
                <a:lnTo>
                  <a:pt x="0" y="1013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7448550" y="1060450"/>
            <a:ext cx="101600" cy="481965"/>
          </a:xfrm>
          <a:custGeom>
            <a:avLst/>
            <a:gdLst>
              <a:gd name="connisteX0" fmla="*/ 0 w 101599"/>
              <a:gd name="connsiteY0" fmla="*/ 50672 h 482599"/>
              <a:gd name="connisteX1" fmla="*/ 50799 w 101599"/>
              <a:gd name="connsiteY1" fmla="*/ 0 h 482599"/>
              <a:gd name="connisteX2" fmla="*/ 101599 w 101599"/>
              <a:gd name="connsiteY2" fmla="*/ 50672 h 482599"/>
              <a:gd name="connisteX3" fmla="*/ 101599 w 101599"/>
              <a:gd name="connsiteY3" fmla="*/ 431926 h 482599"/>
              <a:gd name="connisteX4" fmla="*/ 50799 w 101599"/>
              <a:gd name="connsiteY4" fmla="*/ 482599 h 482599"/>
              <a:gd name="connisteX5" fmla="*/ 0 w 101599"/>
              <a:gd name="connsiteY5" fmla="*/ 431926 h 482599"/>
              <a:gd name="connisteX6" fmla="*/ 0 w 101599"/>
              <a:gd name="connsiteY6" fmla="*/ 50672 h 482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482600">
                <a:moveTo>
                  <a:pt x="0" y="50673"/>
                </a:moveTo>
                <a:cubicBezTo>
                  <a:pt x="0" y="22687"/>
                  <a:pt x="22744" y="0"/>
                  <a:pt x="50800" y="0"/>
                </a:cubicBezTo>
                <a:cubicBezTo>
                  <a:pt x="78856" y="0"/>
                  <a:pt x="101600" y="22687"/>
                  <a:pt x="101600" y="50673"/>
                </a:cubicBezTo>
                <a:lnTo>
                  <a:pt x="101600" y="431927"/>
                </a:lnTo>
                <a:cubicBezTo>
                  <a:pt x="101600" y="459913"/>
                  <a:pt x="78856" y="482600"/>
                  <a:pt x="50800" y="482600"/>
                </a:cubicBezTo>
                <a:cubicBezTo>
                  <a:pt x="22744" y="482600"/>
                  <a:pt x="0" y="459913"/>
                  <a:pt x="0" y="431927"/>
                </a:cubicBezTo>
                <a:lnTo>
                  <a:pt x="0" y="50673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611110" y="1093470"/>
            <a:ext cx="2113280" cy="38354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如何解释消融结果</a:t>
            </a:r>
            <a:endParaRPr lang="zh-CN" altLang="en-US" sz="19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84810" y="1611630"/>
            <a:ext cx="3923030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保留资格硬门槛；其余三维重新归一化权重</a:t>
            </a:r>
            <a:endParaRPr lang="zh-CN" altLang="en-US" sz="15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91160" y="1919605"/>
            <a:ext cx="3644265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对照：完整四维等权加权的 Top-20 名单</a:t>
            </a:r>
            <a:endParaRPr lang="zh-CN" altLang="en-US" sz="15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2235200" y="2476500"/>
            <a:ext cx="0" cy="2825750"/>
          </a:xfrm>
          <a:custGeom>
            <a:avLst/>
            <a:gdLst>
              <a:gd name="connisteX0" fmla="*/ 0 w 0"/>
              <a:gd name="connsiteY0" fmla="*/ 0 h 2825749"/>
              <a:gd name="connisteX1" fmla="*/ 0 w 0"/>
              <a:gd name="connsiteY1" fmla="*/ 2825749 h 28257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2825750">
                <a:moveTo>
                  <a:pt x="0" y="0"/>
                </a:moveTo>
                <a:lnTo>
                  <a:pt x="0" y="2825750"/>
                </a:lnTo>
              </a:path>
            </a:pathLst>
          </a:custGeom>
          <a:solidFill>
            <a:srgbClr val="000000"/>
          </a:solidFill>
          <a:ln w="9525" cap="flat">
            <a:solidFill>
              <a:srgbClr val="DAE7F2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987550" y="5354955"/>
            <a:ext cx="491490" cy="28321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0.00</a:t>
            </a:r>
            <a:endParaRPr lang="zh-CN" altLang="en-US" sz="12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3309620" y="2476500"/>
            <a:ext cx="0" cy="2825750"/>
          </a:xfrm>
          <a:custGeom>
            <a:avLst/>
            <a:gdLst>
              <a:gd name="connisteX0" fmla="*/ 0 w 0"/>
              <a:gd name="connsiteY0" fmla="*/ 0 h 2825749"/>
              <a:gd name="connisteX1" fmla="*/ 0 w 0"/>
              <a:gd name="connsiteY1" fmla="*/ 2825749 h 28257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2825750">
                <a:moveTo>
                  <a:pt x="0" y="0"/>
                </a:moveTo>
                <a:lnTo>
                  <a:pt x="0" y="2825750"/>
                </a:lnTo>
              </a:path>
            </a:pathLst>
          </a:custGeom>
          <a:solidFill>
            <a:srgbClr val="000000"/>
          </a:solidFill>
          <a:ln w="9525" cap="flat">
            <a:solidFill>
              <a:srgbClr val="DAE7F2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062605" y="5354955"/>
            <a:ext cx="491490" cy="28321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0.25</a:t>
            </a:r>
            <a:endParaRPr lang="zh-CN" altLang="en-US" sz="12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4384675" y="2476500"/>
            <a:ext cx="0" cy="2825750"/>
          </a:xfrm>
          <a:custGeom>
            <a:avLst/>
            <a:gdLst>
              <a:gd name="connisteX0" fmla="*/ 0 w 0"/>
              <a:gd name="connsiteY0" fmla="*/ 0 h 2825749"/>
              <a:gd name="connisteX1" fmla="*/ 0 w 0"/>
              <a:gd name="connsiteY1" fmla="*/ 2825749 h 28257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2825750">
                <a:moveTo>
                  <a:pt x="0" y="0"/>
                </a:moveTo>
                <a:lnTo>
                  <a:pt x="0" y="2825750"/>
                </a:lnTo>
              </a:path>
            </a:pathLst>
          </a:custGeom>
          <a:solidFill>
            <a:srgbClr val="000000"/>
          </a:solidFill>
          <a:ln w="9525" cap="flat">
            <a:solidFill>
              <a:srgbClr val="DAE7F2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4137025" y="5354955"/>
            <a:ext cx="491490" cy="28321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0.50</a:t>
            </a:r>
            <a:endParaRPr lang="zh-CN" altLang="en-US" sz="12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5459095" y="2476500"/>
            <a:ext cx="0" cy="2825750"/>
          </a:xfrm>
          <a:custGeom>
            <a:avLst/>
            <a:gdLst>
              <a:gd name="connisteX0" fmla="*/ 0 w 0"/>
              <a:gd name="connsiteY0" fmla="*/ 0 h 2825749"/>
              <a:gd name="connisteX1" fmla="*/ 0 w 0"/>
              <a:gd name="connsiteY1" fmla="*/ 2825749 h 28257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2825750">
                <a:moveTo>
                  <a:pt x="0" y="0"/>
                </a:moveTo>
                <a:lnTo>
                  <a:pt x="0" y="2825750"/>
                </a:lnTo>
              </a:path>
            </a:pathLst>
          </a:custGeom>
          <a:solidFill>
            <a:srgbClr val="000000"/>
          </a:solidFill>
          <a:ln w="9525" cap="flat">
            <a:solidFill>
              <a:srgbClr val="DAE7F2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212080" y="5354955"/>
            <a:ext cx="491490" cy="28321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0.75</a:t>
            </a:r>
            <a:endParaRPr lang="zh-CN" altLang="en-US" sz="12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6534150" y="2476500"/>
            <a:ext cx="0" cy="2825750"/>
          </a:xfrm>
          <a:custGeom>
            <a:avLst/>
            <a:gdLst>
              <a:gd name="connisteX0" fmla="*/ 0 w 0"/>
              <a:gd name="connsiteY0" fmla="*/ 0 h 2825749"/>
              <a:gd name="connisteX1" fmla="*/ 0 w 0"/>
              <a:gd name="connsiteY1" fmla="*/ 2825749 h 28257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2825750">
                <a:moveTo>
                  <a:pt x="0" y="0"/>
                </a:moveTo>
                <a:lnTo>
                  <a:pt x="0" y="2825750"/>
                </a:lnTo>
              </a:path>
            </a:pathLst>
          </a:custGeom>
          <a:solidFill>
            <a:srgbClr val="000000"/>
          </a:solidFill>
          <a:ln w="9525" cap="flat">
            <a:solidFill>
              <a:srgbClr val="DAE7F2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299835" y="5354955"/>
            <a:ext cx="491490" cy="28321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1.00</a:t>
            </a:r>
            <a:endParaRPr lang="zh-CN" altLang="en-US" sz="12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69975" y="2656205"/>
            <a:ext cx="1021080" cy="3448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去掉约束</a:t>
            </a:r>
            <a:endParaRPr lang="zh-CN" altLang="en-US" sz="16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235200" y="2641600"/>
            <a:ext cx="1432560" cy="400050"/>
          </a:xfrm>
          <a:custGeom>
            <a:avLst/>
            <a:gdLst>
              <a:gd name="connisteX0" fmla="*/ 0 w 1432983"/>
              <a:gd name="connsiteY0" fmla="*/ 30003 h 400050"/>
              <a:gd name="connisteX1" fmla="*/ 28659 w 1432983"/>
              <a:gd name="connsiteY1" fmla="*/ 0 h 400050"/>
              <a:gd name="connisteX2" fmla="*/ 1404323 w 1432983"/>
              <a:gd name="connsiteY2" fmla="*/ 0 h 400050"/>
              <a:gd name="connisteX3" fmla="*/ 1432983 w 1432983"/>
              <a:gd name="connsiteY3" fmla="*/ 30003 h 400050"/>
              <a:gd name="connisteX4" fmla="*/ 1432983 w 1432983"/>
              <a:gd name="connsiteY4" fmla="*/ 370046 h 400050"/>
              <a:gd name="connisteX5" fmla="*/ 1404323 w 1432983"/>
              <a:gd name="connsiteY5" fmla="*/ 400050 h 400050"/>
              <a:gd name="connisteX6" fmla="*/ 28659 w 1432983"/>
              <a:gd name="connsiteY6" fmla="*/ 400050 h 400050"/>
              <a:gd name="connisteX7" fmla="*/ 0 w 1432983"/>
              <a:gd name="connsiteY7" fmla="*/ 370046 h 400050"/>
              <a:gd name="connisteX8" fmla="*/ 0 w 1432983"/>
              <a:gd name="connsiteY8" fmla="*/ 30003 h 4000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432983" h="400050">
                <a:moveTo>
                  <a:pt x="0" y="30004"/>
                </a:moveTo>
                <a:cubicBezTo>
                  <a:pt x="0" y="13433"/>
                  <a:pt x="12831" y="0"/>
                  <a:pt x="28660" y="0"/>
                </a:cubicBezTo>
                <a:lnTo>
                  <a:pt x="1404324" y="0"/>
                </a:lnTo>
                <a:cubicBezTo>
                  <a:pt x="1420152" y="0"/>
                  <a:pt x="1432983" y="13433"/>
                  <a:pt x="1432983" y="30004"/>
                </a:cubicBezTo>
                <a:lnTo>
                  <a:pt x="1432983" y="370046"/>
                </a:lnTo>
                <a:cubicBezTo>
                  <a:pt x="1432983" y="386617"/>
                  <a:pt x="1420152" y="400050"/>
                  <a:pt x="1404324" y="400050"/>
                </a:cubicBezTo>
                <a:lnTo>
                  <a:pt x="28660" y="400050"/>
                </a:lnTo>
                <a:cubicBezTo>
                  <a:pt x="12831" y="400050"/>
                  <a:pt x="0" y="386617"/>
                  <a:pt x="0" y="370046"/>
                </a:cubicBezTo>
                <a:lnTo>
                  <a:pt x="0" y="30004"/>
                </a:lnTo>
                <a:close/>
              </a:path>
            </a:pathLst>
          </a:custGeom>
          <a:solidFill>
            <a:srgbClr val="00549A"/>
          </a:solidFill>
        </p:spPr>
        <p:txBody>
          <a:bodyPr/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696970" y="2643505"/>
            <a:ext cx="722630" cy="35242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0.333</a:t>
            </a:r>
            <a:endParaRPr lang="zh-CN" altLang="en-US" sz="17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60425" y="3367405"/>
            <a:ext cx="1230630" cy="3448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去掉保守性</a:t>
            </a:r>
            <a:endParaRPr lang="zh-CN" altLang="en-US" sz="16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2235200" y="3352800"/>
            <a:ext cx="3889375" cy="400050"/>
          </a:xfrm>
          <a:custGeom>
            <a:avLst/>
            <a:gdLst>
              <a:gd name="connisteX0" fmla="*/ 0 w 3889526"/>
              <a:gd name="connsiteY0" fmla="*/ 30003 h 400050"/>
              <a:gd name="connisteX1" fmla="*/ 19447 w 3889526"/>
              <a:gd name="connsiteY1" fmla="*/ 0 h 400050"/>
              <a:gd name="connisteX2" fmla="*/ 3870078 w 3889526"/>
              <a:gd name="connsiteY2" fmla="*/ 0 h 400050"/>
              <a:gd name="connisteX3" fmla="*/ 3889526 w 3889526"/>
              <a:gd name="connsiteY3" fmla="*/ 30003 h 400050"/>
              <a:gd name="connisteX4" fmla="*/ 3889526 w 3889526"/>
              <a:gd name="connsiteY4" fmla="*/ 370046 h 400050"/>
              <a:gd name="connisteX5" fmla="*/ 3870078 w 3889526"/>
              <a:gd name="connsiteY5" fmla="*/ 400050 h 400050"/>
              <a:gd name="connisteX6" fmla="*/ 19447 w 3889526"/>
              <a:gd name="connsiteY6" fmla="*/ 400050 h 400050"/>
              <a:gd name="connisteX7" fmla="*/ 0 w 3889526"/>
              <a:gd name="connsiteY7" fmla="*/ 370046 h 400050"/>
              <a:gd name="connisteX8" fmla="*/ 0 w 3889526"/>
              <a:gd name="connsiteY8" fmla="*/ 30003 h 4000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3889526" h="400050">
                <a:moveTo>
                  <a:pt x="0" y="30004"/>
                </a:moveTo>
                <a:cubicBezTo>
                  <a:pt x="0" y="13433"/>
                  <a:pt x="8707" y="0"/>
                  <a:pt x="19448" y="0"/>
                </a:cubicBezTo>
                <a:lnTo>
                  <a:pt x="3870079" y="0"/>
                </a:lnTo>
                <a:cubicBezTo>
                  <a:pt x="3880819" y="0"/>
                  <a:pt x="3889526" y="13433"/>
                  <a:pt x="3889526" y="30004"/>
                </a:cubicBezTo>
                <a:lnTo>
                  <a:pt x="3889526" y="370046"/>
                </a:lnTo>
                <a:cubicBezTo>
                  <a:pt x="3889526" y="386617"/>
                  <a:pt x="3880819" y="400050"/>
                  <a:pt x="3870079" y="400050"/>
                </a:cubicBezTo>
                <a:lnTo>
                  <a:pt x="19448" y="400050"/>
                </a:lnTo>
                <a:cubicBezTo>
                  <a:pt x="8707" y="400050"/>
                  <a:pt x="0" y="386617"/>
                  <a:pt x="0" y="370046"/>
                </a:cubicBezTo>
                <a:lnTo>
                  <a:pt x="0" y="30004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153785" y="3354705"/>
            <a:ext cx="722630" cy="35242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0.905</a:t>
            </a:r>
            <a:endParaRPr lang="zh-CN" altLang="en-US" sz="17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60425" y="4078605"/>
            <a:ext cx="1230630" cy="3448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去掉新颖性</a:t>
            </a:r>
            <a:endParaRPr lang="zh-CN" altLang="en-US" sz="16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2235200" y="4064000"/>
            <a:ext cx="2069465" cy="400050"/>
          </a:xfrm>
          <a:custGeom>
            <a:avLst/>
            <a:gdLst>
              <a:gd name="connisteX0" fmla="*/ 0 w 2069864"/>
              <a:gd name="connsiteY0" fmla="*/ 30003 h 400050"/>
              <a:gd name="connisteX1" fmla="*/ 31047 w 2069864"/>
              <a:gd name="connsiteY1" fmla="*/ 0 h 400050"/>
              <a:gd name="connisteX2" fmla="*/ 2038816 w 2069864"/>
              <a:gd name="connsiteY2" fmla="*/ 0 h 400050"/>
              <a:gd name="connisteX3" fmla="*/ 2069864 w 2069864"/>
              <a:gd name="connsiteY3" fmla="*/ 30003 h 400050"/>
              <a:gd name="connisteX4" fmla="*/ 2069864 w 2069864"/>
              <a:gd name="connsiteY4" fmla="*/ 370046 h 400050"/>
              <a:gd name="connisteX5" fmla="*/ 2038816 w 2069864"/>
              <a:gd name="connsiteY5" fmla="*/ 400050 h 400050"/>
              <a:gd name="connisteX6" fmla="*/ 31047 w 2069864"/>
              <a:gd name="connsiteY6" fmla="*/ 400050 h 400050"/>
              <a:gd name="connisteX7" fmla="*/ 0 w 2069864"/>
              <a:gd name="connsiteY7" fmla="*/ 370046 h 400050"/>
              <a:gd name="connisteX8" fmla="*/ 0 w 2069864"/>
              <a:gd name="connsiteY8" fmla="*/ 30003 h 4000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069865" h="400050">
                <a:moveTo>
                  <a:pt x="0" y="30004"/>
                </a:moveTo>
                <a:cubicBezTo>
                  <a:pt x="0" y="13433"/>
                  <a:pt x="13901" y="0"/>
                  <a:pt x="31048" y="0"/>
                </a:cubicBezTo>
                <a:lnTo>
                  <a:pt x="2038817" y="0"/>
                </a:lnTo>
                <a:cubicBezTo>
                  <a:pt x="2055964" y="0"/>
                  <a:pt x="2069865" y="13433"/>
                  <a:pt x="2069865" y="30004"/>
                </a:cubicBezTo>
                <a:lnTo>
                  <a:pt x="2069865" y="370046"/>
                </a:lnTo>
                <a:cubicBezTo>
                  <a:pt x="2069865" y="386617"/>
                  <a:pt x="2055964" y="400050"/>
                  <a:pt x="2038817" y="400050"/>
                </a:cubicBezTo>
                <a:lnTo>
                  <a:pt x="31048" y="400050"/>
                </a:lnTo>
                <a:cubicBezTo>
                  <a:pt x="13901" y="400050"/>
                  <a:pt x="0" y="386617"/>
                  <a:pt x="0" y="370046"/>
                </a:cubicBezTo>
                <a:lnTo>
                  <a:pt x="0" y="30004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333875" y="4065905"/>
            <a:ext cx="722630" cy="35242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0.481</a:t>
            </a:r>
            <a:endParaRPr lang="zh-CN" altLang="en-US" sz="17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60425" y="4789805"/>
            <a:ext cx="1230630" cy="3448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去掉独特性</a:t>
            </a:r>
            <a:endParaRPr lang="zh-CN" altLang="en-US" sz="16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235200" y="4775200"/>
            <a:ext cx="2865755" cy="399415"/>
          </a:xfrm>
          <a:custGeom>
            <a:avLst/>
            <a:gdLst>
              <a:gd name="connisteX0" fmla="*/ 0 w 2865966"/>
              <a:gd name="connsiteY0" fmla="*/ 30003 h 400049"/>
              <a:gd name="connisteX1" fmla="*/ 28659 w 2865966"/>
              <a:gd name="connsiteY1" fmla="*/ 0 h 400049"/>
              <a:gd name="connisteX2" fmla="*/ 2837307 w 2865966"/>
              <a:gd name="connsiteY2" fmla="*/ 0 h 400049"/>
              <a:gd name="connisteX3" fmla="*/ 2865966 w 2865966"/>
              <a:gd name="connsiteY3" fmla="*/ 30003 h 400049"/>
              <a:gd name="connisteX4" fmla="*/ 2865966 w 2865966"/>
              <a:gd name="connsiteY4" fmla="*/ 370046 h 400049"/>
              <a:gd name="connisteX5" fmla="*/ 2837307 w 2865966"/>
              <a:gd name="connsiteY5" fmla="*/ 400049 h 400049"/>
              <a:gd name="connisteX6" fmla="*/ 28659 w 2865966"/>
              <a:gd name="connsiteY6" fmla="*/ 400049 h 400049"/>
              <a:gd name="connisteX7" fmla="*/ 0 w 2865966"/>
              <a:gd name="connsiteY7" fmla="*/ 370046 h 400049"/>
              <a:gd name="connisteX8" fmla="*/ 0 w 2865966"/>
              <a:gd name="connsiteY8" fmla="*/ 30003 h 4000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2865967" h="400050">
                <a:moveTo>
                  <a:pt x="0" y="30004"/>
                </a:moveTo>
                <a:cubicBezTo>
                  <a:pt x="0" y="13433"/>
                  <a:pt x="12831" y="0"/>
                  <a:pt x="28660" y="0"/>
                </a:cubicBezTo>
                <a:lnTo>
                  <a:pt x="2837307" y="0"/>
                </a:lnTo>
                <a:cubicBezTo>
                  <a:pt x="2853135" y="0"/>
                  <a:pt x="2865967" y="13433"/>
                  <a:pt x="2865967" y="30004"/>
                </a:cubicBezTo>
                <a:lnTo>
                  <a:pt x="2865967" y="370046"/>
                </a:lnTo>
                <a:cubicBezTo>
                  <a:pt x="2865967" y="386617"/>
                  <a:pt x="2853135" y="400050"/>
                  <a:pt x="2837307" y="400050"/>
                </a:cubicBezTo>
                <a:lnTo>
                  <a:pt x="28660" y="400050"/>
                </a:lnTo>
                <a:cubicBezTo>
                  <a:pt x="12831" y="400050"/>
                  <a:pt x="0" y="386617"/>
                  <a:pt x="0" y="370046"/>
                </a:cubicBezTo>
                <a:lnTo>
                  <a:pt x="0" y="30004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5130165" y="4776470"/>
            <a:ext cx="722630" cy="35242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0.667</a:t>
            </a:r>
            <a:endParaRPr lang="zh-CN" altLang="en-US" sz="17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032760" y="5697855"/>
            <a:ext cx="2670175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与完整名单的 Jaccard 相似度</a:t>
            </a:r>
            <a:endParaRPr lang="zh-CN" altLang="en-US" sz="15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1" name="任意多边形 40"/>
          <p:cNvSpPr/>
          <p:nvPr/>
        </p:nvSpPr>
        <p:spPr>
          <a:xfrm>
            <a:off x="7448550" y="1771650"/>
            <a:ext cx="4476115" cy="1231265"/>
          </a:xfrm>
          <a:custGeom>
            <a:avLst/>
            <a:gdLst>
              <a:gd name="connisteX0" fmla="*/ 0 w 4476749"/>
              <a:gd name="connsiteY0" fmla="*/ 98551 h 1231899"/>
              <a:gd name="connisteX1" fmla="*/ 89534 w 4476749"/>
              <a:gd name="connsiteY1" fmla="*/ 0 h 1231899"/>
              <a:gd name="connisteX2" fmla="*/ 4387214 w 4476749"/>
              <a:gd name="connsiteY2" fmla="*/ 0 h 1231899"/>
              <a:gd name="connisteX3" fmla="*/ 4476749 w 4476749"/>
              <a:gd name="connsiteY3" fmla="*/ 98551 h 1231899"/>
              <a:gd name="connisteX4" fmla="*/ 4476749 w 4476749"/>
              <a:gd name="connsiteY4" fmla="*/ 1133347 h 1231899"/>
              <a:gd name="connisteX5" fmla="*/ 4387214 w 4476749"/>
              <a:gd name="connsiteY5" fmla="*/ 1231899 h 1231899"/>
              <a:gd name="connisteX6" fmla="*/ 89534 w 4476749"/>
              <a:gd name="connsiteY6" fmla="*/ 1231899 h 1231899"/>
              <a:gd name="connisteX7" fmla="*/ 0 w 4476749"/>
              <a:gd name="connsiteY7" fmla="*/ 1133347 h 1231899"/>
              <a:gd name="connisteX8" fmla="*/ 0 w 4476749"/>
              <a:gd name="connsiteY8" fmla="*/ 98551 h 12318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4476750" h="1231900">
                <a:moveTo>
                  <a:pt x="0" y="98552"/>
                </a:moveTo>
                <a:cubicBezTo>
                  <a:pt x="0" y="44123"/>
                  <a:pt x="40086" y="0"/>
                  <a:pt x="89535" y="0"/>
                </a:cubicBezTo>
                <a:lnTo>
                  <a:pt x="4387215" y="0"/>
                </a:lnTo>
                <a:cubicBezTo>
                  <a:pt x="4436664" y="0"/>
                  <a:pt x="4476750" y="44123"/>
                  <a:pt x="4476750" y="98552"/>
                </a:cubicBezTo>
                <a:lnTo>
                  <a:pt x="4476750" y="1133348"/>
                </a:lnTo>
                <a:cubicBezTo>
                  <a:pt x="4476750" y="1187777"/>
                  <a:pt x="4436664" y="1231900"/>
                  <a:pt x="4387215" y="1231900"/>
                </a:cubicBezTo>
                <a:lnTo>
                  <a:pt x="89535" y="1231900"/>
                </a:lnTo>
                <a:cubicBezTo>
                  <a:pt x="40086" y="1231900"/>
                  <a:pt x="0" y="1187777"/>
                  <a:pt x="0" y="1133348"/>
                </a:cubicBezTo>
                <a:lnTo>
                  <a:pt x="0" y="98552"/>
                </a:lnTo>
                <a:close/>
              </a:path>
            </a:pathLst>
          </a:custGeom>
          <a:solidFill>
            <a:srgbClr val="F3F9FE"/>
          </a:solidFill>
          <a:ln w="12700" cap="flat">
            <a:solidFill>
              <a:srgbClr val="A6C7E8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7607300" y="1892300"/>
            <a:ext cx="355600" cy="355600"/>
          </a:xfrm>
          <a:custGeom>
            <a:avLst/>
            <a:gdLst>
              <a:gd name="connisteX0" fmla="*/ 355600 w 355600"/>
              <a:gd name="connsiteY0" fmla="*/ 177799 h 355600"/>
              <a:gd name="connisteX1" fmla="*/ 177799 w 355600"/>
              <a:gd name="connsiteY1" fmla="*/ 355600 h 355600"/>
              <a:gd name="connisteX2" fmla="*/ 0 w 355600"/>
              <a:gd name="connsiteY2" fmla="*/ 177799 h 355600"/>
              <a:gd name="connisteX3" fmla="*/ 177799 w 355600"/>
              <a:gd name="connsiteY3" fmla="*/ 0 h 355600"/>
              <a:gd name="connisteX4" fmla="*/ 355600 w 355600"/>
              <a:gd name="connsiteY4" fmla="*/ 177799 h 35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55600" h="355600">
                <a:moveTo>
                  <a:pt x="355600" y="177800"/>
                </a:moveTo>
                <a:cubicBezTo>
                  <a:pt x="355600" y="275996"/>
                  <a:pt x="275996" y="355600"/>
                  <a:pt x="177800" y="355600"/>
                </a:cubicBezTo>
                <a:cubicBezTo>
                  <a:pt x="79604" y="355600"/>
                  <a:pt x="0" y="275996"/>
                  <a:pt x="0" y="177800"/>
                </a:cubicBezTo>
                <a:cubicBezTo>
                  <a:pt x="0" y="79604"/>
                  <a:pt x="79604" y="0"/>
                  <a:pt x="177800" y="0"/>
                </a:cubicBezTo>
                <a:cubicBezTo>
                  <a:pt x="275996" y="0"/>
                  <a:pt x="355600" y="79604"/>
                  <a:pt x="355600" y="177800"/>
                </a:cubicBez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7598410" y="1906270"/>
            <a:ext cx="381000" cy="3067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00" b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01</a:t>
            </a:r>
            <a:endParaRPr lang="zh-CN" altLang="en-US" sz="1400" b="1">
              <a:solidFill>
                <a:srgbClr val="FFFFFF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023860" y="1891030"/>
            <a:ext cx="1757680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约束维度影响最大</a:t>
            </a:r>
            <a:endParaRPr lang="zh-CN" altLang="en-US" sz="15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585710" y="2252345"/>
            <a:ext cx="2437765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移除后 Jaccard 为 0.333，</a:t>
            </a:r>
            <a:endParaRPr lang="zh-CN" altLang="en-US" sz="150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585710" y="2541270"/>
            <a:ext cx="215138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Top-20 名单变化最大。</a:t>
            </a:r>
            <a:endParaRPr lang="zh-CN" altLang="en-US" sz="150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7" name="任意多边形 46"/>
          <p:cNvSpPr/>
          <p:nvPr/>
        </p:nvSpPr>
        <p:spPr>
          <a:xfrm>
            <a:off x="7448550" y="3168015"/>
            <a:ext cx="4476115" cy="1232535"/>
          </a:xfrm>
          <a:custGeom>
            <a:avLst/>
            <a:gdLst>
              <a:gd name="connisteX0" fmla="*/ 0 w 4476749"/>
              <a:gd name="connsiteY0" fmla="*/ 98552 h 1231900"/>
              <a:gd name="connisteX1" fmla="*/ 89534 w 4476749"/>
              <a:gd name="connsiteY1" fmla="*/ 0 h 1231900"/>
              <a:gd name="connisteX2" fmla="*/ 4387214 w 4476749"/>
              <a:gd name="connsiteY2" fmla="*/ 0 h 1231900"/>
              <a:gd name="connisteX3" fmla="*/ 4476749 w 4476749"/>
              <a:gd name="connsiteY3" fmla="*/ 98552 h 1231900"/>
              <a:gd name="connisteX4" fmla="*/ 4476749 w 4476749"/>
              <a:gd name="connsiteY4" fmla="*/ 1133348 h 1231900"/>
              <a:gd name="connisteX5" fmla="*/ 4387214 w 4476749"/>
              <a:gd name="connsiteY5" fmla="*/ 1231900 h 1231900"/>
              <a:gd name="connisteX6" fmla="*/ 89534 w 4476749"/>
              <a:gd name="connsiteY6" fmla="*/ 1231900 h 1231900"/>
              <a:gd name="connisteX7" fmla="*/ 0 w 4476749"/>
              <a:gd name="connsiteY7" fmla="*/ 1133348 h 1231900"/>
              <a:gd name="connisteX8" fmla="*/ 0 w 4476749"/>
              <a:gd name="connsiteY8" fmla="*/ 98552 h 1231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4476750" h="1231900">
                <a:moveTo>
                  <a:pt x="0" y="98552"/>
                </a:moveTo>
                <a:cubicBezTo>
                  <a:pt x="0" y="44123"/>
                  <a:pt x="40086" y="0"/>
                  <a:pt x="89535" y="0"/>
                </a:cubicBezTo>
                <a:lnTo>
                  <a:pt x="4387215" y="0"/>
                </a:lnTo>
                <a:cubicBezTo>
                  <a:pt x="4436664" y="0"/>
                  <a:pt x="4476750" y="44123"/>
                  <a:pt x="4476750" y="98552"/>
                </a:cubicBezTo>
                <a:lnTo>
                  <a:pt x="4476750" y="1133348"/>
                </a:lnTo>
                <a:cubicBezTo>
                  <a:pt x="4476750" y="1187777"/>
                  <a:pt x="4436664" y="1231900"/>
                  <a:pt x="4387215" y="1231900"/>
                </a:cubicBezTo>
                <a:lnTo>
                  <a:pt x="89535" y="1231900"/>
                </a:lnTo>
                <a:cubicBezTo>
                  <a:pt x="40086" y="1231900"/>
                  <a:pt x="0" y="1187777"/>
                  <a:pt x="0" y="1133348"/>
                </a:cubicBezTo>
                <a:lnTo>
                  <a:pt x="0" y="98552"/>
                </a:lnTo>
                <a:close/>
              </a:path>
            </a:pathLst>
          </a:custGeom>
          <a:solidFill>
            <a:srgbClr val="F3F9FE"/>
          </a:solidFill>
          <a:ln w="12700" cap="flat">
            <a:solidFill>
              <a:srgbClr val="A6C7E8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48" name="任意多边形 47"/>
          <p:cNvSpPr/>
          <p:nvPr/>
        </p:nvSpPr>
        <p:spPr>
          <a:xfrm>
            <a:off x="7607300" y="3289300"/>
            <a:ext cx="355600" cy="355600"/>
          </a:xfrm>
          <a:custGeom>
            <a:avLst/>
            <a:gdLst>
              <a:gd name="connisteX0" fmla="*/ 355600 w 355600"/>
              <a:gd name="connsiteY0" fmla="*/ 177800 h 355599"/>
              <a:gd name="connisteX1" fmla="*/ 177799 w 355600"/>
              <a:gd name="connsiteY1" fmla="*/ 355599 h 355599"/>
              <a:gd name="connisteX2" fmla="*/ 0 w 355600"/>
              <a:gd name="connsiteY2" fmla="*/ 177800 h 355599"/>
              <a:gd name="connisteX3" fmla="*/ 177799 w 355600"/>
              <a:gd name="connsiteY3" fmla="*/ 0 h 355599"/>
              <a:gd name="connisteX4" fmla="*/ 355600 w 355600"/>
              <a:gd name="connsiteY4" fmla="*/ 177800 h 355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55600" h="355600">
                <a:moveTo>
                  <a:pt x="355600" y="177800"/>
                </a:moveTo>
                <a:cubicBezTo>
                  <a:pt x="355600" y="275996"/>
                  <a:pt x="275996" y="355600"/>
                  <a:pt x="177800" y="355600"/>
                </a:cubicBezTo>
                <a:cubicBezTo>
                  <a:pt x="79604" y="355600"/>
                  <a:pt x="0" y="275996"/>
                  <a:pt x="0" y="177800"/>
                </a:cubicBezTo>
                <a:cubicBezTo>
                  <a:pt x="0" y="79604"/>
                  <a:pt x="79604" y="0"/>
                  <a:pt x="177800" y="0"/>
                </a:cubicBezTo>
                <a:cubicBezTo>
                  <a:pt x="275996" y="0"/>
                  <a:pt x="355600" y="79604"/>
                  <a:pt x="355600" y="177800"/>
                </a:cubicBez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7598410" y="3303905"/>
            <a:ext cx="381000" cy="3067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00" b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02</a:t>
            </a:r>
            <a:endParaRPr lang="zh-CN" altLang="en-US" sz="1400" b="1">
              <a:solidFill>
                <a:srgbClr val="FFFFFF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017510" y="3284855"/>
            <a:ext cx="2348230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保守性在当前池接近饱和</a:t>
            </a:r>
            <a:endParaRPr lang="zh-CN" altLang="en-US" sz="15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585710" y="3649980"/>
            <a:ext cx="185547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移除后仍为 0.905，</a:t>
            </a:r>
            <a:endParaRPr lang="zh-CN" altLang="en-US" sz="150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592060" y="3926205"/>
            <a:ext cx="284988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当前候选池中的名单变化较小。</a:t>
            </a:r>
            <a:endParaRPr lang="zh-CN" altLang="en-US" sz="150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3" name="任意多边形 52"/>
          <p:cNvSpPr/>
          <p:nvPr/>
        </p:nvSpPr>
        <p:spPr>
          <a:xfrm>
            <a:off x="7448550" y="4565650"/>
            <a:ext cx="4476115" cy="1231900"/>
          </a:xfrm>
          <a:custGeom>
            <a:avLst/>
            <a:gdLst>
              <a:gd name="connisteX0" fmla="*/ 0 w 4476749"/>
              <a:gd name="connsiteY0" fmla="*/ 98551 h 1231899"/>
              <a:gd name="connisteX1" fmla="*/ 89534 w 4476749"/>
              <a:gd name="connsiteY1" fmla="*/ 0 h 1231899"/>
              <a:gd name="connisteX2" fmla="*/ 4387214 w 4476749"/>
              <a:gd name="connsiteY2" fmla="*/ 0 h 1231899"/>
              <a:gd name="connisteX3" fmla="*/ 4476749 w 4476749"/>
              <a:gd name="connsiteY3" fmla="*/ 98551 h 1231899"/>
              <a:gd name="connisteX4" fmla="*/ 4476749 w 4476749"/>
              <a:gd name="connsiteY4" fmla="*/ 1133347 h 1231899"/>
              <a:gd name="connisteX5" fmla="*/ 4387214 w 4476749"/>
              <a:gd name="connsiteY5" fmla="*/ 1231899 h 1231899"/>
              <a:gd name="connisteX6" fmla="*/ 89534 w 4476749"/>
              <a:gd name="connsiteY6" fmla="*/ 1231899 h 1231899"/>
              <a:gd name="connisteX7" fmla="*/ 0 w 4476749"/>
              <a:gd name="connsiteY7" fmla="*/ 1133347 h 1231899"/>
              <a:gd name="connisteX8" fmla="*/ 0 w 4476749"/>
              <a:gd name="connsiteY8" fmla="*/ 98551 h 12318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4476750" h="1231900">
                <a:moveTo>
                  <a:pt x="0" y="98552"/>
                </a:moveTo>
                <a:cubicBezTo>
                  <a:pt x="0" y="44123"/>
                  <a:pt x="40086" y="0"/>
                  <a:pt x="89535" y="0"/>
                </a:cubicBezTo>
                <a:lnTo>
                  <a:pt x="4387215" y="0"/>
                </a:lnTo>
                <a:cubicBezTo>
                  <a:pt x="4436664" y="0"/>
                  <a:pt x="4476750" y="44123"/>
                  <a:pt x="4476750" y="98552"/>
                </a:cubicBezTo>
                <a:lnTo>
                  <a:pt x="4476750" y="1133348"/>
                </a:lnTo>
                <a:cubicBezTo>
                  <a:pt x="4476750" y="1187777"/>
                  <a:pt x="4436664" y="1231900"/>
                  <a:pt x="4387215" y="1231900"/>
                </a:cubicBezTo>
                <a:lnTo>
                  <a:pt x="89535" y="1231900"/>
                </a:lnTo>
                <a:cubicBezTo>
                  <a:pt x="40086" y="1231900"/>
                  <a:pt x="0" y="1187777"/>
                  <a:pt x="0" y="1133348"/>
                </a:cubicBezTo>
                <a:lnTo>
                  <a:pt x="0" y="98552"/>
                </a:lnTo>
                <a:close/>
              </a:path>
            </a:pathLst>
          </a:custGeom>
          <a:solidFill>
            <a:srgbClr val="F3F9FE"/>
          </a:solidFill>
          <a:ln w="12700" cap="flat">
            <a:solidFill>
              <a:srgbClr val="A6C7E8"/>
            </a:solidFill>
            <a:custDash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54" name="任意多边形 53"/>
          <p:cNvSpPr/>
          <p:nvPr/>
        </p:nvSpPr>
        <p:spPr>
          <a:xfrm>
            <a:off x="7607300" y="4686300"/>
            <a:ext cx="355600" cy="354965"/>
          </a:xfrm>
          <a:custGeom>
            <a:avLst/>
            <a:gdLst>
              <a:gd name="connisteX0" fmla="*/ 355600 w 355600"/>
              <a:gd name="connsiteY0" fmla="*/ 177799 h 355599"/>
              <a:gd name="connisteX1" fmla="*/ 177799 w 355600"/>
              <a:gd name="connsiteY1" fmla="*/ 355599 h 355599"/>
              <a:gd name="connisteX2" fmla="*/ 0 w 355600"/>
              <a:gd name="connsiteY2" fmla="*/ 177799 h 355599"/>
              <a:gd name="connisteX3" fmla="*/ 177799 w 355600"/>
              <a:gd name="connsiteY3" fmla="*/ 0 h 355599"/>
              <a:gd name="connisteX4" fmla="*/ 355600 w 355600"/>
              <a:gd name="connsiteY4" fmla="*/ 177799 h 3555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55600" h="355600">
                <a:moveTo>
                  <a:pt x="355600" y="177800"/>
                </a:moveTo>
                <a:cubicBezTo>
                  <a:pt x="355600" y="275996"/>
                  <a:pt x="275996" y="355600"/>
                  <a:pt x="177800" y="355600"/>
                </a:cubicBezTo>
                <a:cubicBezTo>
                  <a:pt x="79604" y="355600"/>
                  <a:pt x="0" y="275996"/>
                  <a:pt x="0" y="177800"/>
                </a:cubicBezTo>
                <a:cubicBezTo>
                  <a:pt x="0" y="79604"/>
                  <a:pt x="79604" y="0"/>
                  <a:pt x="177800" y="0"/>
                </a:cubicBezTo>
                <a:cubicBezTo>
                  <a:pt x="275996" y="0"/>
                  <a:pt x="355600" y="79604"/>
                  <a:pt x="355600" y="177800"/>
                </a:cubicBez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7598410" y="4700905"/>
            <a:ext cx="381000" cy="3067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00" b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03</a:t>
            </a:r>
            <a:endParaRPr lang="zh-CN" altLang="en-US" sz="1400" b="1">
              <a:solidFill>
                <a:srgbClr val="FFFFFF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017510" y="4685030"/>
            <a:ext cx="2545080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高相关指标仍不可简单替代</a:t>
            </a:r>
            <a:endParaRPr lang="zh-CN" altLang="en-US" sz="15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585710" y="5046980"/>
            <a:ext cx="2626995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新颖性 / 独特性分别移除后，</a:t>
            </a:r>
            <a:endParaRPr lang="zh-CN" altLang="en-US" sz="150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585710" y="5323205"/>
            <a:ext cx="268097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344F65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名单相似度为 0.481 / 0.667。</a:t>
            </a:r>
            <a:endParaRPr lang="zh-CN" altLang="en-US" sz="1500">
              <a:solidFill>
                <a:srgbClr val="344F65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507605" y="5808345"/>
            <a:ext cx="3122295" cy="2990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3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结论限于当前 114 条候选与固定门槛。</a:t>
            </a:r>
            <a:endParaRPr lang="zh-CN" altLang="en-US" sz="13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60" name="任意多边形 59"/>
          <p:cNvSpPr/>
          <p:nvPr/>
        </p:nvSpPr>
        <p:spPr>
          <a:xfrm>
            <a:off x="266700" y="6222365"/>
            <a:ext cx="11658600" cy="330835"/>
          </a:xfrm>
          <a:custGeom>
            <a:avLst/>
            <a:gdLst>
              <a:gd name="connisteX0" fmla="*/ 0 w 11658600"/>
              <a:gd name="connsiteY0" fmla="*/ 75946 h 330200"/>
              <a:gd name="connisteX1" fmla="*/ 58292 w 11658600"/>
              <a:gd name="connsiteY1" fmla="*/ 0 h 330200"/>
              <a:gd name="connisteX2" fmla="*/ 11600307 w 11658600"/>
              <a:gd name="connsiteY2" fmla="*/ 0 h 330200"/>
              <a:gd name="connisteX3" fmla="*/ 11658600 w 11658600"/>
              <a:gd name="connsiteY3" fmla="*/ 75946 h 330200"/>
              <a:gd name="connisteX4" fmla="*/ 11658600 w 11658600"/>
              <a:gd name="connsiteY4" fmla="*/ 254254 h 330200"/>
              <a:gd name="connisteX5" fmla="*/ 11600307 w 11658600"/>
              <a:gd name="connsiteY5" fmla="*/ 330200 h 330200"/>
              <a:gd name="connisteX6" fmla="*/ 58292 w 11658600"/>
              <a:gd name="connsiteY6" fmla="*/ 330200 h 330200"/>
              <a:gd name="connisteX7" fmla="*/ 0 w 11658600"/>
              <a:gd name="connsiteY7" fmla="*/ 254254 h 330200"/>
              <a:gd name="connisteX8" fmla="*/ 0 w 11658600"/>
              <a:gd name="connsiteY8" fmla="*/ 75946 h 330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330200">
                <a:moveTo>
                  <a:pt x="0" y="75946"/>
                </a:moveTo>
                <a:cubicBezTo>
                  <a:pt x="0" y="34002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34002"/>
                  <a:pt x="11658600" y="75946"/>
                </a:cubicBezTo>
                <a:lnTo>
                  <a:pt x="11658600" y="254254"/>
                </a:lnTo>
                <a:cubicBezTo>
                  <a:pt x="11658600" y="296198"/>
                  <a:pt x="11632501" y="330200"/>
                  <a:pt x="11600307" y="330200"/>
                </a:cubicBezTo>
                <a:lnTo>
                  <a:pt x="58293" y="330200"/>
                </a:lnTo>
                <a:cubicBezTo>
                  <a:pt x="26099" y="330200"/>
                  <a:pt x="0" y="296198"/>
                  <a:pt x="0" y="254254"/>
                </a:cubicBezTo>
                <a:lnTo>
                  <a:pt x="0" y="75946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403860" y="6231255"/>
            <a:ext cx="4817110" cy="3067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Jaccard 越低，名单改变越大；该指标用于衡量名单差异。</a:t>
            </a:r>
            <a:endParaRPr lang="zh-CN" altLang="en-US" sz="14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isteX0" fmla="*/ 0 w 12192000"/>
              <a:gd name="connsiteY0" fmla="*/ 0 h 6858000"/>
              <a:gd name="connisteX1" fmla="*/ 12192000 w 12192000"/>
              <a:gd name="connsiteY1" fmla="*/ 0 h 6858000"/>
              <a:gd name="connisteX2" fmla="*/ 12192000 w 12192000"/>
              <a:gd name="connsiteY2" fmla="*/ 6858000 h 6858000"/>
              <a:gd name="connisteX3" fmla="*/ 0 w 12192000"/>
              <a:gd name="connsiteY3" fmla="*/ 6858000 h 6858000"/>
              <a:gd name="connisteX4" fmla="*/ 0 w 12192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60350" y="76200"/>
            <a:ext cx="11506200" cy="718185"/>
            <a:chOff x="410" y="120"/>
            <a:chExt cx="18120" cy="1131"/>
          </a:xfrm>
        </p:grpSpPr>
        <p:grpSp>
          <p:nvGrpSpPr>
            <p:cNvPr id="6" name="组合 5"/>
            <p:cNvGrpSpPr/>
            <p:nvPr/>
          </p:nvGrpSpPr>
          <p:grpSpPr>
            <a:xfrm>
              <a:off x="410" y="170"/>
              <a:ext cx="990" cy="990"/>
              <a:chOff x="410" y="170"/>
              <a:chExt cx="990" cy="990"/>
            </a:xfrm>
          </p:grpSpPr>
          <p:sp>
            <p:nvSpPr>
              <p:cNvPr id="4" name="任意多边形 3"/>
              <p:cNvSpPr/>
              <p:nvPr/>
            </p:nvSpPr>
            <p:spPr>
              <a:xfrm>
                <a:off x="410" y="170"/>
                <a:ext cx="900" cy="900"/>
              </a:xfrm>
              <a:custGeom>
                <a:avLst/>
                <a:gdLst>
                  <a:gd name="connisteX0" fmla="*/ 133349 w 571500"/>
                  <a:gd name="connsiteY0" fmla="*/ 0 h 571500"/>
                  <a:gd name="connisteX1" fmla="*/ 571500 w 571500"/>
                  <a:gd name="connsiteY1" fmla="*/ 0 h 571500"/>
                  <a:gd name="connisteX2" fmla="*/ 444500 w 571500"/>
                  <a:gd name="connsiteY2" fmla="*/ 571500 h 571500"/>
                  <a:gd name="connisteX3" fmla="*/ 0 w 571500"/>
                  <a:gd name="connsiteY3" fmla="*/ 571500 h 571500"/>
                  <a:gd name="connisteX4" fmla="*/ 133349 w 571500"/>
                  <a:gd name="connsiteY4" fmla="*/ 0 h 5715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571500" h="571500">
                    <a:moveTo>
                      <a:pt x="133350" y="0"/>
                    </a:moveTo>
                    <a:lnTo>
                      <a:pt x="571500" y="0"/>
                    </a:lnTo>
                    <a:lnTo>
                      <a:pt x="444500" y="571500"/>
                    </a:lnTo>
                    <a:lnTo>
                      <a:pt x="0" y="571500"/>
                    </a:lnTo>
                    <a:lnTo>
                      <a:pt x="133350" y="0"/>
                    </a:lnTo>
                    <a:close/>
                  </a:path>
                </a:pathLst>
              </a:custGeom>
              <a:solidFill>
                <a:srgbClr val="0A5798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510" y="270"/>
                <a:ext cx="890" cy="890"/>
              </a:xfrm>
              <a:custGeom>
                <a:avLst/>
                <a:gdLst>
                  <a:gd name="connisteX0" fmla="*/ 520699 w 565150"/>
                  <a:gd name="connsiteY0" fmla="*/ 0 h 565150"/>
                  <a:gd name="connisteX1" fmla="*/ 565150 w 565150"/>
                  <a:gd name="connsiteY1" fmla="*/ 0 h 565150"/>
                  <a:gd name="connisteX2" fmla="*/ 450850 w 565150"/>
                  <a:gd name="connsiteY2" fmla="*/ 565150 h 565150"/>
                  <a:gd name="connisteX3" fmla="*/ 0 w 565150"/>
                  <a:gd name="connsiteY3" fmla="*/ 565150 h 5651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565150" h="565150">
                    <a:moveTo>
                      <a:pt x="520700" y="0"/>
                    </a:moveTo>
                    <a:lnTo>
                      <a:pt x="565150" y="0"/>
                    </a:lnTo>
                    <a:lnTo>
                      <a:pt x="450850" y="565150"/>
                    </a:lnTo>
                    <a:lnTo>
                      <a:pt x="0" y="565150"/>
                    </a:lnTo>
                  </a:path>
                </a:pathLst>
              </a:custGeom>
              <a:noFill/>
              <a:ln w="19050" cap="flat">
                <a:solidFill>
                  <a:srgbClr val="00549A"/>
                </a:solidFill>
                <a:miter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1625" y="453"/>
              <a:ext cx="6768" cy="798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7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实验四：权重与门槛鲁棒性</a:t>
              </a:r>
              <a:endParaRPr lang="zh-CN" altLang="en-US" sz="27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890" y="120"/>
              <a:ext cx="3640" cy="105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grpSp>
        <p:nvGrpSpPr>
          <p:cNvPr id="13" name="组合 12"/>
          <p:cNvGrpSpPr/>
          <p:nvPr/>
        </p:nvGrpSpPr>
        <p:grpSpPr>
          <a:xfrm>
            <a:off x="266700" y="1060450"/>
            <a:ext cx="5638800" cy="520700"/>
            <a:chOff x="420" y="1670"/>
            <a:chExt cx="8880" cy="820"/>
          </a:xfrm>
        </p:grpSpPr>
        <p:sp>
          <p:nvSpPr>
            <p:cNvPr id="10" name="任意多边形 9"/>
            <p:cNvSpPr/>
            <p:nvPr/>
          </p:nvSpPr>
          <p:spPr>
            <a:xfrm>
              <a:off x="420" y="1670"/>
              <a:ext cx="8880" cy="820"/>
            </a:xfrm>
            <a:custGeom>
              <a:avLst/>
              <a:gdLst>
                <a:gd name="connisteX0" fmla="*/ 0 w 5638800"/>
                <a:gd name="connsiteY0" fmla="*/ 88519 h 520700"/>
                <a:gd name="connisteX1" fmla="*/ 84581 w 5638800"/>
                <a:gd name="connsiteY1" fmla="*/ 0 h 520700"/>
                <a:gd name="connisteX2" fmla="*/ 5554218 w 5638800"/>
                <a:gd name="connsiteY2" fmla="*/ 0 h 520700"/>
                <a:gd name="connisteX3" fmla="*/ 5638800 w 5638800"/>
                <a:gd name="connsiteY3" fmla="*/ 88519 h 520700"/>
                <a:gd name="connisteX4" fmla="*/ 5638800 w 5638800"/>
                <a:gd name="connsiteY4" fmla="*/ 432180 h 520700"/>
                <a:gd name="connisteX5" fmla="*/ 5554218 w 5638800"/>
                <a:gd name="connsiteY5" fmla="*/ 520700 h 520700"/>
                <a:gd name="connisteX6" fmla="*/ 84581 w 5638800"/>
                <a:gd name="connsiteY6" fmla="*/ 520700 h 520700"/>
                <a:gd name="connisteX7" fmla="*/ 0 w 5638800"/>
                <a:gd name="connsiteY7" fmla="*/ 432180 h 520700"/>
                <a:gd name="connisteX8" fmla="*/ 0 w 5638800"/>
                <a:gd name="connsiteY8" fmla="*/ 88519 h 5207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638800" h="520700">
                  <a:moveTo>
                    <a:pt x="0" y="88519"/>
                  </a:moveTo>
                  <a:cubicBezTo>
                    <a:pt x="0" y="39631"/>
                    <a:pt x="37869" y="0"/>
                    <a:pt x="84582" y="0"/>
                  </a:cubicBezTo>
                  <a:lnTo>
                    <a:pt x="5554218" y="0"/>
                  </a:lnTo>
                  <a:cubicBezTo>
                    <a:pt x="5600931" y="0"/>
                    <a:pt x="5638800" y="39631"/>
                    <a:pt x="5638800" y="88519"/>
                  </a:cubicBezTo>
                  <a:lnTo>
                    <a:pt x="5638800" y="432181"/>
                  </a:lnTo>
                  <a:cubicBezTo>
                    <a:pt x="5638800" y="481069"/>
                    <a:pt x="5600931" y="520700"/>
                    <a:pt x="5554218" y="520700"/>
                  </a:cubicBezTo>
                  <a:lnTo>
                    <a:pt x="84582" y="520700"/>
                  </a:lnTo>
                  <a:cubicBezTo>
                    <a:pt x="37869" y="520700"/>
                    <a:pt x="0" y="481069"/>
                    <a:pt x="0" y="432181"/>
                  </a:cubicBezTo>
                  <a:lnTo>
                    <a:pt x="0" y="88519"/>
                  </a:lnTo>
                  <a:close/>
                </a:path>
              </a:pathLst>
            </a:custGeom>
            <a:solidFill>
              <a:srgbClr val="EDF6FE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420" y="1670"/>
              <a:ext cx="160" cy="820"/>
            </a:xfrm>
            <a:custGeom>
              <a:avLst/>
              <a:gdLst>
                <a:gd name="connisteX0" fmla="*/ 0 w 101599"/>
                <a:gd name="connsiteY0" fmla="*/ 44259 h 520700"/>
                <a:gd name="connisteX1" fmla="*/ 44196 w 101599"/>
                <a:gd name="connsiteY1" fmla="*/ 0 h 520700"/>
                <a:gd name="connisteX2" fmla="*/ 57403 w 101599"/>
                <a:gd name="connsiteY2" fmla="*/ 0 h 520700"/>
                <a:gd name="connisteX3" fmla="*/ 101599 w 101599"/>
                <a:gd name="connsiteY3" fmla="*/ 44259 h 520700"/>
                <a:gd name="connisteX4" fmla="*/ 101599 w 101599"/>
                <a:gd name="connsiteY4" fmla="*/ 476440 h 520700"/>
                <a:gd name="connisteX5" fmla="*/ 57403 w 101599"/>
                <a:gd name="connsiteY5" fmla="*/ 520700 h 520700"/>
                <a:gd name="connisteX6" fmla="*/ 44196 w 101599"/>
                <a:gd name="connsiteY6" fmla="*/ 520700 h 520700"/>
                <a:gd name="connisteX7" fmla="*/ 0 w 101599"/>
                <a:gd name="connsiteY7" fmla="*/ 476440 h 520700"/>
                <a:gd name="connisteX8" fmla="*/ 0 w 101599"/>
                <a:gd name="connsiteY8" fmla="*/ 44259 h 5207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01600" h="520700">
                  <a:moveTo>
                    <a:pt x="0" y="44259"/>
                  </a:moveTo>
                  <a:cubicBezTo>
                    <a:pt x="0" y="19816"/>
                    <a:pt x="19787" y="0"/>
                    <a:pt x="44196" y="0"/>
                  </a:cubicBezTo>
                  <a:lnTo>
                    <a:pt x="57404" y="0"/>
                  </a:lnTo>
                  <a:cubicBezTo>
                    <a:pt x="81813" y="0"/>
                    <a:pt x="101600" y="19816"/>
                    <a:pt x="101600" y="44259"/>
                  </a:cubicBezTo>
                  <a:lnTo>
                    <a:pt x="101600" y="476441"/>
                  </a:lnTo>
                  <a:cubicBezTo>
                    <a:pt x="101600" y="500884"/>
                    <a:pt x="81813" y="520700"/>
                    <a:pt x="57404" y="520700"/>
                  </a:cubicBezTo>
                  <a:lnTo>
                    <a:pt x="44196" y="520700"/>
                  </a:lnTo>
                  <a:cubicBezTo>
                    <a:pt x="19787" y="520700"/>
                    <a:pt x="0" y="500884"/>
                    <a:pt x="0" y="476441"/>
                  </a:cubicBezTo>
                  <a:lnTo>
                    <a:pt x="0" y="44259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66" y="1748"/>
              <a:ext cx="4688" cy="628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0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权重扰动：名单整体稳定</a:t>
              </a:r>
              <a:endParaRPr lang="zh-CN" altLang="en-US" sz="20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388100" y="1060450"/>
            <a:ext cx="5536565" cy="520700"/>
            <a:chOff x="10060" y="1670"/>
            <a:chExt cx="8719" cy="820"/>
          </a:xfrm>
        </p:grpSpPr>
        <p:sp>
          <p:nvSpPr>
            <p:cNvPr id="14" name="任意多边形 13"/>
            <p:cNvSpPr/>
            <p:nvPr/>
          </p:nvSpPr>
          <p:spPr>
            <a:xfrm>
              <a:off x="10060" y="1670"/>
              <a:ext cx="8719" cy="820"/>
            </a:xfrm>
            <a:custGeom>
              <a:avLst/>
              <a:gdLst>
                <a:gd name="connisteX0" fmla="*/ 0 w 5537199"/>
                <a:gd name="connsiteY0" fmla="*/ 88519 h 520700"/>
                <a:gd name="connisteX1" fmla="*/ 83058 w 5537199"/>
                <a:gd name="connsiteY1" fmla="*/ 0 h 520700"/>
                <a:gd name="connisteX2" fmla="*/ 5454141 w 5537199"/>
                <a:gd name="connsiteY2" fmla="*/ 0 h 520700"/>
                <a:gd name="connisteX3" fmla="*/ 5537199 w 5537199"/>
                <a:gd name="connsiteY3" fmla="*/ 88519 h 520700"/>
                <a:gd name="connisteX4" fmla="*/ 5537199 w 5537199"/>
                <a:gd name="connsiteY4" fmla="*/ 432180 h 520700"/>
                <a:gd name="connisteX5" fmla="*/ 5454141 w 5537199"/>
                <a:gd name="connsiteY5" fmla="*/ 520700 h 520700"/>
                <a:gd name="connisteX6" fmla="*/ 83058 w 5537199"/>
                <a:gd name="connsiteY6" fmla="*/ 520700 h 520700"/>
                <a:gd name="connisteX7" fmla="*/ 0 w 5537199"/>
                <a:gd name="connsiteY7" fmla="*/ 432180 h 520700"/>
                <a:gd name="connisteX8" fmla="*/ 0 w 5537199"/>
                <a:gd name="connsiteY8" fmla="*/ 88519 h 5207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537200" h="520700">
                  <a:moveTo>
                    <a:pt x="0" y="88519"/>
                  </a:moveTo>
                  <a:cubicBezTo>
                    <a:pt x="0" y="39631"/>
                    <a:pt x="37186" y="0"/>
                    <a:pt x="83058" y="0"/>
                  </a:cubicBezTo>
                  <a:lnTo>
                    <a:pt x="5454142" y="0"/>
                  </a:lnTo>
                  <a:cubicBezTo>
                    <a:pt x="5500014" y="0"/>
                    <a:pt x="5537200" y="39631"/>
                    <a:pt x="5537200" y="88519"/>
                  </a:cubicBezTo>
                  <a:lnTo>
                    <a:pt x="5537200" y="432181"/>
                  </a:lnTo>
                  <a:cubicBezTo>
                    <a:pt x="5537200" y="481069"/>
                    <a:pt x="5500014" y="520700"/>
                    <a:pt x="5454142" y="520700"/>
                  </a:cubicBezTo>
                  <a:lnTo>
                    <a:pt x="83058" y="520700"/>
                  </a:lnTo>
                  <a:cubicBezTo>
                    <a:pt x="37186" y="520700"/>
                    <a:pt x="0" y="481069"/>
                    <a:pt x="0" y="432181"/>
                  </a:cubicBezTo>
                  <a:lnTo>
                    <a:pt x="0" y="88519"/>
                  </a:lnTo>
                  <a:close/>
                </a:path>
              </a:pathLst>
            </a:custGeom>
            <a:solidFill>
              <a:srgbClr val="EDF6FE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10060" y="1670"/>
              <a:ext cx="160" cy="820"/>
            </a:xfrm>
            <a:custGeom>
              <a:avLst/>
              <a:gdLst>
                <a:gd name="connisteX0" fmla="*/ 0 w 101600"/>
                <a:gd name="connsiteY0" fmla="*/ 44259 h 520700"/>
                <a:gd name="connisteX1" fmla="*/ 44195 w 101600"/>
                <a:gd name="connsiteY1" fmla="*/ 0 h 520700"/>
                <a:gd name="connisteX2" fmla="*/ 57404 w 101600"/>
                <a:gd name="connsiteY2" fmla="*/ 0 h 520700"/>
                <a:gd name="connisteX3" fmla="*/ 101600 w 101600"/>
                <a:gd name="connsiteY3" fmla="*/ 44259 h 520700"/>
                <a:gd name="connisteX4" fmla="*/ 101600 w 101600"/>
                <a:gd name="connsiteY4" fmla="*/ 476440 h 520700"/>
                <a:gd name="connisteX5" fmla="*/ 57404 w 101600"/>
                <a:gd name="connsiteY5" fmla="*/ 520700 h 520700"/>
                <a:gd name="connisteX6" fmla="*/ 44195 w 101600"/>
                <a:gd name="connsiteY6" fmla="*/ 520700 h 520700"/>
                <a:gd name="connisteX7" fmla="*/ 0 w 101600"/>
                <a:gd name="connsiteY7" fmla="*/ 476440 h 520700"/>
                <a:gd name="connisteX8" fmla="*/ 0 w 101600"/>
                <a:gd name="connsiteY8" fmla="*/ 44259 h 5207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01600" h="520700">
                  <a:moveTo>
                    <a:pt x="0" y="44259"/>
                  </a:moveTo>
                  <a:cubicBezTo>
                    <a:pt x="0" y="19816"/>
                    <a:pt x="19787" y="0"/>
                    <a:pt x="44196" y="0"/>
                  </a:cubicBezTo>
                  <a:lnTo>
                    <a:pt x="57404" y="0"/>
                  </a:lnTo>
                  <a:cubicBezTo>
                    <a:pt x="81813" y="0"/>
                    <a:pt x="101600" y="19816"/>
                    <a:pt x="101600" y="44259"/>
                  </a:cubicBezTo>
                  <a:lnTo>
                    <a:pt x="101600" y="476441"/>
                  </a:lnTo>
                  <a:cubicBezTo>
                    <a:pt x="101600" y="500884"/>
                    <a:pt x="81813" y="520700"/>
                    <a:pt x="57404" y="520700"/>
                  </a:cubicBezTo>
                  <a:lnTo>
                    <a:pt x="44196" y="520700"/>
                  </a:lnTo>
                  <a:cubicBezTo>
                    <a:pt x="19787" y="520700"/>
                    <a:pt x="0" y="500884"/>
                    <a:pt x="0" y="476441"/>
                  </a:cubicBezTo>
                  <a:lnTo>
                    <a:pt x="0" y="44259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436" y="1742"/>
              <a:ext cx="5888" cy="628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0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门槛变化：可靠配对比例更敏感</a:t>
              </a:r>
              <a:endParaRPr lang="zh-CN" altLang="en-US" sz="20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77825" y="1677670"/>
            <a:ext cx="3321050" cy="3448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65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200 次独立扰动 ±20%，再归一化</a:t>
            </a:r>
            <a:endParaRPr lang="zh-CN" altLang="en-US" sz="1650">
              <a:solidFill>
                <a:srgbClr val="344F64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457200" y="2146300"/>
            <a:ext cx="1676400" cy="977900"/>
          </a:xfrm>
          <a:custGeom>
            <a:avLst/>
            <a:gdLst>
              <a:gd name="connisteX0" fmla="*/ 0 w 1676400"/>
              <a:gd name="connsiteY0" fmla="*/ 88011 h 977900"/>
              <a:gd name="connisteX1" fmla="*/ 83819 w 1676400"/>
              <a:gd name="connsiteY1" fmla="*/ 0 h 977900"/>
              <a:gd name="connisteX2" fmla="*/ 1592580 w 1676400"/>
              <a:gd name="connsiteY2" fmla="*/ 0 h 977900"/>
              <a:gd name="connisteX3" fmla="*/ 1676400 w 1676400"/>
              <a:gd name="connsiteY3" fmla="*/ 88011 h 977900"/>
              <a:gd name="connisteX4" fmla="*/ 1676400 w 1676400"/>
              <a:gd name="connsiteY4" fmla="*/ 889889 h 977900"/>
              <a:gd name="connisteX5" fmla="*/ 1592580 w 1676400"/>
              <a:gd name="connsiteY5" fmla="*/ 977900 h 977900"/>
              <a:gd name="connisteX6" fmla="*/ 83819 w 1676400"/>
              <a:gd name="connsiteY6" fmla="*/ 977900 h 977900"/>
              <a:gd name="connisteX7" fmla="*/ 0 w 1676400"/>
              <a:gd name="connsiteY7" fmla="*/ 889889 h 977900"/>
              <a:gd name="connisteX8" fmla="*/ 0 w 1676400"/>
              <a:gd name="connsiteY8" fmla="*/ 88011 h 977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676400" h="977900">
                <a:moveTo>
                  <a:pt x="0" y="88011"/>
                </a:moveTo>
                <a:cubicBezTo>
                  <a:pt x="0" y="39404"/>
                  <a:pt x="37527" y="0"/>
                  <a:pt x="83820" y="0"/>
                </a:cubicBezTo>
                <a:lnTo>
                  <a:pt x="1592580" y="0"/>
                </a:lnTo>
                <a:cubicBezTo>
                  <a:pt x="1638873" y="0"/>
                  <a:pt x="1676400" y="39404"/>
                  <a:pt x="1676400" y="88011"/>
                </a:cubicBezTo>
                <a:lnTo>
                  <a:pt x="1676400" y="889889"/>
                </a:lnTo>
                <a:cubicBezTo>
                  <a:pt x="1676400" y="938496"/>
                  <a:pt x="1638873" y="977900"/>
                  <a:pt x="1592580" y="977900"/>
                </a:cubicBezTo>
                <a:lnTo>
                  <a:pt x="83820" y="977900"/>
                </a:lnTo>
                <a:cubicBezTo>
                  <a:pt x="37527" y="977900"/>
                  <a:pt x="0" y="938496"/>
                  <a:pt x="0" y="889889"/>
                </a:cubicBezTo>
                <a:lnTo>
                  <a:pt x="0" y="88011"/>
                </a:lnTo>
                <a:close/>
              </a:path>
            </a:pathLst>
          </a:custGeom>
          <a:solidFill>
            <a:srgbClr val="F3F9FE"/>
          </a:solidFill>
          <a:ln w="9525" cap="flat">
            <a:solidFill>
              <a:srgbClr val="93BDE3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18185" y="2233295"/>
            <a:ext cx="1136015" cy="46799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2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0.9385</a:t>
            </a:r>
            <a:endParaRPr lang="zh-CN" altLang="en-US" sz="24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84835" y="2722880"/>
            <a:ext cx="1417320" cy="28321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平均名单 Jaccard</a:t>
            </a:r>
            <a:endParaRPr lang="zh-CN" altLang="en-US" sz="12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2260600" y="2146300"/>
            <a:ext cx="1676400" cy="977900"/>
          </a:xfrm>
          <a:custGeom>
            <a:avLst/>
            <a:gdLst>
              <a:gd name="connisteX0" fmla="*/ 0 w 1676400"/>
              <a:gd name="connsiteY0" fmla="*/ 88011 h 977900"/>
              <a:gd name="connisteX1" fmla="*/ 83820 w 1676400"/>
              <a:gd name="connsiteY1" fmla="*/ 0 h 977900"/>
              <a:gd name="connisteX2" fmla="*/ 1592580 w 1676400"/>
              <a:gd name="connsiteY2" fmla="*/ 0 h 977900"/>
              <a:gd name="connisteX3" fmla="*/ 1676400 w 1676400"/>
              <a:gd name="connsiteY3" fmla="*/ 88011 h 977900"/>
              <a:gd name="connisteX4" fmla="*/ 1676400 w 1676400"/>
              <a:gd name="connsiteY4" fmla="*/ 889889 h 977900"/>
              <a:gd name="connisteX5" fmla="*/ 1592580 w 1676400"/>
              <a:gd name="connsiteY5" fmla="*/ 977900 h 977900"/>
              <a:gd name="connisteX6" fmla="*/ 83820 w 1676400"/>
              <a:gd name="connsiteY6" fmla="*/ 977900 h 977900"/>
              <a:gd name="connisteX7" fmla="*/ 0 w 1676400"/>
              <a:gd name="connsiteY7" fmla="*/ 889889 h 977900"/>
              <a:gd name="connisteX8" fmla="*/ 0 w 1676400"/>
              <a:gd name="connsiteY8" fmla="*/ 88011 h 977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676400" h="977900">
                <a:moveTo>
                  <a:pt x="0" y="88011"/>
                </a:moveTo>
                <a:cubicBezTo>
                  <a:pt x="0" y="39404"/>
                  <a:pt x="37527" y="0"/>
                  <a:pt x="83820" y="0"/>
                </a:cubicBezTo>
                <a:lnTo>
                  <a:pt x="1592580" y="0"/>
                </a:lnTo>
                <a:cubicBezTo>
                  <a:pt x="1638873" y="0"/>
                  <a:pt x="1676400" y="39404"/>
                  <a:pt x="1676400" y="88011"/>
                </a:cubicBezTo>
                <a:lnTo>
                  <a:pt x="1676400" y="889889"/>
                </a:lnTo>
                <a:cubicBezTo>
                  <a:pt x="1676400" y="938496"/>
                  <a:pt x="1638873" y="977900"/>
                  <a:pt x="1592580" y="977900"/>
                </a:cubicBezTo>
                <a:lnTo>
                  <a:pt x="83820" y="977900"/>
                </a:lnTo>
                <a:cubicBezTo>
                  <a:pt x="37527" y="977900"/>
                  <a:pt x="0" y="938496"/>
                  <a:pt x="0" y="889889"/>
                </a:cubicBezTo>
                <a:lnTo>
                  <a:pt x="0" y="88011"/>
                </a:lnTo>
                <a:close/>
              </a:path>
            </a:pathLst>
          </a:custGeom>
          <a:solidFill>
            <a:srgbClr val="F3F9FE"/>
          </a:solidFill>
          <a:ln w="9525" cap="flat">
            <a:solidFill>
              <a:srgbClr val="93BDE3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520950" y="2233295"/>
            <a:ext cx="1136015" cy="46799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2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0.7391</a:t>
            </a:r>
            <a:endParaRPr lang="zh-CN" altLang="en-US" sz="24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381885" y="2726055"/>
            <a:ext cx="1417320" cy="28321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最低名单 Jaccard</a:t>
            </a:r>
            <a:endParaRPr lang="zh-CN" altLang="en-US" sz="12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4064000" y="2146300"/>
            <a:ext cx="1676400" cy="977900"/>
          </a:xfrm>
          <a:custGeom>
            <a:avLst/>
            <a:gdLst>
              <a:gd name="connisteX0" fmla="*/ 0 w 1676400"/>
              <a:gd name="connsiteY0" fmla="*/ 88011 h 977900"/>
              <a:gd name="connisteX1" fmla="*/ 83820 w 1676400"/>
              <a:gd name="connsiteY1" fmla="*/ 0 h 977900"/>
              <a:gd name="connisteX2" fmla="*/ 1592580 w 1676400"/>
              <a:gd name="connsiteY2" fmla="*/ 0 h 977900"/>
              <a:gd name="connisteX3" fmla="*/ 1676400 w 1676400"/>
              <a:gd name="connsiteY3" fmla="*/ 88011 h 977900"/>
              <a:gd name="connisteX4" fmla="*/ 1676400 w 1676400"/>
              <a:gd name="connsiteY4" fmla="*/ 889889 h 977900"/>
              <a:gd name="connisteX5" fmla="*/ 1592580 w 1676400"/>
              <a:gd name="connsiteY5" fmla="*/ 977900 h 977900"/>
              <a:gd name="connisteX6" fmla="*/ 83820 w 1676400"/>
              <a:gd name="connsiteY6" fmla="*/ 977900 h 977900"/>
              <a:gd name="connisteX7" fmla="*/ 0 w 1676400"/>
              <a:gd name="connsiteY7" fmla="*/ 889889 h 977900"/>
              <a:gd name="connisteX8" fmla="*/ 0 w 1676400"/>
              <a:gd name="connsiteY8" fmla="*/ 88011 h 977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676400" h="977900">
                <a:moveTo>
                  <a:pt x="0" y="88011"/>
                </a:moveTo>
                <a:cubicBezTo>
                  <a:pt x="0" y="39404"/>
                  <a:pt x="37527" y="0"/>
                  <a:pt x="83820" y="0"/>
                </a:cubicBezTo>
                <a:lnTo>
                  <a:pt x="1592580" y="0"/>
                </a:lnTo>
                <a:cubicBezTo>
                  <a:pt x="1638873" y="0"/>
                  <a:pt x="1676400" y="39404"/>
                  <a:pt x="1676400" y="88011"/>
                </a:cubicBezTo>
                <a:lnTo>
                  <a:pt x="1676400" y="889889"/>
                </a:lnTo>
                <a:cubicBezTo>
                  <a:pt x="1676400" y="938496"/>
                  <a:pt x="1638873" y="977900"/>
                  <a:pt x="1592580" y="977900"/>
                </a:cubicBezTo>
                <a:lnTo>
                  <a:pt x="83820" y="977900"/>
                </a:lnTo>
                <a:cubicBezTo>
                  <a:pt x="37527" y="977900"/>
                  <a:pt x="0" y="938496"/>
                  <a:pt x="0" y="889889"/>
                </a:cubicBezTo>
                <a:lnTo>
                  <a:pt x="0" y="88011"/>
                </a:lnTo>
                <a:close/>
              </a:path>
            </a:pathLst>
          </a:custGeom>
          <a:solidFill>
            <a:srgbClr val="F3F9FE"/>
          </a:solidFill>
          <a:ln w="9525" cap="flat">
            <a:solidFill>
              <a:srgbClr val="93BDE3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4324350" y="2233295"/>
            <a:ext cx="1136015" cy="46799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2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0.9925</a:t>
            </a:r>
            <a:endParaRPr lang="zh-CN" altLang="en-US" sz="24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095750" y="2732405"/>
            <a:ext cx="1593850" cy="28321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2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平均排名 Spearman</a:t>
            </a:r>
            <a:endParaRPr lang="zh-CN" altLang="en-US" sz="12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65760" y="3275330"/>
            <a:ext cx="3315335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Top-20 名单相似度：越接近 1 越稳定</a:t>
            </a:r>
            <a:endParaRPr lang="zh-CN" altLang="en-US" sz="1500">
              <a:solidFill>
                <a:srgbClr val="344F64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22300" y="3873500"/>
            <a:ext cx="0" cy="234950"/>
          </a:xfrm>
          <a:custGeom>
            <a:avLst/>
            <a:gdLst>
              <a:gd name="connisteX0" fmla="*/ 0 w 0"/>
              <a:gd name="connsiteY0" fmla="*/ 0 h 234950"/>
              <a:gd name="connisteX1" fmla="*/ 0 w 0"/>
              <a:gd name="connsiteY1" fmla="*/ 234950 h 2349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234950">
                <a:moveTo>
                  <a:pt x="0" y="0"/>
                </a:moveTo>
                <a:lnTo>
                  <a:pt x="0" y="234950"/>
                </a:lnTo>
              </a:path>
            </a:pathLst>
          </a:custGeom>
          <a:solidFill>
            <a:srgbClr val="000000"/>
          </a:solidFill>
          <a:ln w="9525" cap="flat">
            <a:solidFill>
              <a:srgbClr val="B8D3E8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86410" y="4180205"/>
            <a:ext cx="278130" cy="2990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3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</a:t>
            </a:r>
            <a:endParaRPr lang="zh-CN" altLang="en-US" sz="13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1879600" y="3873500"/>
            <a:ext cx="0" cy="234950"/>
          </a:xfrm>
          <a:custGeom>
            <a:avLst/>
            <a:gdLst>
              <a:gd name="connisteX0" fmla="*/ 0 w 0"/>
              <a:gd name="connsiteY0" fmla="*/ 0 h 234950"/>
              <a:gd name="connisteX1" fmla="*/ 0 w 0"/>
              <a:gd name="connsiteY1" fmla="*/ 234950 h 2349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234950">
                <a:moveTo>
                  <a:pt x="0" y="0"/>
                </a:moveTo>
                <a:lnTo>
                  <a:pt x="0" y="234950"/>
                </a:lnTo>
              </a:path>
            </a:pathLst>
          </a:custGeom>
          <a:solidFill>
            <a:srgbClr val="000000"/>
          </a:solidFill>
          <a:ln w="9525" cap="flat">
            <a:solidFill>
              <a:srgbClr val="B8D3E8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619885" y="4180205"/>
            <a:ext cx="516255" cy="2990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3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0.25</a:t>
            </a:r>
            <a:endParaRPr lang="zh-CN" altLang="en-US" sz="13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3" name="任意多边形 32"/>
          <p:cNvSpPr/>
          <p:nvPr/>
        </p:nvSpPr>
        <p:spPr>
          <a:xfrm>
            <a:off x="3136900" y="3873500"/>
            <a:ext cx="0" cy="234950"/>
          </a:xfrm>
          <a:custGeom>
            <a:avLst/>
            <a:gdLst>
              <a:gd name="connisteX0" fmla="*/ 0 w 0"/>
              <a:gd name="connsiteY0" fmla="*/ 0 h 234950"/>
              <a:gd name="connisteX1" fmla="*/ 0 w 0"/>
              <a:gd name="connsiteY1" fmla="*/ 234950 h 2349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234950">
                <a:moveTo>
                  <a:pt x="0" y="0"/>
                </a:moveTo>
                <a:lnTo>
                  <a:pt x="0" y="234950"/>
                </a:lnTo>
              </a:path>
            </a:pathLst>
          </a:custGeom>
          <a:solidFill>
            <a:srgbClr val="000000"/>
          </a:solidFill>
          <a:ln w="9525" cap="flat">
            <a:solidFill>
              <a:srgbClr val="B8D3E8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2927985" y="4180205"/>
            <a:ext cx="421005" cy="2990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3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0.5</a:t>
            </a:r>
            <a:endParaRPr lang="zh-CN" altLang="en-US" sz="13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4394200" y="3873500"/>
            <a:ext cx="0" cy="234950"/>
          </a:xfrm>
          <a:custGeom>
            <a:avLst/>
            <a:gdLst>
              <a:gd name="connisteX0" fmla="*/ 0 w 0"/>
              <a:gd name="connsiteY0" fmla="*/ 0 h 234950"/>
              <a:gd name="connisteX1" fmla="*/ 0 w 0"/>
              <a:gd name="connsiteY1" fmla="*/ 234950 h 2349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234950">
                <a:moveTo>
                  <a:pt x="0" y="0"/>
                </a:moveTo>
                <a:lnTo>
                  <a:pt x="0" y="234950"/>
                </a:lnTo>
              </a:path>
            </a:pathLst>
          </a:custGeom>
          <a:solidFill>
            <a:srgbClr val="000000"/>
          </a:solidFill>
          <a:ln w="9525" cap="flat">
            <a:solidFill>
              <a:srgbClr val="B8D3E8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134485" y="4180205"/>
            <a:ext cx="516255" cy="2990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3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0.75</a:t>
            </a:r>
            <a:endParaRPr lang="zh-CN" altLang="en-US" sz="13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5650865" y="3873500"/>
            <a:ext cx="0" cy="234950"/>
          </a:xfrm>
          <a:custGeom>
            <a:avLst/>
            <a:gdLst>
              <a:gd name="connisteX0" fmla="*/ 0 w 0"/>
              <a:gd name="connsiteY0" fmla="*/ 0 h 234950"/>
              <a:gd name="connisteX1" fmla="*/ 0 w 0"/>
              <a:gd name="connsiteY1" fmla="*/ 234950 h 2349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234950">
                <a:moveTo>
                  <a:pt x="0" y="0"/>
                </a:moveTo>
                <a:lnTo>
                  <a:pt x="0" y="234950"/>
                </a:lnTo>
              </a:path>
            </a:pathLst>
          </a:custGeom>
          <a:solidFill>
            <a:srgbClr val="000000"/>
          </a:solidFill>
          <a:ln w="9525" cap="flat">
            <a:solidFill>
              <a:srgbClr val="B8D3E8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528310" y="4180205"/>
            <a:ext cx="278130" cy="2990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3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1</a:t>
            </a:r>
            <a:endParaRPr lang="zh-CN" altLang="en-US" sz="13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9" name="任意多边形 38"/>
          <p:cNvSpPr/>
          <p:nvPr/>
        </p:nvSpPr>
        <p:spPr>
          <a:xfrm>
            <a:off x="622300" y="4013200"/>
            <a:ext cx="5028565" cy="0"/>
          </a:xfrm>
          <a:custGeom>
            <a:avLst/>
            <a:gdLst>
              <a:gd name="connisteX0" fmla="*/ 0 w 5029199"/>
              <a:gd name="connsiteY0" fmla="*/ 0 h 0"/>
              <a:gd name="connisteX1" fmla="*/ 5029199 w 5029199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5029200">
                <a:moveTo>
                  <a:pt x="0" y="0"/>
                </a:moveTo>
                <a:lnTo>
                  <a:pt x="5029200" y="0"/>
                </a:lnTo>
              </a:path>
            </a:pathLst>
          </a:custGeom>
          <a:solidFill>
            <a:srgbClr val="000000"/>
          </a:solidFill>
          <a:ln w="50800" cap="flat">
            <a:solidFill>
              <a:srgbClr val="C8DFE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4338955" y="4013200"/>
            <a:ext cx="1311910" cy="0"/>
          </a:xfrm>
          <a:custGeom>
            <a:avLst/>
            <a:gdLst>
              <a:gd name="connisteX0" fmla="*/ 0 w 1311965"/>
              <a:gd name="connsiteY0" fmla="*/ 0 h 0"/>
              <a:gd name="connisteX1" fmla="*/ 1311965 w 1311965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311965">
                <a:moveTo>
                  <a:pt x="0" y="0"/>
                </a:moveTo>
                <a:lnTo>
                  <a:pt x="1311965" y="0"/>
                </a:lnTo>
              </a:path>
            </a:pathLst>
          </a:custGeom>
          <a:solidFill>
            <a:srgbClr val="000000"/>
          </a:solidFill>
          <a:ln w="76200" cap="flat">
            <a:solidFill>
              <a:srgbClr val="5197D5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5259070" y="3930650"/>
            <a:ext cx="165100" cy="165100"/>
          </a:xfrm>
          <a:custGeom>
            <a:avLst/>
            <a:gdLst>
              <a:gd name="connisteX0" fmla="*/ 165099 w 165099"/>
              <a:gd name="connsiteY0" fmla="*/ 82550 h 165100"/>
              <a:gd name="connisteX1" fmla="*/ 82549 w 165099"/>
              <a:gd name="connsiteY1" fmla="*/ 165100 h 165100"/>
              <a:gd name="connisteX2" fmla="*/ 0 w 165099"/>
              <a:gd name="connsiteY2" fmla="*/ 82550 h 165100"/>
              <a:gd name="connisteX3" fmla="*/ 82549 w 165099"/>
              <a:gd name="connsiteY3" fmla="*/ 0 h 165100"/>
              <a:gd name="connisteX4" fmla="*/ 165099 w 165099"/>
              <a:gd name="connsiteY4" fmla="*/ 82550 h 1651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65100" h="165100">
                <a:moveTo>
                  <a:pt x="165100" y="82550"/>
                </a:moveTo>
                <a:cubicBezTo>
                  <a:pt x="165100" y="128141"/>
                  <a:pt x="128141" y="165100"/>
                  <a:pt x="82550" y="165100"/>
                </a:cubicBezTo>
                <a:cubicBezTo>
                  <a:pt x="36959" y="165100"/>
                  <a:pt x="0" y="128141"/>
                  <a:pt x="0" y="82550"/>
                </a:cubicBezTo>
                <a:cubicBezTo>
                  <a:pt x="0" y="36959"/>
                  <a:pt x="36959" y="0"/>
                  <a:pt x="82550" y="0"/>
                </a:cubicBezTo>
                <a:cubicBezTo>
                  <a:pt x="128141" y="0"/>
                  <a:pt x="165100" y="36959"/>
                  <a:pt x="165100" y="82550"/>
                </a:cubicBezTo>
                <a:close/>
              </a:path>
            </a:pathLst>
          </a:custGeom>
          <a:solidFill>
            <a:srgbClr val="00549A"/>
          </a:solidFill>
          <a:ln w="19050" cap="flat">
            <a:solidFill>
              <a:srgbClr val="FFFF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4227830" y="3542030"/>
            <a:ext cx="1097280" cy="29908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3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均值 0.9385</a:t>
            </a:r>
            <a:endParaRPr lang="zh-CN" altLang="en-US" sz="13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65760" y="4564380"/>
            <a:ext cx="2477770" cy="3295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本次范围：0.7391–1.0000</a:t>
            </a:r>
            <a:endParaRPr lang="zh-CN" altLang="en-US" sz="15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65760" y="4907280"/>
            <a:ext cx="3218815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5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Jaccard = 名单交集数量 ÷ 并集数量</a:t>
            </a:r>
            <a:endParaRPr lang="zh-CN" altLang="en-US" sz="15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6493510" y="1696720"/>
            <a:ext cx="5241290" cy="3656330"/>
            <a:chOff x="10226" y="2672"/>
            <a:chExt cx="8254" cy="5758"/>
          </a:xfrm>
        </p:grpSpPr>
        <p:sp>
          <p:nvSpPr>
            <p:cNvPr id="46" name="文本框 45"/>
            <p:cNvSpPr txBox="1"/>
            <p:nvPr/>
          </p:nvSpPr>
          <p:spPr>
            <a:xfrm>
              <a:off x="10236" y="2672"/>
              <a:ext cx="5862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44F64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27 组组合：域分数 × 域覆盖 × 配对比例</a:t>
              </a:r>
              <a:endParaRPr lang="zh-CN" altLang="en-US" sz="155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0226" y="3148"/>
              <a:ext cx="3576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44F64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可排名候选：98–128 条</a:t>
              </a:r>
              <a:endParaRPr lang="zh-CN" altLang="en-US" sz="155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10360" y="3900"/>
              <a:ext cx="8119" cy="659"/>
            </a:xfrm>
            <a:custGeom>
              <a:avLst/>
              <a:gdLst>
                <a:gd name="connisteX0" fmla="*/ 0 w 5156199"/>
                <a:gd name="connsiteY0" fmla="*/ 62864 h 419099"/>
                <a:gd name="connisteX1" fmla="*/ 51561 w 5156199"/>
                <a:gd name="connsiteY1" fmla="*/ 0 h 419099"/>
                <a:gd name="connisteX2" fmla="*/ 5104638 w 5156199"/>
                <a:gd name="connsiteY2" fmla="*/ 0 h 419099"/>
                <a:gd name="connisteX3" fmla="*/ 5156199 w 5156199"/>
                <a:gd name="connsiteY3" fmla="*/ 62864 h 419099"/>
                <a:gd name="connisteX4" fmla="*/ 5156199 w 5156199"/>
                <a:gd name="connsiteY4" fmla="*/ 356234 h 419099"/>
                <a:gd name="connisteX5" fmla="*/ 5104638 w 5156199"/>
                <a:gd name="connsiteY5" fmla="*/ 419099 h 419099"/>
                <a:gd name="connisteX6" fmla="*/ 51561 w 5156199"/>
                <a:gd name="connsiteY6" fmla="*/ 419099 h 419099"/>
                <a:gd name="connisteX7" fmla="*/ 0 w 5156199"/>
                <a:gd name="connsiteY7" fmla="*/ 356234 h 419099"/>
                <a:gd name="connisteX8" fmla="*/ 0 w 5156199"/>
                <a:gd name="connsiteY8" fmla="*/ 62864 h 4190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156200" h="419100">
                  <a:moveTo>
                    <a:pt x="0" y="62865"/>
                  </a:moveTo>
                  <a:cubicBezTo>
                    <a:pt x="0" y="28146"/>
                    <a:pt x="23085" y="0"/>
                    <a:pt x="51562" y="0"/>
                  </a:cubicBezTo>
                  <a:lnTo>
                    <a:pt x="5104638" y="0"/>
                  </a:lnTo>
                  <a:cubicBezTo>
                    <a:pt x="5133115" y="0"/>
                    <a:pt x="5156200" y="28146"/>
                    <a:pt x="5156200" y="62865"/>
                  </a:cubicBezTo>
                  <a:lnTo>
                    <a:pt x="5156200" y="356235"/>
                  </a:lnTo>
                  <a:cubicBezTo>
                    <a:pt x="5156200" y="390954"/>
                    <a:pt x="5133115" y="419100"/>
                    <a:pt x="5104638" y="419100"/>
                  </a:cubicBezTo>
                  <a:lnTo>
                    <a:pt x="51562" y="419100"/>
                  </a:lnTo>
                  <a:cubicBezTo>
                    <a:pt x="23085" y="419100"/>
                    <a:pt x="0" y="390954"/>
                    <a:pt x="0" y="356235"/>
                  </a:cubicBezTo>
                  <a:lnTo>
                    <a:pt x="0" y="62865"/>
                  </a:lnTo>
                  <a:close/>
                </a:path>
              </a:pathLst>
            </a:custGeom>
            <a:solidFill>
              <a:srgbClr val="DDEEFE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0466" y="3967"/>
              <a:ext cx="2088" cy="507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可靠配对门槛</a:t>
              </a:r>
              <a:endPara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4196" y="3982"/>
              <a:ext cx="3149" cy="507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Top-20 Jaccard 范围</a:t>
              </a:r>
              <a:endPara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10360" y="4560"/>
              <a:ext cx="8120" cy="870"/>
            </a:xfrm>
            <a:custGeom>
              <a:avLst/>
              <a:gdLst>
                <a:gd name="connisteX0" fmla="*/ 0 w 5156200"/>
                <a:gd name="connsiteY0" fmla="*/ 49720 h 552450"/>
                <a:gd name="connisteX1" fmla="*/ 25780 w 5156200"/>
                <a:gd name="connsiteY1" fmla="*/ 0 h 552450"/>
                <a:gd name="connisteX2" fmla="*/ 5130419 w 5156200"/>
                <a:gd name="connsiteY2" fmla="*/ 0 h 552450"/>
                <a:gd name="connisteX3" fmla="*/ 5156200 w 5156200"/>
                <a:gd name="connsiteY3" fmla="*/ 49720 h 552450"/>
                <a:gd name="connisteX4" fmla="*/ 5156200 w 5156200"/>
                <a:gd name="connsiteY4" fmla="*/ 502729 h 552450"/>
                <a:gd name="connisteX5" fmla="*/ 5130419 w 5156200"/>
                <a:gd name="connsiteY5" fmla="*/ 552450 h 552450"/>
                <a:gd name="connisteX6" fmla="*/ 25780 w 5156200"/>
                <a:gd name="connsiteY6" fmla="*/ 552450 h 552450"/>
                <a:gd name="connisteX7" fmla="*/ 0 w 5156200"/>
                <a:gd name="connsiteY7" fmla="*/ 502729 h 552450"/>
                <a:gd name="connisteX8" fmla="*/ 0 w 5156200"/>
                <a:gd name="connsiteY8" fmla="*/ 49720 h 5524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156200" h="552450">
                  <a:moveTo>
                    <a:pt x="0" y="49720"/>
                  </a:moveTo>
                  <a:cubicBezTo>
                    <a:pt x="0" y="22261"/>
                    <a:pt x="11543" y="0"/>
                    <a:pt x="25781" y="0"/>
                  </a:cubicBezTo>
                  <a:lnTo>
                    <a:pt x="5130419" y="0"/>
                  </a:lnTo>
                  <a:cubicBezTo>
                    <a:pt x="5144657" y="0"/>
                    <a:pt x="5156200" y="22261"/>
                    <a:pt x="5156200" y="49720"/>
                  </a:cubicBezTo>
                  <a:lnTo>
                    <a:pt x="5156200" y="502730"/>
                  </a:lnTo>
                  <a:cubicBezTo>
                    <a:pt x="5156200" y="530189"/>
                    <a:pt x="5144657" y="552450"/>
                    <a:pt x="5130419" y="552450"/>
                  </a:cubicBezTo>
                  <a:lnTo>
                    <a:pt x="25781" y="552450"/>
                  </a:lnTo>
                  <a:cubicBezTo>
                    <a:pt x="11543" y="552450"/>
                    <a:pt x="0" y="530189"/>
                    <a:pt x="0" y="502730"/>
                  </a:cubicBezTo>
                  <a:lnTo>
                    <a:pt x="0" y="49720"/>
                  </a:lnTo>
                  <a:close/>
                </a:path>
              </a:pathLst>
            </a:custGeom>
            <a:solidFill>
              <a:srgbClr val="F3F9FE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0476" y="4718"/>
              <a:ext cx="949" cy="54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50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25%</a:t>
              </a:r>
              <a:endParaRPr lang="zh-CN" altLang="en-US" sz="1650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6101" y="4718"/>
              <a:ext cx="1300" cy="54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0.6000</a:t>
              </a:r>
              <a:endPara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10360" y="5490"/>
              <a:ext cx="8120" cy="870"/>
            </a:xfrm>
            <a:custGeom>
              <a:avLst/>
              <a:gdLst>
                <a:gd name="connisteX0" fmla="*/ 0 w 5156200"/>
                <a:gd name="connsiteY0" fmla="*/ 49720 h 552450"/>
                <a:gd name="connisteX1" fmla="*/ 25780 w 5156200"/>
                <a:gd name="connsiteY1" fmla="*/ 0 h 552450"/>
                <a:gd name="connisteX2" fmla="*/ 5130419 w 5156200"/>
                <a:gd name="connsiteY2" fmla="*/ 0 h 552450"/>
                <a:gd name="connisteX3" fmla="*/ 5156200 w 5156200"/>
                <a:gd name="connsiteY3" fmla="*/ 49720 h 552450"/>
                <a:gd name="connisteX4" fmla="*/ 5156200 w 5156200"/>
                <a:gd name="connsiteY4" fmla="*/ 502729 h 552450"/>
                <a:gd name="connisteX5" fmla="*/ 5130419 w 5156200"/>
                <a:gd name="connsiteY5" fmla="*/ 552450 h 552450"/>
                <a:gd name="connisteX6" fmla="*/ 25780 w 5156200"/>
                <a:gd name="connsiteY6" fmla="*/ 552450 h 552450"/>
                <a:gd name="connisteX7" fmla="*/ 0 w 5156200"/>
                <a:gd name="connsiteY7" fmla="*/ 502729 h 552450"/>
                <a:gd name="connisteX8" fmla="*/ 0 w 5156200"/>
                <a:gd name="connsiteY8" fmla="*/ 49720 h 5524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156200" h="552450">
                  <a:moveTo>
                    <a:pt x="0" y="49721"/>
                  </a:moveTo>
                  <a:cubicBezTo>
                    <a:pt x="0" y="22261"/>
                    <a:pt x="11543" y="0"/>
                    <a:pt x="25781" y="0"/>
                  </a:cubicBezTo>
                  <a:lnTo>
                    <a:pt x="5130419" y="0"/>
                  </a:lnTo>
                  <a:cubicBezTo>
                    <a:pt x="5144657" y="0"/>
                    <a:pt x="5156200" y="22261"/>
                    <a:pt x="5156200" y="49721"/>
                  </a:cubicBezTo>
                  <a:lnTo>
                    <a:pt x="5156200" y="502730"/>
                  </a:lnTo>
                  <a:cubicBezTo>
                    <a:pt x="5156200" y="530189"/>
                    <a:pt x="5144657" y="552450"/>
                    <a:pt x="5130419" y="552450"/>
                  </a:cubicBezTo>
                  <a:lnTo>
                    <a:pt x="25781" y="552450"/>
                  </a:lnTo>
                  <a:cubicBezTo>
                    <a:pt x="11543" y="552450"/>
                    <a:pt x="0" y="530189"/>
                    <a:pt x="0" y="502730"/>
                  </a:cubicBezTo>
                  <a:lnTo>
                    <a:pt x="0" y="49721"/>
                  </a:lnTo>
                  <a:close/>
                </a:path>
              </a:pathLst>
            </a:custGeom>
            <a:solidFill>
              <a:srgbClr val="E0F0FD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0486" y="5668"/>
              <a:ext cx="2269" cy="54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50%（基准）</a:t>
              </a:r>
              <a:endPara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6121" y="5648"/>
              <a:ext cx="1300" cy="54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1.0000</a:t>
              </a:r>
              <a:endPara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7" name="任意多边形 56"/>
            <p:cNvSpPr/>
            <p:nvPr/>
          </p:nvSpPr>
          <p:spPr>
            <a:xfrm>
              <a:off x="10360" y="6420"/>
              <a:ext cx="8120" cy="870"/>
            </a:xfrm>
            <a:custGeom>
              <a:avLst/>
              <a:gdLst>
                <a:gd name="connisteX0" fmla="*/ 0 w 5156200"/>
                <a:gd name="connsiteY0" fmla="*/ 49720 h 552450"/>
                <a:gd name="connisteX1" fmla="*/ 25780 w 5156200"/>
                <a:gd name="connsiteY1" fmla="*/ 0 h 552450"/>
                <a:gd name="connisteX2" fmla="*/ 5130419 w 5156200"/>
                <a:gd name="connsiteY2" fmla="*/ 0 h 552450"/>
                <a:gd name="connisteX3" fmla="*/ 5156200 w 5156200"/>
                <a:gd name="connsiteY3" fmla="*/ 49720 h 552450"/>
                <a:gd name="connisteX4" fmla="*/ 5156200 w 5156200"/>
                <a:gd name="connsiteY4" fmla="*/ 502729 h 552450"/>
                <a:gd name="connisteX5" fmla="*/ 5130419 w 5156200"/>
                <a:gd name="connsiteY5" fmla="*/ 552450 h 552450"/>
                <a:gd name="connisteX6" fmla="*/ 25780 w 5156200"/>
                <a:gd name="connsiteY6" fmla="*/ 552450 h 552450"/>
                <a:gd name="connisteX7" fmla="*/ 0 w 5156200"/>
                <a:gd name="connsiteY7" fmla="*/ 502729 h 552450"/>
                <a:gd name="connisteX8" fmla="*/ 0 w 5156200"/>
                <a:gd name="connsiteY8" fmla="*/ 49720 h 5524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5156200" h="552450">
                  <a:moveTo>
                    <a:pt x="0" y="49721"/>
                  </a:moveTo>
                  <a:cubicBezTo>
                    <a:pt x="0" y="22261"/>
                    <a:pt x="11543" y="0"/>
                    <a:pt x="25781" y="0"/>
                  </a:cubicBezTo>
                  <a:lnTo>
                    <a:pt x="5130419" y="0"/>
                  </a:lnTo>
                  <a:cubicBezTo>
                    <a:pt x="5144657" y="0"/>
                    <a:pt x="5156200" y="22261"/>
                    <a:pt x="5156200" y="49721"/>
                  </a:cubicBezTo>
                  <a:lnTo>
                    <a:pt x="5156200" y="502730"/>
                  </a:lnTo>
                  <a:cubicBezTo>
                    <a:pt x="5156200" y="530189"/>
                    <a:pt x="5144657" y="552450"/>
                    <a:pt x="5130419" y="552450"/>
                  </a:cubicBezTo>
                  <a:lnTo>
                    <a:pt x="25781" y="552450"/>
                  </a:lnTo>
                  <a:cubicBezTo>
                    <a:pt x="11543" y="552450"/>
                    <a:pt x="0" y="530189"/>
                    <a:pt x="0" y="502730"/>
                  </a:cubicBezTo>
                  <a:lnTo>
                    <a:pt x="0" y="49721"/>
                  </a:lnTo>
                  <a:close/>
                </a:path>
              </a:pathLst>
            </a:custGeom>
            <a:solidFill>
              <a:srgbClr val="F3F9FE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0466" y="6578"/>
              <a:ext cx="949" cy="54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50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75%</a:t>
              </a:r>
              <a:endParaRPr lang="zh-CN" altLang="en-US" sz="1650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5496" y="6578"/>
              <a:ext cx="2496" cy="54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0.6000–0.6667</a:t>
              </a:r>
              <a:endPara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0236" y="7468"/>
              <a:ext cx="4955" cy="507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00">
                  <a:solidFill>
                    <a:srgbClr val="344F64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固定 50% 配对门槛时，域门槛扰动</a:t>
              </a:r>
              <a:endParaRPr lang="zh-CN" altLang="en-US" sz="15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0226" y="7923"/>
              <a:ext cx="4365" cy="507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00">
                  <a:solidFill>
                    <a:srgbClr val="344F64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均保持加权 Top-20 名单不变。</a:t>
              </a:r>
              <a:endParaRPr lang="zh-CN" altLang="en-US" sz="15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266700" y="5612765"/>
            <a:ext cx="11658600" cy="972185"/>
            <a:chOff x="420" y="8839"/>
            <a:chExt cx="18360" cy="1531"/>
          </a:xfrm>
        </p:grpSpPr>
        <p:sp>
          <p:nvSpPr>
            <p:cNvPr id="63" name="任意多边形 62"/>
            <p:cNvSpPr/>
            <p:nvPr/>
          </p:nvSpPr>
          <p:spPr>
            <a:xfrm>
              <a:off x="420" y="8839"/>
              <a:ext cx="18360" cy="1531"/>
            </a:xfrm>
            <a:custGeom>
              <a:avLst/>
              <a:gdLst>
                <a:gd name="connisteX0" fmla="*/ 0 w 11658600"/>
                <a:gd name="connsiteY0" fmla="*/ 97155 h 971550"/>
                <a:gd name="connisteX1" fmla="*/ 58292 w 11658600"/>
                <a:gd name="connsiteY1" fmla="*/ 0 h 971550"/>
                <a:gd name="connisteX2" fmla="*/ 11600307 w 11658600"/>
                <a:gd name="connsiteY2" fmla="*/ 0 h 971550"/>
                <a:gd name="connisteX3" fmla="*/ 11658600 w 11658600"/>
                <a:gd name="connsiteY3" fmla="*/ 97155 h 971550"/>
                <a:gd name="connisteX4" fmla="*/ 11658600 w 11658600"/>
                <a:gd name="connsiteY4" fmla="*/ 874394 h 971550"/>
                <a:gd name="connisteX5" fmla="*/ 11600307 w 11658600"/>
                <a:gd name="connsiteY5" fmla="*/ 971550 h 971550"/>
                <a:gd name="connisteX6" fmla="*/ 58292 w 11658600"/>
                <a:gd name="connsiteY6" fmla="*/ 971550 h 971550"/>
                <a:gd name="connisteX7" fmla="*/ 0 w 11658600"/>
                <a:gd name="connsiteY7" fmla="*/ 874394 h 971550"/>
                <a:gd name="connisteX8" fmla="*/ 0 w 11658600"/>
                <a:gd name="connsiteY8" fmla="*/ 97155 h 9715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1658600" h="971550">
                  <a:moveTo>
                    <a:pt x="0" y="97155"/>
                  </a:moveTo>
                  <a:cubicBezTo>
                    <a:pt x="0" y="43498"/>
                    <a:pt x="26099" y="0"/>
                    <a:pt x="58293" y="0"/>
                  </a:cubicBezTo>
                  <a:lnTo>
                    <a:pt x="11600307" y="0"/>
                  </a:lnTo>
                  <a:cubicBezTo>
                    <a:pt x="11632501" y="0"/>
                    <a:pt x="11658600" y="43498"/>
                    <a:pt x="11658600" y="97155"/>
                  </a:cubicBezTo>
                  <a:lnTo>
                    <a:pt x="11658600" y="874395"/>
                  </a:lnTo>
                  <a:cubicBezTo>
                    <a:pt x="11658600" y="928052"/>
                    <a:pt x="11632501" y="971550"/>
                    <a:pt x="11600307" y="971550"/>
                  </a:cubicBezTo>
                  <a:lnTo>
                    <a:pt x="58293" y="971550"/>
                  </a:lnTo>
                  <a:cubicBezTo>
                    <a:pt x="26099" y="971550"/>
                    <a:pt x="0" y="928052"/>
                    <a:pt x="0" y="874395"/>
                  </a:cubicBezTo>
                  <a:lnTo>
                    <a:pt x="0" y="97155"/>
                  </a:lnTo>
                  <a:close/>
                </a:path>
              </a:pathLst>
            </a:custGeom>
            <a:solidFill>
              <a:srgbClr val="E5F3FD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626" y="8967"/>
              <a:ext cx="1568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主要发现</a:t>
              </a:r>
              <a:endPara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2555" y="8941"/>
              <a:ext cx="9808" cy="55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7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轻微权重变化影响较小；配对证据门槛会改变候选资格与分数。</a:t>
              </a:r>
              <a:endParaRPr lang="zh-CN" altLang="en-US" sz="17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615" y="9573"/>
              <a:ext cx="11758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44F64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使用建议：固定参考和比对规则，预先声明门槛，同时报告名单稳定性与证据覆盖。</a:t>
              </a:r>
              <a:endParaRPr lang="zh-CN" altLang="en-US" sz="155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isteX0" fmla="*/ 0 w 12192000"/>
              <a:gd name="connsiteY0" fmla="*/ 0 h 6858000"/>
              <a:gd name="connisteX1" fmla="*/ 12192000 w 12192000"/>
              <a:gd name="connsiteY1" fmla="*/ 0 h 6858000"/>
              <a:gd name="connisteX2" fmla="*/ 12192000 w 12192000"/>
              <a:gd name="connsiteY2" fmla="*/ 6858000 h 6858000"/>
              <a:gd name="connisteX3" fmla="*/ 0 w 12192000"/>
              <a:gd name="connsiteY3" fmla="*/ 6858000 h 6858000"/>
              <a:gd name="connisteX4" fmla="*/ 0 w 12192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60350" y="76200"/>
            <a:ext cx="11506200" cy="718185"/>
            <a:chOff x="410" y="120"/>
            <a:chExt cx="18120" cy="1131"/>
          </a:xfrm>
        </p:grpSpPr>
        <p:grpSp>
          <p:nvGrpSpPr>
            <p:cNvPr id="6" name="组合 5"/>
            <p:cNvGrpSpPr/>
            <p:nvPr/>
          </p:nvGrpSpPr>
          <p:grpSpPr>
            <a:xfrm>
              <a:off x="410" y="170"/>
              <a:ext cx="990" cy="990"/>
              <a:chOff x="410" y="170"/>
              <a:chExt cx="990" cy="990"/>
            </a:xfrm>
          </p:grpSpPr>
          <p:sp>
            <p:nvSpPr>
              <p:cNvPr id="4" name="任意多边形 3"/>
              <p:cNvSpPr/>
              <p:nvPr/>
            </p:nvSpPr>
            <p:spPr>
              <a:xfrm>
                <a:off x="410" y="170"/>
                <a:ext cx="900" cy="900"/>
              </a:xfrm>
              <a:custGeom>
                <a:avLst/>
                <a:gdLst>
                  <a:gd name="connisteX0" fmla="*/ 133349 w 571500"/>
                  <a:gd name="connsiteY0" fmla="*/ 0 h 571500"/>
                  <a:gd name="connisteX1" fmla="*/ 571500 w 571500"/>
                  <a:gd name="connsiteY1" fmla="*/ 0 h 571500"/>
                  <a:gd name="connisteX2" fmla="*/ 444500 w 571500"/>
                  <a:gd name="connsiteY2" fmla="*/ 571500 h 571500"/>
                  <a:gd name="connisteX3" fmla="*/ 0 w 571500"/>
                  <a:gd name="connsiteY3" fmla="*/ 571500 h 571500"/>
                  <a:gd name="connisteX4" fmla="*/ 133349 w 571500"/>
                  <a:gd name="connsiteY4" fmla="*/ 0 h 5715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571500" h="571500">
                    <a:moveTo>
                      <a:pt x="133350" y="0"/>
                    </a:moveTo>
                    <a:lnTo>
                      <a:pt x="571500" y="0"/>
                    </a:lnTo>
                    <a:lnTo>
                      <a:pt x="444500" y="571500"/>
                    </a:lnTo>
                    <a:lnTo>
                      <a:pt x="0" y="571500"/>
                    </a:lnTo>
                    <a:lnTo>
                      <a:pt x="133350" y="0"/>
                    </a:lnTo>
                    <a:close/>
                  </a:path>
                </a:pathLst>
              </a:custGeom>
              <a:solidFill>
                <a:srgbClr val="0A5798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510" y="270"/>
                <a:ext cx="890" cy="890"/>
              </a:xfrm>
              <a:custGeom>
                <a:avLst/>
                <a:gdLst>
                  <a:gd name="connisteX0" fmla="*/ 520699 w 565150"/>
                  <a:gd name="connsiteY0" fmla="*/ 0 h 565150"/>
                  <a:gd name="connisteX1" fmla="*/ 565150 w 565150"/>
                  <a:gd name="connsiteY1" fmla="*/ 0 h 565150"/>
                  <a:gd name="connisteX2" fmla="*/ 450850 w 565150"/>
                  <a:gd name="connsiteY2" fmla="*/ 565150 h 565150"/>
                  <a:gd name="connisteX3" fmla="*/ 0 w 565150"/>
                  <a:gd name="connsiteY3" fmla="*/ 565150 h 5651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565150" h="565150">
                    <a:moveTo>
                      <a:pt x="520700" y="0"/>
                    </a:moveTo>
                    <a:lnTo>
                      <a:pt x="565150" y="0"/>
                    </a:lnTo>
                    <a:lnTo>
                      <a:pt x="450850" y="565150"/>
                    </a:lnTo>
                    <a:lnTo>
                      <a:pt x="0" y="565150"/>
                    </a:lnTo>
                  </a:path>
                </a:pathLst>
              </a:custGeom>
              <a:noFill/>
              <a:ln w="19050" cap="flat">
                <a:solidFill>
                  <a:srgbClr val="00549A"/>
                </a:solidFill>
                <a:miter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1626" y="453"/>
              <a:ext cx="7308" cy="798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7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选做实验七：与随机筛选对比</a:t>
              </a:r>
              <a:endParaRPr lang="zh-CN" altLang="en-US" sz="27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890" y="120"/>
              <a:ext cx="3640" cy="105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grpSp>
        <p:nvGrpSpPr>
          <p:cNvPr id="13" name="组合 12"/>
          <p:cNvGrpSpPr/>
          <p:nvPr/>
        </p:nvGrpSpPr>
        <p:grpSpPr>
          <a:xfrm>
            <a:off x="266700" y="1060450"/>
            <a:ext cx="11658600" cy="520700"/>
            <a:chOff x="420" y="1670"/>
            <a:chExt cx="18360" cy="820"/>
          </a:xfrm>
        </p:grpSpPr>
        <p:sp>
          <p:nvSpPr>
            <p:cNvPr id="10" name="任意多边形 9"/>
            <p:cNvSpPr/>
            <p:nvPr/>
          </p:nvSpPr>
          <p:spPr>
            <a:xfrm>
              <a:off x="420" y="1670"/>
              <a:ext cx="18360" cy="820"/>
            </a:xfrm>
            <a:custGeom>
              <a:avLst/>
              <a:gdLst>
                <a:gd name="connisteX0" fmla="*/ 0 w 11658600"/>
                <a:gd name="connsiteY0" fmla="*/ 88519 h 520700"/>
                <a:gd name="connisteX1" fmla="*/ 58292 w 11658600"/>
                <a:gd name="connsiteY1" fmla="*/ 0 h 520700"/>
                <a:gd name="connisteX2" fmla="*/ 11600307 w 11658600"/>
                <a:gd name="connsiteY2" fmla="*/ 0 h 520700"/>
                <a:gd name="connisteX3" fmla="*/ 11658600 w 11658600"/>
                <a:gd name="connsiteY3" fmla="*/ 88519 h 520700"/>
                <a:gd name="connisteX4" fmla="*/ 11658600 w 11658600"/>
                <a:gd name="connsiteY4" fmla="*/ 432180 h 520700"/>
                <a:gd name="connisteX5" fmla="*/ 11600307 w 11658600"/>
                <a:gd name="connsiteY5" fmla="*/ 520700 h 520700"/>
                <a:gd name="connisteX6" fmla="*/ 58292 w 11658600"/>
                <a:gd name="connsiteY6" fmla="*/ 520700 h 520700"/>
                <a:gd name="connisteX7" fmla="*/ 0 w 11658600"/>
                <a:gd name="connsiteY7" fmla="*/ 432180 h 520700"/>
                <a:gd name="connisteX8" fmla="*/ 0 w 11658600"/>
                <a:gd name="connsiteY8" fmla="*/ 88519 h 5207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1658600" h="520700">
                  <a:moveTo>
                    <a:pt x="0" y="88519"/>
                  </a:moveTo>
                  <a:cubicBezTo>
                    <a:pt x="0" y="39631"/>
                    <a:pt x="26099" y="0"/>
                    <a:pt x="58293" y="0"/>
                  </a:cubicBezTo>
                  <a:lnTo>
                    <a:pt x="11600307" y="0"/>
                  </a:lnTo>
                  <a:cubicBezTo>
                    <a:pt x="11632501" y="0"/>
                    <a:pt x="11658600" y="39631"/>
                    <a:pt x="11658600" y="88519"/>
                  </a:cubicBezTo>
                  <a:lnTo>
                    <a:pt x="11658600" y="432181"/>
                  </a:lnTo>
                  <a:cubicBezTo>
                    <a:pt x="11658600" y="481069"/>
                    <a:pt x="11632501" y="520700"/>
                    <a:pt x="11600307" y="520700"/>
                  </a:cubicBezTo>
                  <a:lnTo>
                    <a:pt x="58293" y="520700"/>
                  </a:lnTo>
                  <a:cubicBezTo>
                    <a:pt x="26099" y="520700"/>
                    <a:pt x="0" y="481069"/>
                    <a:pt x="0" y="432181"/>
                  </a:cubicBezTo>
                  <a:lnTo>
                    <a:pt x="0" y="88519"/>
                  </a:lnTo>
                  <a:close/>
                </a:path>
              </a:pathLst>
            </a:custGeom>
            <a:solidFill>
              <a:srgbClr val="EDF6FE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420" y="1670"/>
              <a:ext cx="160" cy="820"/>
            </a:xfrm>
            <a:custGeom>
              <a:avLst/>
              <a:gdLst>
                <a:gd name="connisteX0" fmla="*/ 0 w 101599"/>
                <a:gd name="connsiteY0" fmla="*/ 44259 h 520700"/>
                <a:gd name="connisteX1" fmla="*/ 44196 w 101599"/>
                <a:gd name="connsiteY1" fmla="*/ 0 h 520700"/>
                <a:gd name="connisteX2" fmla="*/ 57403 w 101599"/>
                <a:gd name="connsiteY2" fmla="*/ 0 h 520700"/>
                <a:gd name="connisteX3" fmla="*/ 101599 w 101599"/>
                <a:gd name="connsiteY3" fmla="*/ 44259 h 520700"/>
                <a:gd name="connisteX4" fmla="*/ 101599 w 101599"/>
                <a:gd name="connsiteY4" fmla="*/ 476440 h 520700"/>
                <a:gd name="connisteX5" fmla="*/ 57403 w 101599"/>
                <a:gd name="connsiteY5" fmla="*/ 520700 h 520700"/>
                <a:gd name="connisteX6" fmla="*/ 44196 w 101599"/>
                <a:gd name="connsiteY6" fmla="*/ 520700 h 520700"/>
                <a:gd name="connisteX7" fmla="*/ 0 w 101599"/>
                <a:gd name="connsiteY7" fmla="*/ 476440 h 520700"/>
                <a:gd name="connisteX8" fmla="*/ 0 w 101599"/>
                <a:gd name="connsiteY8" fmla="*/ 44259 h 5207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01600" h="520700">
                  <a:moveTo>
                    <a:pt x="0" y="44259"/>
                  </a:moveTo>
                  <a:cubicBezTo>
                    <a:pt x="0" y="19816"/>
                    <a:pt x="19787" y="0"/>
                    <a:pt x="44196" y="0"/>
                  </a:cubicBezTo>
                  <a:lnTo>
                    <a:pt x="57404" y="0"/>
                  </a:lnTo>
                  <a:cubicBezTo>
                    <a:pt x="81813" y="0"/>
                    <a:pt x="101600" y="19816"/>
                    <a:pt x="101600" y="44259"/>
                  </a:cubicBezTo>
                  <a:lnTo>
                    <a:pt x="101600" y="476441"/>
                  </a:lnTo>
                  <a:cubicBezTo>
                    <a:pt x="101600" y="500884"/>
                    <a:pt x="81813" y="520700"/>
                    <a:pt x="57404" y="520700"/>
                  </a:cubicBezTo>
                  <a:lnTo>
                    <a:pt x="44196" y="520700"/>
                  </a:lnTo>
                  <a:cubicBezTo>
                    <a:pt x="19787" y="520700"/>
                    <a:pt x="0" y="500884"/>
                    <a:pt x="0" y="476441"/>
                  </a:cubicBezTo>
                  <a:lnTo>
                    <a:pt x="0" y="44259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85" y="1742"/>
              <a:ext cx="7888" cy="628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0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同一候选池、相同预算，比较实际筛选收益</a:t>
              </a:r>
              <a:endParaRPr lang="zh-CN" altLang="en-US" sz="20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10210" y="1630045"/>
            <a:ext cx="7226935" cy="3448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65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114 条候选中，每次无放回抽取 20 条；随机重复 1,000 次，比较指标均值。</a:t>
            </a:r>
            <a:endParaRPr lang="zh-CN" altLang="en-US" sz="1650">
              <a:solidFill>
                <a:srgbClr val="344F64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266700" y="2139950"/>
            <a:ext cx="3784600" cy="2825750"/>
          </a:xfrm>
          <a:custGeom>
            <a:avLst/>
            <a:gdLst>
              <a:gd name="connisteX0" fmla="*/ 0 w 3784600"/>
              <a:gd name="connsiteY0" fmla="*/ 98901 h 2825750"/>
              <a:gd name="connisteX1" fmla="*/ 94614 w 3784600"/>
              <a:gd name="connsiteY1" fmla="*/ 0 h 2825750"/>
              <a:gd name="connisteX2" fmla="*/ 3689984 w 3784600"/>
              <a:gd name="connsiteY2" fmla="*/ 0 h 2825750"/>
              <a:gd name="connisteX3" fmla="*/ 3784600 w 3784600"/>
              <a:gd name="connsiteY3" fmla="*/ 98901 h 2825750"/>
              <a:gd name="connisteX4" fmla="*/ 3784600 w 3784600"/>
              <a:gd name="connsiteY4" fmla="*/ 2726848 h 2825750"/>
              <a:gd name="connisteX5" fmla="*/ 3689984 w 3784600"/>
              <a:gd name="connsiteY5" fmla="*/ 2825750 h 2825750"/>
              <a:gd name="connisteX6" fmla="*/ 94614 w 3784600"/>
              <a:gd name="connsiteY6" fmla="*/ 2825750 h 2825750"/>
              <a:gd name="connisteX7" fmla="*/ 0 w 3784600"/>
              <a:gd name="connsiteY7" fmla="*/ 2726848 h 2825750"/>
              <a:gd name="connisteX8" fmla="*/ 0 w 3784600"/>
              <a:gd name="connsiteY8" fmla="*/ 98901 h 28257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3784600" h="2825750">
                <a:moveTo>
                  <a:pt x="0" y="98901"/>
                </a:moveTo>
                <a:cubicBezTo>
                  <a:pt x="0" y="44280"/>
                  <a:pt x="42361" y="0"/>
                  <a:pt x="94615" y="0"/>
                </a:cubicBezTo>
                <a:lnTo>
                  <a:pt x="3689985" y="0"/>
                </a:lnTo>
                <a:cubicBezTo>
                  <a:pt x="3742239" y="0"/>
                  <a:pt x="3784600" y="44280"/>
                  <a:pt x="3784600" y="98901"/>
                </a:cubicBezTo>
                <a:lnTo>
                  <a:pt x="3784600" y="2726849"/>
                </a:lnTo>
                <a:cubicBezTo>
                  <a:pt x="3784600" y="2781470"/>
                  <a:pt x="3742239" y="2825750"/>
                  <a:pt x="3689985" y="2825750"/>
                </a:cubicBezTo>
                <a:lnTo>
                  <a:pt x="94615" y="2825750"/>
                </a:lnTo>
                <a:cubicBezTo>
                  <a:pt x="42361" y="2825750"/>
                  <a:pt x="0" y="2781470"/>
                  <a:pt x="0" y="2726849"/>
                </a:cubicBezTo>
                <a:lnTo>
                  <a:pt x="0" y="98901"/>
                </a:lnTo>
                <a:close/>
              </a:path>
            </a:pathLst>
          </a:custGeom>
          <a:solidFill>
            <a:srgbClr val="F7FBFE"/>
          </a:solidFill>
          <a:ln w="9525" cap="flat">
            <a:solidFill>
              <a:srgbClr val="93BDE3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448435" y="2179320"/>
            <a:ext cx="1421130" cy="39116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9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约束满足度</a:t>
            </a:r>
            <a:endParaRPr lang="zh-CN" altLang="en-US" sz="19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7" name="任意多边形 16"/>
          <p:cNvSpPr/>
          <p:nvPr/>
        </p:nvSpPr>
        <p:spPr>
          <a:xfrm>
            <a:off x="1435100" y="2698750"/>
            <a:ext cx="0" cy="1924050"/>
          </a:xfrm>
          <a:custGeom>
            <a:avLst/>
            <a:gdLst>
              <a:gd name="connisteX0" fmla="*/ 0 w 0"/>
              <a:gd name="connsiteY0" fmla="*/ 0 h 1924050"/>
              <a:gd name="connisteX1" fmla="*/ 0 w 0"/>
              <a:gd name="connsiteY1" fmla="*/ 1924050 h 19240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924050">
                <a:moveTo>
                  <a:pt x="0" y="0"/>
                </a:moveTo>
                <a:lnTo>
                  <a:pt x="0" y="1924050"/>
                </a:lnTo>
              </a:path>
            </a:pathLst>
          </a:custGeom>
          <a:solidFill>
            <a:srgbClr val="000000"/>
          </a:solidFill>
          <a:ln w="9525" cap="flat">
            <a:solidFill>
              <a:srgbClr val="D9E8F3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301750" y="4643755"/>
            <a:ext cx="274955" cy="2914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3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</a:t>
            </a:r>
            <a:endParaRPr lang="zh-CN" altLang="en-US" sz="13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2343150" y="2698750"/>
            <a:ext cx="0" cy="1924050"/>
          </a:xfrm>
          <a:custGeom>
            <a:avLst/>
            <a:gdLst>
              <a:gd name="connisteX0" fmla="*/ 0 w 0"/>
              <a:gd name="connsiteY0" fmla="*/ 0 h 1924050"/>
              <a:gd name="connisteX1" fmla="*/ 0 w 0"/>
              <a:gd name="connsiteY1" fmla="*/ 1924050 h 19240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924050">
                <a:moveTo>
                  <a:pt x="0" y="0"/>
                </a:moveTo>
                <a:lnTo>
                  <a:pt x="0" y="1924050"/>
                </a:lnTo>
              </a:path>
            </a:pathLst>
          </a:custGeom>
          <a:solidFill>
            <a:srgbClr val="000000"/>
          </a:solidFill>
          <a:ln w="9525" cap="flat">
            <a:solidFill>
              <a:srgbClr val="D9E8F3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143760" y="4643755"/>
            <a:ext cx="412750" cy="2914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3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0.5</a:t>
            </a:r>
            <a:endParaRPr lang="zh-CN" altLang="en-US" sz="13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3251200" y="2698750"/>
            <a:ext cx="0" cy="1924050"/>
          </a:xfrm>
          <a:custGeom>
            <a:avLst/>
            <a:gdLst>
              <a:gd name="connisteX0" fmla="*/ 0 w 0"/>
              <a:gd name="connsiteY0" fmla="*/ 0 h 1924050"/>
              <a:gd name="connisteX1" fmla="*/ 0 w 0"/>
              <a:gd name="connsiteY1" fmla="*/ 1924050 h 19240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1924050">
                <a:moveTo>
                  <a:pt x="0" y="0"/>
                </a:moveTo>
                <a:lnTo>
                  <a:pt x="0" y="1924050"/>
                </a:lnTo>
              </a:path>
            </a:pathLst>
          </a:custGeom>
          <a:solidFill>
            <a:srgbClr val="000000"/>
          </a:solidFill>
          <a:ln w="9525" cap="flat">
            <a:solidFill>
              <a:srgbClr val="D9E8F3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130550" y="4643755"/>
            <a:ext cx="274955" cy="29146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3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1</a:t>
            </a:r>
            <a:endParaRPr lang="zh-CN" altLang="en-US" sz="13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18160" y="2792730"/>
            <a:ext cx="894080" cy="3067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等权加权</a:t>
            </a:r>
            <a:endParaRPr lang="zh-CN" altLang="en-US" sz="1400">
              <a:solidFill>
                <a:srgbClr val="344F64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1435100" y="2825115"/>
            <a:ext cx="1628140" cy="273685"/>
          </a:xfrm>
          <a:custGeom>
            <a:avLst/>
            <a:gdLst>
              <a:gd name="connisteX0" fmla="*/ 0 w 1628535"/>
              <a:gd name="connsiteY0" fmla="*/ 24574 h 273050"/>
              <a:gd name="connisteX1" fmla="*/ 24428 w 1628535"/>
              <a:gd name="connsiteY1" fmla="*/ 0 h 273050"/>
              <a:gd name="connisteX2" fmla="*/ 1604107 w 1628535"/>
              <a:gd name="connsiteY2" fmla="*/ 0 h 273050"/>
              <a:gd name="connisteX3" fmla="*/ 1628535 w 1628535"/>
              <a:gd name="connsiteY3" fmla="*/ 24574 h 273050"/>
              <a:gd name="connisteX4" fmla="*/ 1628535 w 1628535"/>
              <a:gd name="connsiteY4" fmla="*/ 248475 h 273050"/>
              <a:gd name="connisteX5" fmla="*/ 1604107 w 1628535"/>
              <a:gd name="connsiteY5" fmla="*/ 273050 h 273050"/>
              <a:gd name="connisteX6" fmla="*/ 24428 w 1628535"/>
              <a:gd name="connsiteY6" fmla="*/ 273050 h 273050"/>
              <a:gd name="connisteX7" fmla="*/ 0 w 1628535"/>
              <a:gd name="connsiteY7" fmla="*/ 248475 h 273050"/>
              <a:gd name="connisteX8" fmla="*/ 0 w 1628535"/>
              <a:gd name="connsiteY8" fmla="*/ 24574 h 2730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628536" h="273050">
                <a:moveTo>
                  <a:pt x="0" y="24575"/>
                </a:moveTo>
                <a:cubicBezTo>
                  <a:pt x="0" y="11002"/>
                  <a:pt x="10937" y="0"/>
                  <a:pt x="24428" y="0"/>
                </a:cubicBezTo>
                <a:lnTo>
                  <a:pt x="1604108" y="0"/>
                </a:lnTo>
                <a:cubicBezTo>
                  <a:pt x="1617599" y="0"/>
                  <a:pt x="1628536" y="11002"/>
                  <a:pt x="1628536" y="24575"/>
                </a:cubicBezTo>
                <a:lnTo>
                  <a:pt x="1628536" y="248476"/>
                </a:lnTo>
                <a:cubicBezTo>
                  <a:pt x="1628536" y="262048"/>
                  <a:pt x="1617599" y="273050"/>
                  <a:pt x="1604108" y="273050"/>
                </a:cubicBezTo>
                <a:lnTo>
                  <a:pt x="24428" y="273050"/>
                </a:lnTo>
                <a:cubicBezTo>
                  <a:pt x="10937" y="273050"/>
                  <a:pt x="0" y="262048"/>
                  <a:pt x="0" y="248476"/>
                </a:cubicBezTo>
                <a:lnTo>
                  <a:pt x="0" y="24575"/>
                </a:lnTo>
                <a:close/>
              </a:path>
            </a:pathLst>
          </a:custGeom>
          <a:solidFill>
            <a:srgbClr val="00549A"/>
          </a:solidFill>
        </p:spPr>
        <p:txBody>
          <a:bodyPr/>
          <a:p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292475" y="2789555"/>
            <a:ext cx="727710" cy="3067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0.8967</a:t>
            </a:r>
            <a:endParaRPr lang="zh-CN" altLang="en-US" sz="14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5960" y="3272155"/>
            <a:ext cx="707390" cy="3067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Pareto</a:t>
            </a:r>
            <a:endParaRPr lang="zh-CN" altLang="en-US" sz="1400">
              <a:solidFill>
                <a:srgbClr val="344F64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1435100" y="3308350"/>
            <a:ext cx="1101725" cy="273050"/>
          </a:xfrm>
          <a:custGeom>
            <a:avLst/>
            <a:gdLst>
              <a:gd name="connisteX0" fmla="*/ 0 w 1102313"/>
              <a:gd name="connsiteY0" fmla="*/ 24574 h 273050"/>
              <a:gd name="connisteX1" fmla="*/ 22046 w 1102313"/>
              <a:gd name="connsiteY1" fmla="*/ 0 h 273050"/>
              <a:gd name="connisteX2" fmla="*/ 1080266 w 1102313"/>
              <a:gd name="connsiteY2" fmla="*/ 0 h 273050"/>
              <a:gd name="connisteX3" fmla="*/ 1102313 w 1102313"/>
              <a:gd name="connsiteY3" fmla="*/ 24574 h 273050"/>
              <a:gd name="connisteX4" fmla="*/ 1102313 w 1102313"/>
              <a:gd name="connsiteY4" fmla="*/ 248475 h 273050"/>
              <a:gd name="connisteX5" fmla="*/ 1080266 w 1102313"/>
              <a:gd name="connsiteY5" fmla="*/ 273050 h 273050"/>
              <a:gd name="connisteX6" fmla="*/ 22046 w 1102313"/>
              <a:gd name="connsiteY6" fmla="*/ 273050 h 273050"/>
              <a:gd name="connisteX7" fmla="*/ 0 w 1102313"/>
              <a:gd name="connsiteY7" fmla="*/ 248475 h 273050"/>
              <a:gd name="connisteX8" fmla="*/ 0 w 1102313"/>
              <a:gd name="connsiteY8" fmla="*/ 24574 h 2730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02313" h="273050">
                <a:moveTo>
                  <a:pt x="0" y="24574"/>
                </a:moveTo>
                <a:cubicBezTo>
                  <a:pt x="0" y="11002"/>
                  <a:pt x="9870" y="0"/>
                  <a:pt x="22046" y="0"/>
                </a:cubicBezTo>
                <a:lnTo>
                  <a:pt x="1080267" y="0"/>
                </a:lnTo>
                <a:cubicBezTo>
                  <a:pt x="1092443" y="0"/>
                  <a:pt x="1102313" y="11002"/>
                  <a:pt x="1102313" y="24574"/>
                </a:cubicBezTo>
                <a:lnTo>
                  <a:pt x="1102313" y="248475"/>
                </a:lnTo>
                <a:cubicBezTo>
                  <a:pt x="1102313" y="262048"/>
                  <a:pt x="1092443" y="273050"/>
                  <a:pt x="1080267" y="273050"/>
                </a:cubicBezTo>
                <a:lnTo>
                  <a:pt x="22046" y="273050"/>
                </a:lnTo>
                <a:cubicBezTo>
                  <a:pt x="9870" y="273050"/>
                  <a:pt x="0" y="262048"/>
                  <a:pt x="0" y="248475"/>
                </a:cubicBezTo>
                <a:lnTo>
                  <a:pt x="0" y="24574"/>
                </a:lnTo>
                <a:close/>
              </a:path>
            </a:pathLst>
          </a:custGeom>
          <a:solidFill>
            <a:srgbClr val="438ED0"/>
          </a:solidFill>
        </p:spPr>
        <p:txBody>
          <a:bodyPr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292475" y="3272155"/>
            <a:ext cx="727710" cy="3067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0.6070</a:t>
            </a:r>
            <a:endParaRPr lang="zh-CN" altLang="en-US" sz="14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40360" y="3761105"/>
            <a:ext cx="1071880" cy="3067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分维度轮转</a:t>
            </a:r>
            <a:endParaRPr lang="zh-CN" altLang="en-US" sz="1400">
              <a:solidFill>
                <a:srgbClr val="344F64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1435100" y="3790950"/>
            <a:ext cx="1135380" cy="273050"/>
          </a:xfrm>
          <a:custGeom>
            <a:avLst/>
            <a:gdLst>
              <a:gd name="connisteX0" fmla="*/ 0 w 1135806"/>
              <a:gd name="connsiteY0" fmla="*/ 24574 h 273049"/>
              <a:gd name="connisteX1" fmla="*/ 22716 w 1135806"/>
              <a:gd name="connsiteY1" fmla="*/ 0 h 273049"/>
              <a:gd name="connisteX2" fmla="*/ 1113090 w 1135806"/>
              <a:gd name="connsiteY2" fmla="*/ 0 h 273049"/>
              <a:gd name="connisteX3" fmla="*/ 1135806 w 1135806"/>
              <a:gd name="connsiteY3" fmla="*/ 24574 h 273049"/>
              <a:gd name="connisteX4" fmla="*/ 1135806 w 1135806"/>
              <a:gd name="connsiteY4" fmla="*/ 248475 h 273049"/>
              <a:gd name="connisteX5" fmla="*/ 1113090 w 1135806"/>
              <a:gd name="connsiteY5" fmla="*/ 273049 h 273049"/>
              <a:gd name="connisteX6" fmla="*/ 22716 w 1135806"/>
              <a:gd name="connsiteY6" fmla="*/ 273049 h 273049"/>
              <a:gd name="connisteX7" fmla="*/ 0 w 1135806"/>
              <a:gd name="connsiteY7" fmla="*/ 248475 h 273049"/>
              <a:gd name="connisteX8" fmla="*/ 0 w 1135806"/>
              <a:gd name="connsiteY8" fmla="*/ 24574 h 27304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35807" h="273050">
                <a:moveTo>
                  <a:pt x="0" y="24574"/>
                </a:moveTo>
                <a:cubicBezTo>
                  <a:pt x="0" y="11002"/>
                  <a:pt x="10170" y="0"/>
                  <a:pt x="22716" y="0"/>
                </a:cubicBezTo>
                <a:lnTo>
                  <a:pt x="1113091" y="0"/>
                </a:lnTo>
                <a:cubicBezTo>
                  <a:pt x="1125636" y="0"/>
                  <a:pt x="1135807" y="11002"/>
                  <a:pt x="1135807" y="24574"/>
                </a:cubicBezTo>
                <a:lnTo>
                  <a:pt x="1135807" y="248475"/>
                </a:lnTo>
                <a:cubicBezTo>
                  <a:pt x="1135807" y="262048"/>
                  <a:pt x="1125636" y="273050"/>
                  <a:pt x="1113091" y="273050"/>
                </a:cubicBezTo>
                <a:lnTo>
                  <a:pt x="22716" y="273050"/>
                </a:lnTo>
                <a:cubicBezTo>
                  <a:pt x="10170" y="273050"/>
                  <a:pt x="0" y="262048"/>
                  <a:pt x="0" y="248475"/>
                </a:cubicBezTo>
                <a:lnTo>
                  <a:pt x="0" y="24574"/>
                </a:lnTo>
                <a:close/>
              </a:path>
            </a:pathLst>
          </a:custGeom>
          <a:solidFill>
            <a:srgbClr val="7BB5E1"/>
          </a:solidFill>
        </p:spPr>
        <p:txBody>
          <a:bodyPr/>
          <a:p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3293110" y="3754755"/>
            <a:ext cx="727710" cy="3067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0.6254</a:t>
            </a:r>
            <a:endParaRPr lang="zh-CN" altLang="en-US" sz="14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30860" y="4243705"/>
            <a:ext cx="894080" cy="3067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随机均值</a:t>
            </a:r>
            <a:endParaRPr lang="zh-CN" altLang="en-US" sz="1400">
              <a:solidFill>
                <a:srgbClr val="344F64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33" name="任意多边形 32"/>
          <p:cNvSpPr/>
          <p:nvPr/>
        </p:nvSpPr>
        <p:spPr>
          <a:xfrm>
            <a:off x="1435100" y="4273550"/>
            <a:ext cx="1236980" cy="273050"/>
          </a:xfrm>
          <a:custGeom>
            <a:avLst/>
            <a:gdLst>
              <a:gd name="connisteX0" fmla="*/ 0 w 1237004"/>
              <a:gd name="connsiteY0" fmla="*/ 24574 h 273050"/>
              <a:gd name="connisteX1" fmla="*/ 24740 w 1237004"/>
              <a:gd name="connsiteY1" fmla="*/ 0 h 273050"/>
              <a:gd name="connisteX2" fmla="*/ 1212264 w 1237004"/>
              <a:gd name="connsiteY2" fmla="*/ 0 h 273050"/>
              <a:gd name="connisteX3" fmla="*/ 1237004 w 1237004"/>
              <a:gd name="connsiteY3" fmla="*/ 24574 h 273050"/>
              <a:gd name="connisteX4" fmla="*/ 1237004 w 1237004"/>
              <a:gd name="connsiteY4" fmla="*/ 248475 h 273050"/>
              <a:gd name="connisteX5" fmla="*/ 1212264 w 1237004"/>
              <a:gd name="connsiteY5" fmla="*/ 273050 h 273050"/>
              <a:gd name="connisteX6" fmla="*/ 24740 w 1237004"/>
              <a:gd name="connsiteY6" fmla="*/ 273050 h 273050"/>
              <a:gd name="connisteX7" fmla="*/ 0 w 1237004"/>
              <a:gd name="connsiteY7" fmla="*/ 248475 h 273050"/>
              <a:gd name="connisteX8" fmla="*/ 0 w 1237004"/>
              <a:gd name="connsiteY8" fmla="*/ 24574 h 2730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237005" h="273050">
                <a:moveTo>
                  <a:pt x="0" y="24575"/>
                </a:moveTo>
                <a:cubicBezTo>
                  <a:pt x="0" y="11002"/>
                  <a:pt x="11077" y="0"/>
                  <a:pt x="24740" y="0"/>
                </a:cubicBezTo>
                <a:lnTo>
                  <a:pt x="1212264" y="0"/>
                </a:lnTo>
                <a:cubicBezTo>
                  <a:pt x="1225928" y="0"/>
                  <a:pt x="1237005" y="11002"/>
                  <a:pt x="1237005" y="24575"/>
                </a:cubicBezTo>
                <a:lnTo>
                  <a:pt x="1237005" y="248476"/>
                </a:lnTo>
                <a:cubicBezTo>
                  <a:pt x="1237005" y="262048"/>
                  <a:pt x="1225928" y="273050"/>
                  <a:pt x="1212264" y="273050"/>
                </a:cubicBezTo>
                <a:lnTo>
                  <a:pt x="24740" y="273050"/>
                </a:lnTo>
                <a:cubicBezTo>
                  <a:pt x="11077" y="273050"/>
                  <a:pt x="0" y="262048"/>
                  <a:pt x="0" y="248476"/>
                </a:cubicBezTo>
                <a:lnTo>
                  <a:pt x="0" y="24575"/>
                </a:lnTo>
                <a:close/>
              </a:path>
            </a:pathLst>
          </a:custGeom>
          <a:solidFill>
            <a:srgbClr val="AEBEC9"/>
          </a:solidFill>
        </p:spPr>
        <p:txBody>
          <a:bodyPr/>
          <a:p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292475" y="4237355"/>
            <a:ext cx="714375" cy="3067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00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0.6811</a:t>
            </a:r>
            <a:endParaRPr lang="zh-CN" altLang="en-US" sz="1400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4203700" y="2139950"/>
            <a:ext cx="3784600" cy="2825750"/>
            <a:chOff x="6620" y="3370"/>
            <a:chExt cx="5960" cy="4450"/>
          </a:xfrm>
        </p:grpSpPr>
        <p:sp>
          <p:nvSpPr>
            <p:cNvPr id="36" name="任意多边形 35"/>
            <p:cNvSpPr/>
            <p:nvPr/>
          </p:nvSpPr>
          <p:spPr>
            <a:xfrm>
              <a:off x="6620" y="3370"/>
              <a:ext cx="5960" cy="4450"/>
            </a:xfrm>
            <a:custGeom>
              <a:avLst/>
              <a:gdLst>
                <a:gd name="connisteX0" fmla="*/ 0 w 3784600"/>
                <a:gd name="connsiteY0" fmla="*/ 98901 h 2825750"/>
                <a:gd name="connisteX1" fmla="*/ 94615 w 3784600"/>
                <a:gd name="connsiteY1" fmla="*/ 0 h 2825750"/>
                <a:gd name="connisteX2" fmla="*/ 3689985 w 3784600"/>
                <a:gd name="connsiteY2" fmla="*/ 0 h 2825750"/>
                <a:gd name="connisteX3" fmla="*/ 3784600 w 3784600"/>
                <a:gd name="connsiteY3" fmla="*/ 98901 h 2825750"/>
                <a:gd name="connisteX4" fmla="*/ 3784600 w 3784600"/>
                <a:gd name="connsiteY4" fmla="*/ 2726848 h 2825750"/>
                <a:gd name="connisteX5" fmla="*/ 3689985 w 3784600"/>
                <a:gd name="connsiteY5" fmla="*/ 2825750 h 2825750"/>
                <a:gd name="connisteX6" fmla="*/ 94615 w 3784600"/>
                <a:gd name="connsiteY6" fmla="*/ 2825750 h 2825750"/>
                <a:gd name="connisteX7" fmla="*/ 0 w 3784600"/>
                <a:gd name="connsiteY7" fmla="*/ 2726848 h 2825750"/>
                <a:gd name="connisteX8" fmla="*/ 0 w 3784600"/>
                <a:gd name="connsiteY8" fmla="*/ 98901 h 28257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3784600" h="2825750">
                  <a:moveTo>
                    <a:pt x="0" y="98901"/>
                  </a:moveTo>
                  <a:cubicBezTo>
                    <a:pt x="0" y="44280"/>
                    <a:pt x="42361" y="0"/>
                    <a:pt x="94615" y="0"/>
                  </a:cubicBezTo>
                  <a:lnTo>
                    <a:pt x="3689985" y="0"/>
                  </a:lnTo>
                  <a:cubicBezTo>
                    <a:pt x="3742239" y="0"/>
                    <a:pt x="3784600" y="44280"/>
                    <a:pt x="3784600" y="98901"/>
                  </a:cubicBezTo>
                  <a:lnTo>
                    <a:pt x="3784600" y="2726849"/>
                  </a:lnTo>
                  <a:cubicBezTo>
                    <a:pt x="3784600" y="2781470"/>
                    <a:pt x="3742239" y="2825750"/>
                    <a:pt x="3689985" y="2825750"/>
                  </a:cubicBezTo>
                  <a:lnTo>
                    <a:pt x="94615" y="2825750"/>
                  </a:lnTo>
                  <a:cubicBezTo>
                    <a:pt x="42361" y="2825750"/>
                    <a:pt x="0" y="2781470"/>
                    <a:pt x="0" y="2726849"/>
                  </a:cubicBezTo>
                  <a:lnTo>
                    <a:pt x="0" y="98901"/>
                  </a:lnTo>
                  <a:close/>
                </a:path>
              </a:pathLst>
            </a:custGeom>
            <a:solidFill>
              <a:srgbClr val="F7FBFE"/>
            </a:solidFill>
            <a:ln w="9525" cap="flat">
              <a:solidFill>
                <a:srgbClr val="93BDE3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881" y="3432"/>
              <a:ext cx="1458" cy="616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9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新颖性</a:t>
              </a:r>
              <a:endParaRPr lang="zh-CN" altLang="en-US" sz="19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8" name="任意多边形 37"/>
            <p:cNvSpPr/>
            <p:nvPr/>
          </p:nvSpPr>
          <p:spPr>
            <a:xfrm>
              <a:off x="8460" y="4250"/>
              <a:ext cx="0" cy="3030"/>
            </a:xfrm>
            <a:custGeom>
              <a:avLst/>
              <a:gdLst>
                <a:gd name="connisteX0" fmla="*/ 0 w 0"/>
                <a:gd name="connsiteY0" fmla="*/ 0 h 1924050"/>
                <a:gd name="connisteX1" fmla="*/ 0 w 0"/>
                <a:gd name="connsiteY1" fmla="*/ 1924050 h 19240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1924050">
                  <a:moveTo>
                    <a:pt x="0" y="0"/>
                  </a:moveTo>
                  <a:lnTo>
                    <a:pt x="0" y="1924050"/>
                  </a:lnTo>
                </a:path>
              </a:pathLst>
            </a:custGeom>
            <a:solidFill>
              <a:srgbClr val="000000"/>
            </a:solidFill>
            <a:ln w="9525" cap="flat">
              <a:solidFill>
                <a:srgbClr val="D9E8F3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8251" y="7313"/>
              <a:ext cx="433" cy="45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30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</a:t>
              </a:r>
              <a:endParaRPr lang="zh-CN" altLang="en-US" sz="13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0" name="任意多边形 39"/>
            <p:cNvSpPr/>
            <p:nvPr/>
          </p:nvSpPr>
          <p:spPr>
            <a:xfrm>
              <a:off x="9889" y="4250"/>
              <a:ext cx="0" cy="3030"/>
            </a:xfrm>
            <a:custGeom>
              <a:avLst/>
              <a:gdLst>
                <a:gd name="connisteX0" fmla="*/ 0 w 0"/>
                <a:gd name="connsiteY0" fmla="*/ 0 h 1924050"/>
                <a:gd name="connisteX1" fmla="*/ 0 w 0"/>
                <a:gd name="connsiteY1" fmla="*/ 1924050 h 19240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1924050">
                  <a:moveTo>
                    <a:pt x="0" y="0"/>
                  </a:moveTo>
                  <a:lnTo>
                    <a:pt x="0" y="1924050"/>
                  </a:lnTo>
                </a:path>
              </a:pathLst>
            </a:custGeom>
            <a:solidFill>
              <a:srgbClr val="000000"/>
            </a:solidFill>
            <a:ln w="9525" cap="flat">
              <a:solidFill>
                <a:srgbClr val="D9E8F3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9501" y="7313"/>
              <a:ext cx="795" cy="45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30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0.25</a:t>
              </a:r>
              <a:endParaRPr lang="zh-CN" altLang="en-US" sz="13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11320" y="4250"/>
              <a:ext cx="0" cy="3030"/>
            </a:xfrm>
            <a:custGeom>
              <a:avLst/>
              <a:gdLst>
                <a:gd name="connisteX0" fmla="*/ 0 w 0"/>
                <a:gd name="connsiteY0" fmla="*/ 0 h 1924050"/>
                <a:gd name="connisteX1" fmla="*/ 0 w 0"/>
                <a:gd name="connsiteY1" fmla="*/ 1924050 h 19240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1924050">
                  <a:moveTo>
                    <a:pt x="0" y="0"/>
                  </a:moveTo>
                  <a:lnTo>
                    <a:pt x="0" y="1924050"/>
                  </a:lnTo>
                </a:path>
              </a:pathLst>
            </a:custGeom>
            <a:solidFill>
              <a:srgbClr val="000000"/>
            </a:solidFill>
            <a:ln w="9525" cap="flat">
              <a:solidFill>
                <a:srgbClr val="D9E8F3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1006" y="7313"/>
              <a:ext cx="650" cy="45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30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0.5</a:t>
              </a:r>
              <a:endParaRPr lang="zh-CN" altLang="en-US" sz="13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015" y="4398"/>
              <a:ext cx="140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44F64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等权加权</a:t>
              </a:r>
              <a:endParaRPr lang="zh-CN" altLang="en-US" sz="14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5" name="任意多边形 44"/>
            <p:cNvSpPr/>
            <p:nvPr/>
          </p:nvSpPr>
          <p:spPr>
            <a:xfrm>
              <a:off x="8460" y="4449"/>
              <a:ext cx="1757" cy="431"/>
            </a:xfrm>
            <a:custGeom>
              <a:avLst/>
              <a:gdLst>
                <a:gd name="connisteX0" fmla="*/ 0 w 1116251"/>
                <a:gd name="connsiteY0" fmla="*/ 24574 h 273050"/>
                <a:gd name="connisteX1" fmla="*/ 22325 w 1116251"/>
                <a:gd name="connsiteY1" fmla="*/ 0 h 273050"/>
                <a:gd name="connisteX2" fmla="*/ 1093926 w 1116251"/>
                <a:gd name="connsiteY2" fmla="*/ 0 h 273050"/>
                <a:gd name="connisteX3" fmla="*/ 1116251 w 1116251"/>
                <a:gd name="connsiteY3" fmla="*/ 24574 h 273050"/>
                <a:gd name="connisteX4" fmla="*/ 1116251 w 1116251"/>
                <a:gd name="connsiteY4" fmla="*/ 248475 h 273050"/>
                <a:gd name="connisteX5" fmla="*/ 1093926 w 1116251"/>
                <a:gd name="connsiteY5" fmla="*/ 273050 h 273050"/>
                <a:gd name="connisteX6" fmla="*/ 22325 w 1116251"/>
                <a:gd name="connsiteY6" fmla="*/ 273050 h 273050"/>
                <a:gd name="connisteX7" fmla="*/ 0 w 1116251"/>
                <a:gd name="connsiteY7" fmla="*/ 248475 h 273050"/>
                <a:gd name="connisteX8" fmla="*/ 0 w 1116251"/>
                <a:gd name="connsiteY8" fmla="*/ 24574 h 2730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116251" h="273050">
                  <a:moveTo>
                    <a:pt x="0" y="24575"/>
                  </a:moveTo>
                  <a:cubicBezTo>
                    <a:pt x="0" y="11002"/>
                    <a:pt x="9995" y="0"/>
                    <a:pt x="22325" y="0"/>
                  </a:cubicBezTo>
                  <a:lnTo>
                    <a:pt x="1093926" y="0"/>
                  </a:lnTo>
                  <a:cubicBezTo>
                    <a:pt x="1106256" y="0"/>
                    <a:pt x="1116251" y="11002"/>
                    <a:pt x="1116251" y="24575"/>
                  </a:cubicBezTo>
                  <a:lnTo>
                    <a:pt x="1116251" y="248476"/>
                  </a:lnTo>
                  <a:cubicBezTo>
                    <a:pt x="1116251" y="262048"/>
                    <a:pt x="1106256" y="273050"/>
                    <a:pt x="1093926" y="273050"/>
                  </a:cubicBezTo>
                  <a:lnTo>
                    <a:pt x="22325" y="273050"/>
                  </a:lnTo>
                  <a:cubicBezTo>
                    <a:pt x="9995" y="273050"/>
                    <a:pt x="0" y="262048"/>
                    <a:pt x="0" y="248476"/>
                  </a:cubicBezTo>
                  <a:lnTo>
                    <a:pt x="0" y="24575"/>
                  </a:lnTo>
                  <a:close/>
                </a:path>
              </a:pathLst>
            </a:custGeom>
            <a:solidFill>
              <a:srgbClr val="00549A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1386" y="4393"/>
              <a:ext cx="1146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0.3073</a:t>
              </a:r>
              <a:endPara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295" y="5153"/>
              <a:ext cx="1114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44F64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Pareto</a:t>
              </a:r>
              <a:endParaRPr lang="zh-CN" altLang="en-US" sz="14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8460" y="5210"/>
              <a:ext cx="2145" cy="430"/>
            </a:xfrm>
            <a:custGeom>
              <a:avLst/>
              <a:gdLst>
                <a:gd name="connisteX0" fmla="*/ 0 w 1362311"/>
                <a:gd name="connsiteY0" fmla="*/ 24574 h 273050"/>
                <a:gd name="connisteX1" fmla="*/ 20434 w 1362311"/>
                <a:gd name="connsiteY1" fmla="*/ 0 h 273050"/>
                <a:gd name="connisteX2" fmla="*/ 1341877 w 1362311"/>
                <a:gd name="connsiteY2" fmla="*/ 0 h 273050"/>
                <a:gd name="connisteX3" fmla="*/ 1362311 w 1362311"/>
                <a:gd name="connsiteY3" fmla="*/ 24574 h 273050"/>
                <a:gd name="connisteX4" fmla="*/ 1362311 w 1362311"/>
                <a:gd name="connsiteY4" fmla="*/ 248475 h 273050"/>
                <a:gd name="connisteX5" fmla="*/ 1341877 w 1362311"/>
                <a:gd name="connsiteY5" fmla="*/ 273050 h 273050"/>
                <a:gd name="connisteX6" fmla="*/ 20434 w 1362311"/>
                <a:gd name="connsiteY6" fmla="*/ 273050 h 273050"/>
                <a:gd name="connisteX7" fmla="*/ 0 w 1362311"/>
                <a:gd name="connsiteY7" fmla="*/ 248475 h 273050"/>
                <a:gd name="connisteX8" fmla="*/ 0 w 1362311"/>
                <a:gd name="connsiteY8" fmla="*/ 24574 h 2730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362312" h="273050">
                  <a:moveTo>
                    <a:pt x="0" y="24574"/>
                  </a:moveTo>
                  <a:cubicBezTo>
                    <a:pt x="0" y="11002"/>
                    <a:pt x="9149" y="0"/>
                    <a:pt x="20435" y="0"/>
                  </a:cubicBezTo>
                  <a:lnTo>
                    <a:pt x="1341877" y="0"/>
                  </a:lnTo>
                  <a:cubicBezTo>
                    <a:pt x="1353163" y="0"/>
                    <a:pt x="1362312" y="11002"/>
                    <a:pt x="1362312" y="24574"/>
                  </a:cubicBezTo>
                  <a:lnTo>
                    <a:pt x="1362312" y="248475"/>
                  </a:lnTo>
                  <a:cubicBezTo>
                    <a:pt x="1362312" y="262048"/>
                    <a:pt x="1353163" y="273050"/>
                    <a:pt x="1341877" y="273050"/>
                  </a:cubicBezTo>
                  <a:lnTo>
                    <a:pt x="20435" y="273050"/>
                  </a:lnTo>
                  <a:cubicBezTo>
                    <a:pt x="9149" y="273050"/>
                    <a:pt x="0" y="262048"/>
                    <a:pt x="0" y="248475"/>
                  </a:cubicBezTo>
                  <a:lnTo>
                    <a:pt x="0" y="24574"/>
                  </a:lnTo>
                  <a:close/>
                </a:path>
              </a:pathLst>
            </a:custGeom>
            <a:solidFill>
              <a:srgbClr val="438ED0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1386" y="5153"/>
              <a:ext cx="1146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0.3751</a:t>
              </a:r>
              <a:endPara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6736" y="5923"/>
              <a:ext cx="168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44F64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分维度轮转</a:t>
              </a:r>
              <a:endParaRPr lang="zh-CN" altLang="en-US" sz="14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8460" y="5970"/>
              <a:ext cx="1785" cy="430"/>
            </a:xfrm>
            <a:custGeom>
              <a:avLst/>
              <a:gdLst>
                <a:gd name="connisteX0" fmla="*/ 0 w 1133753"/>
                <a:gd name="connsiteY0" fmla="*/ 24574 h 273049"/>
                <a:gd name="connisteX1" fmla="*/ 22675 w 1133753"/>
                <a:gd name="connsiteY1" fmla="*/ 0 h 273049"/>
                <a:gd name="connisteX2" fmla="*/ 1111078 w 1133753"/>
                <a:gd name="connsiteY2" fmla="*/ 0 h 273049"/>
                <a:gd name="connisteX3" fmla="*/ 1133753 w 1133753"/>
                <a:gd name="connsiteY3" fmla="*/ 24574 h 273049"/>
                <a:gd name="connisteX4" fmla="*/ 1133753 w 1133753"/>
                <a:gd name="connsiteY4" fmla="*/ 248475 h 273049"/>
                <a:gd name="connisteX5" fmla="*/ 1111078 w 1133753"/>
                <a:gd name="connsiteY5" fmla="*/ 273049 h 273049"/>
                <a:gd name="connisteX6" fmla="*/ 22675 w 1133753"/>
                <a:gd name="connsiteY6" fmla="*/ 273049 h 273049"/>
                <a:gd name="connisteX7" fmla="*/ 0 w 1133753"/>
                <a:gd name="connsiteY7" fmla="*/ 248475 h 273049"/>
                <a:gd name="connisteX8" fmla="*/ 0 w 1133753"/>
                <a:gd name="connsiteY8" fmla="*/ 24574 h 2730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133754" h="273050">
                  <a:moveTo>
                    <a:pt x="0" y="24574"/>
                  </a:moveTo>
                  <a:cubicBezTo>
                    <a:pt x="0" y="11002"/>
                    <a:pt x="10152" y="0"/>
                    <a:pt x="22675" y="0"/>
                  </a:cubicBezTo>
                  <a:lnTo>
                    <a:pt x="1111079" y="0"/>
                  </a:lnTo>
                  <a:cubicBezTo>
                    <a:pt x="1123602" y="0"/>
                    <a:pt x="1133754" y="11002"/>
                    <a:pt x="1133754" y="24574"/>
                  </a:cubicBezTo>
                  <a:lnTo>
                    <a:pt x="1133754" y="248475"/>
                  </a:lnTo>
                  <a:cubicBezTo>
                    <a:pt x="1133754" y="262048"/>
                    <a:pt x="1123602" y="273050"/>
                    <a:pt x="1111079" y="273050"/>
                  </a:cubicBezTo>
                  <a:lnTo>
                    <a:pt x="22675" y="273050"/>
                  </a:lnTo>
                  <a:cubicBezTo>
                    <a:pt x="10152" y="273050"/>
                    <a:pt x="0" y="262048"/>
                    <a:pt x="0" y="248475"/>
                  </a:cubicBezTo>
                  <a:lnTo>
                    <a:pt x="0" y="24574"/>
                  </a:lnTo>
                  <a:close/>
                </a:path>
              </a:pathLst>
            </a:custGeom>
            <a:solidFill>
              <a:srgbClr val="7BB5E1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1386" y="5913"/>
              <a:ext cx="1146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0.3121</a:t>
              </a:r>
              <a:endPara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035" y="6683"/>
              <a:ext cx="140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44F64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随机均值</a:t>
              </a:r>
              <a:endParaRPr lang="zh-CN" altLang="en-US" sz="14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8460" y="6730"/>
              <a:ext cx="1216" cy="430"/>
            </a:xfrm>
            <a:custGeom>
              <a:avLst/>
              <a:gdLst>
                <a:gd name="connisteX0" fmla="*/ 0 w 772320"/>
                <a:gd name="connsiteY0" fmla="*/ 24574 h 273050"/>
                <a:gd name="connisteX1" fmla="*/ 23169 w 772320"/>
                <a:gd name="connsiteY1" fmla="*/ 0 h 273050"/>
                <a:gd name="connisteX2" fmla="*/ 749150 w 772320"/>
                <a:gd name="connsiteY2" fmla="*/ 0 h 273050"/>
                <a:gd name="connisteX3" fmla="*/ 772320 w 772320"/>
                <a:gd name="connsiteY3" fmla="*/ 24574 h 273050"/>
                <a:gd name="connisteX4" fmla="*/ 772320 w 772320"/>
                <a:gd name="connsiteY4" fmla="*/ 248475 h 273050"/>
                <a:gd name="connisteX5" fmla="*/ 749150 w 772320"/>
                <a:gd name="connsiteY5" fmla="*/ 273050 h 273050"/>
                <a:gd name="connisteX6" fmla="*/ 23169 w 772320"/>
                <a:gd name="connsiteY6" fmla="*/ 273050 h 273050"/>
                <a:gd name="connisteX7" fmla="*/ 0 w 772320"/>
                <a:gd name="connsiteY7" fmla="*/ 248475 h 273050"/>
                <a:gd name="connisteX8" fmla="*/ 0 w 772320"/>
                <a:gd name="connsiteY8" fmla="*/ 24574 h 2730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772320" h="273050">
                  <a:moveTo>
                    <a:pt x="0" y="24575"/>
                  </a:moveTo>
                  <a:cubicBezTo>
                    <a:pt x="0" y="11002"/>
                    <a:pt x="10373" y="0"/>
                    <a:pt x="23170" y="0"/>
                  </a:cubicBezTo>
                  <a:lnTo>
                    <a:pt x="749151" y="0"/>
                  </a:lnTo>
                  <a:cubicBezTo>
                    <a:pt x="761947" y="0"/>
                    <a:pt x="772320" y="11002"/>
                    <a:pt x="772320" y="24575"/>
                  </a:cubicBezTo>
                  <a:lnTo>
                    <a:pt x="772320" y="248476"/>
                  </a:lnTo>
                  <a:cubicBezTo>
                    <a:pt x="772320" y="262048"/>
                    <a:pt x="761947" y="273050"/>
                    <a:pt x="749151" y="273050"/>
                  </a:cubicBezTo>
                  <a:lnTo>
                    <a:pt x="23170" y="273050"/>
                  </a:lnTo>
                  <a:cubicBezTo>
                    <a:pt x="10373" y="273050"/>
                    <a:pt x="0" y="262048"/>
                    <a:pt x="0" y="248476"/>
                  </a:cubicBezTo>
                  <a:lnTo>
                    <a:pt x="0" y="24575"/>
                  </a:lnTo>
                  <a:close/>
                </a:path>
              </a:pathLst>
            </a:custGeom>
            <a:solidFill>
              <a:srgbClr val="AEBEC9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1386" y="6673"/>
              <a:ext cx="1146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0.2126</a:t>
              </a:r>
              <a:endParaRPr lang="zh-CN" altLang="en-US" sz="1400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8140700" y="2139950"/>
            <a:ext cx="3784600" cy="2825750"/>
            <a:chOff x="12820" y="3370"/>
            <a:chExt cx="5960" cy="4450"/>
          </a:xfrm>
        </p:grpSpPr>
        <p:sp>
          <p:nvSpPr>
            <p:cNvPr id="57" name="任意多边形 56"/>
            <p:cNvSpPr/>
            <p:nvPr/>
          </p:nvSpPr>
          <p:spPr>
            <a:xfrm>
              <a:off x="12820" y="3370"/>
              <a:ext cx="5960" cy="4450"/>
            </a:xfrm>
            <a:custGeom>
              <a:avLst/>
              <a:gdLst>
                <a:gd name="connisteX0" fmla="*/ 0 w 3784600"/>
                <a:gd name="connsiteY0" fmla="*/ 98901 h 2825750"/>
                <a:gd name="connisteX1" fmla="*/ 94615 w 3784600"/>
                <a:gd name="connsiteY1" fmla="*/ 0 h 2825750"/>
                <a:gd name="connisteX2" fmla="*/ 3689984 w 3784600"/>
                <a:gd name="connsiteY2" fmla="*/ 0 h 2825750"/>
                <a:gd name="connisteX3" fmla="*/ 3784600 w 3784600"/>
                <a:gd name="connsiteY3" fmla="*/ 98901 h 2825750"/>
                <a:gd name="connisteX4" fmla="*/ 3784600 w 3784600"/>
                <a:gd name="connsiteY4" fmla="*/ 2726848 h 2825750"/>
                <a:gd name="connisteX5" fmla="*/ 3689984 w 3784600"/>
                <a:gd name="connsiteY5" fmla="*/ 2825750 h 2825750"/>
                <a:gd name="connisteX6" fmla="*/ 94615 w 3784600"/>
                <a:gd name="connsiteY6" fmla="*/ 2825750 h 2825750"/>
                <a:gd name="connisteX7" fmla="*/ 0 w 3784600"/>
                <a:gd name="connsiteY7" fmla="*/ 2726848 h 2825750"/>
                <a:gd name="connisteX8" fmla="*/ 0 w 3784600"/>
                <a:gd name="connsiteY8" fmla="*/ 98901 h 28257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3784600" h="2825750">
                  <a:moveTo>
                    <a:pt x="0" y="98901"/>
                  </a:moveTo>
                  <a:cubicBezTo>
                    <a:pt x="0" y="44280"/>
                    <a:pt x="42361" y="0"/>
                    <a:pt x="94615" y="0"/>
                  </a:cubicBezTo>
                  <a:lnTo>
                    <a:pt x="3689985" y="0"/>
                  </a:lnTo>
                  <a:cubicBezTo>
                    <a:pt x="3742239" y="0"/>
                    <a:pt x="3784600" y="44280"/>
                    <a:pt x="3784600" y="98901"/>
                  </a:cubicBezTo>
                  <a:lnTo>
                    <a:pt x="3784600" y="2726849"/>
                  </a:lnTo>
                  <a:cubicBezTo>
                    <a:pt x="3784600" y="2781470"/>
                    <a:pt x="3742239" y="2825750"/>
                    <a:pt x="3689985" y="2825750"/>
                  </a:cubicBezTo>
                  <a:lnTo>
                    <a:pt x="94615" y="2825750"/>
                  </a:lnTo>
                  <a:cubicBezTo>
                    <a:pt x="42361" y="2825750"/>
                    <a:pt x="0" y="2781470"/>
                    <a:pt x="0" y="2726849"/>
                  </a:cubicBezTo>
                  <a:lnTo>
                    <a:pt x="0" y="98901"/>
                  </a:lnTo>
                  <a:close/>
                </a:path>
              </a:pathLst>
            </a:custGeom>
            <a:solidFill>
              <a:srgbClr val="F7FBFE"/>
            </a:solidFill>
            <a:ln w="9525" cap="flat">
              <a:solidFill>
                <a:srgbClr val="93BDE3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4691" y="3437"/>
              <a:ext cx="2238" cy="616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9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配对覆盖率</a:t>
              </a:r>
              <a:endParaRPr lang="zh-CN" altLang="en-US" sz="19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14660" y="4250"/>
              <a:ext cx="0" cy="3030"/>
            </a:xfrm>
            <a:custGeom>
              <a:avLst/>
              <a:gdLst>
                <a:gd name="connisteX0" fmla="*/ 0 w 0"/>
                <a:gd name="connsiteY0" fmla="*/ 0 h 1924050"/>
                <a:gd name="connisteX1" fmla="*/ 0 w 0"/>
                <a:gd name="connsiteY1" fmla="*/ 1924050 h 19240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1924050">
                  <a:moveTo>
                    <a:pt x="0" y="0"/>
                  </a:moveTo>
                  <a:lnTo>
                    <a:pt x="0" y="1924050"/>
                  </a:lnTo>
                </a:path>
              </a:pathLst>
            </a:custGeom>
            <a:solidFill>
              <a:srgbClr val="000000"/>
            </a:solidFill>
            <a:ln w="9525" cap="flat">
              <a:solidFill>
                <a:srgbClr val="D9E8F3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4336" y="7313"/>
              <a:ext cx="664" cy="45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30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0%</a:t>
              </a:r>
              <a:endParaRPr lang="zh-CN" altLang="en-US" sz="13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16089" y="4250"/>
              <a:ext cx="0" cy="3030"/>
            </a:xfrm>
            <a:custGeom>
              <a:avLst/>
              <a:gdLst>
                <a:gd name="connisteX0" fmla="*/ 0 w 0"/>
                <a:gd name="connsiteY0" fmla="*/ 0 h 1924050"/>
                <a:gd name="connisteX1" fmla="*/ 0 w 0"/>
                <a:gd name="connsiteY1" fmla="*/ 1924050 h 19240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1924050">
                  <a:moveTo>
                    <a:pt x="0" y="0"/>
                  </a:moveTo>
                  <a:lnTo>
                    <a:pt x="0" y="1924050"/>
                  </a:lnTo>
                </a:path>
              </a:pathLst>
            </a:custGeom>
            <a:solidFill>
              <a:srgbClr val="000000"/>
            </a:solidFill>
            <a:ln w="9525" cap="flat">
              <a:solidFill>
                <a:srgbClr val="D9E8F3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5701" y="7313"/>
              <a:ext cx="809" cy="45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30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50%</a:t>
              </a:r>
              <a:endParaRPr lang="zh-CN" altLang="en-US" sz="13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63" name="任意多边形 62"/>
            <p:cNvSpPr/>
            <p:nvPr/>
          </p:nvSpPr>
          <p:spPr>
            <a:xfrm>
              <a:off x="17520" y="4250"/>
              <a:ext cx="0" cy="3030"/>
            </a:xfrm>
            <a:custGeom>
              <a:avLst/>
              <a:gdLst>
                <a:gd name="connisteX0" fmla="*/ 0 w 0"/>
                <a:gd name="connsiteY0" fmla="*/ 0 h 1924050"/>
                <a:gd name="connisteX1" fmla="*/ 0 w 0"/>
                <a:gd name="connsiteY1" fmla="*/ 1924050 h 19240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1924050">
                  <a:moveTo>
                    <a:pt x="0" y="0"/>
                  </a:moveTo>
                  <a:lnTo>
                    <a:pt x="0" y="1924050"/>
                  </a:lnTo>
                </a:path>
              </a:pathLst>
            </a:custGeom>
            <a:solidFill>
              <a:srgbClr val="000000"/>
            </a:solidFill>
            <a:ln w="9525" cap="flat">
              <a:solidFill>
                <a:srgbClr val="D9E8F3"/>
              </a:solidFill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7065" y="7313"/>
              <a:ext cx="954" cy="45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30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100%</a:t>
              </a:r>
              <a:endParaRPr lang="zh-CN" altLang="en-US" sz="13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13216" y="4398"/>
              <a:ext cx="140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44F64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等权加权</a:t>
              </a:r>
              <a:endParaRPr lang="zh-CN" altLang="en-US" sz="14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66" name="任意多边形 65"/>
            <p:cNvSpPr/>
            <p:nvPr/>
          </p:nvSpPr>
          <p:spPr>
            <a:xfrm>
              <a:off x="14660" y="4449"/>
              <a:ext cx="2272" cy="431"/>
            </a:xfrm>
            <a:custGeom>
              <a:avLst/>
              <a:gdLst>
                <a:gd name="connisteX0" fmla="*/ 0 w 1443321"/>
                <a:gd name="connsiteY0" fmla="*/ 24574 h 273050"/>
                <a:gd name="connisteX1" fmla="*/ 21649 w 1443321"/>
                <a:gd name="connsiteY1" fmla="*/ 0 h 273050"/>
                <a:gd name="connisteX2" fmla="*/ 1421671 w 1443321"/>
                <a:gd name="connsiteY2" fmla="*/ 0 h 273050"/>
                <a:gd name="connisteX3" fmla="*/ 1443321 w 1443321"/>
                <a:gd name="connsiteY3" fmla="*/ 24574 h 273050"/>
                <a:gd name="connisteX4" fmla="*/ 1443321 w 1443321"/>
                <a:gd name="connsiteY4" fmla="*/ 248475 h 273050"/>
                <a:gd name="connisteX5" fmla="*/ 1421671 w 1443321"/>
                <a:gd name="connsiteY5" fmla="*/ 273050 h 273050"/>
                <a:gd name="connisteX6" fmla="*/ 21649 w 1443321"/>
                <a:gd name="connsiteY6" fmla="*/ 273050 h 273050"/>
                <a:gd name="connisteX7" fmla="*/ 0 w 1443321"/>
                <a:gd name="connsiteY7" fmla="*/ 248475 h 273050"/>
                <a:gd name="connisteX8" fmla="*/ 0 w 1443321"/>
                <a:gd name="connsiteY8" fmla="*/ 24574 h 2730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443322" h="273050">
                  <a:moveTo>
                    <a:pt x="0" y="24575"/>
                  </a:moveTo>
                  <a:cubicBezTo>
                    <a:pt x="0" y="11002"/>
                    <a:pt x="9693" y="0"/>
                    <a:pt x="21650" y="0"/>
                  </a:cubicBezTo>
                  <a:lnTo>
                    <a:pt x="1421672" y="0"/>
                  </a:lnTo>
                  <a:cubicBezTo>
                    <a:pt x="1433629" y="0"/>
                    <a:pt x="1443322" y="11002"/>
                    <a:pt x="1443322" y="24575"/>
                  </a:cubicBezTo>
                  <a:lnTo>
                    <a:pt x="1443322" y="248476"/>
                  </a:lnTo>
                  <a:cubicBezTo>
                    <a:pt x="1443322" y="262048"/>
                    <a:pt x="1433629" y="273050"/>
                    <a:pt x="1421672" y="273050"/>
                  </a:cubicBezTo>
                  <a:lnTo>
                    <a:pt x="21650" y="273050"/>
                  </a:lnTo>
                  <a:cubicBezTo>
                    <a:pt x="9693" y="273050"/>
                    <a:pt x="0" y="262048"/>
                    <a:pt x="0" y="248476"/>
                  </a:cubicBezTo>
                  <a:lnTo>
                    <a:pt x="0" y="24575"/>
                  </a:lnTo>
                  <a:close/>
                </a:path>
              </a:pathLst>
            </a:custGeom>
            <a:solidFill>
              <a:srgbClr val="00549A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7666" y="4393"/>
              <a:ext cx="1083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79.5%</a:t>
              </a:r>
              <a:endPara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3496" y="5153"/>
              <a:ext cx="1114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44F64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Pareto</a:t>
              </a:r>
              <a:endParaRPr lang="zh-CN" altLang="en-US" sz="14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69" name="任意多边形 68"/>
            <p:cNvSpPr/>
            <p:nvPr/>
          </p:nvSpPr>
          <p:spPr>
            <a:xfrm>
              <a:off x="14660" y="5210"/>
              <a:ext cx="2197" cy="430"/>
            </a:xfrm>
            <a:custGeom>
              <a:avLst/>
              <a:gdLst>
                <a:gd name="connisteX0" fmla="*/ 0 w 1395529"/>
                <a:gd name="connsiteY0" fmla="*/ 24574 h 273050"/>
                <a:gd name="connisteX1" fmla="*/ 20932 w 1395529"/>
                <a:gd name="connsiteY1" fmla="*/ 0 h 273050"/>
                <a:gd name="connisteX2" fmla="*/ 1374596 w 1395529"/>
                <a:gd name="connsiteY2" fmla="*/ 0 h 273050"/>
                <a:gd name="connisteX3" fmla="*/ 1395529 w 1395529"/>
                <a:gd name="connsiteY3" fmla="*/ 24574 h 273050"/>
                <a:gd name="connisteX4" fmla="*/ 1395529 w 1395529"/>
                <a:gd name="connsiteY4" fmla="*/ 248475 h 273050"/>
                <a:gd name="connisteX5" fmla="*/ 1374596 w 1395529"/>
                <a:gd name="connsiteY5" fmla="*/ 273050 h 273050"/>
                <a:gd name="connisteX6" fmla="*/ 20932 w 1395529"/>
                <a:gd name="connsiteY6" fmla="*/ 273050 h 273050"/>
                <a:gd name="connisteX7" fmla="*/ 0 w 1395529"/>
                <a:gd name="connsiteY7" fmla="*/ 248475 h 273050"/>
                <a:gd name="connisteX8" fmla="*/ 0 w 1395529"/>
                <a:gd name="connsiteY8" fmla="*/ 24574 h 2730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395529" h="273050">
                  <a:moveTo>
                    <a:pt x="0" y="24574"/>
                  </a:moveTo>
                  <a:cubicBezTo>
                    <a:pt x="0" y="11002"/>
                    <a:pt x="9372" y="0"/>
                    <a:pt x="20933" y="0"/>
                  </a:cubicBezTo>
                  <a:lnTo>
                    <a:pt x="1374597" y="0"/>
                  </a:lnTo>
                  <a:cubicBezTo>
                    <a:pt x="1386157" y="0"/>
                    <a:pt x="1395529" y="11002"/>
                    <a:pt x="1395529" y="24574"/>
                  </a:cubicBezTo>
                  <a:lnTo>
                    <a:pt x="1395529" y="248475"/>
                  </a:lnTo>
                  <a:cubicBezTo>
                    <a:pt x="1395529" y="262048"/>
                    <a:pt x="1386157" y="273050"/>
                    <a:pt x="1374597" y="273050"/>
                  </a:cubicBezTo>
                  <a:lnTo>
                    <a:pt x="20933" y="273050"/>
                  </a:lnTo>
                  <a:cubicBezTo>
                    <a:pt x="9372" y="273050"/>
                    <a:pt x="0" y="262048"/>
                    <a:pt x="0" y="248475"/>
                  </a:cubicBezTo>
                  <a:lnTo>
                    <a:pt x="0" y="24574"/>
                  </a:lnTo>
                  <a:close/>
                </a:path>
              </a:pathLst>
            </a:custGeom>
            <a:solidFill>
              <a:srgbClr val="438ED0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7666" y="5153"/>
              <a:ext cx="1083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76.8%</a:t>
              </a:r>
              <a:endPara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12936" y="5923"/>
              <a:ext cx="168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44F64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分维度轮转</a:t>
              </a:r>
              <a:endParaRPr lang="zh-CN" altLang="en-US" sz="14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72" name="任意多边形 71"/>
            <p:cNvSpPr/>
            <p:nvPr/>
          </p:nvSpPr>
          <p:spPr>
            <a:xfrm>
              <a:off x="14660" y="5970"/>
              <a:ext cx="2242" cy="430"/>
            </a:xfrm>
            <a:custGeom>
              <a:avLst/>
              <a:gdLst>
                <a:gd name="connisteX0" fmla="*/ 0 w 1424204"/>
                <a:gd name="connsiteY0" fmla="*/ 24574 h 273049"/>
                <a:gd name="connisteX1" fmla="*/ 21363 w 1424204"/>
                <a:gd name="connsiteY1" fmla="*/ 0 h 273049"/>
                <a:gd name="connisteX2" fmla="*/ 1402841 w 1424204"/>
                <a:gd name="connsiteY2" fmla="*/ 0 h 273049"/>
                <a:gd name="connisteX3" fmla="*/ 1424204 w 1424204"/>
                <a:gd name="connsiteY3" fmla="*/ 24574 h 273049"/>
                <a:gd name="connisteX4" fmla="*/ 1424204 w 1424204"/>
                <a:gd name="connsiteY4" fmla="*/ 248475 h 273049"/>
                <a:gd name="connisteX5" fmla="*/ 1402841 w 1424204"/>
                <a:gd name="connsiteY5" fmla="*/ 273049 h 273049"/>
                <a:gd name="connisteX6" fmla="*/ 21363 w 1424204"/>
                <a:gd name="connsiteY6" fmla="*/ 273049 h 273049"/>
                <a:gd name="connisteX7" fmla="*/ 0 w 1424204"/>
                <a:gd name="connsiteY7" fmla="*/ 248475 h 273049"/>
                <a:gd name="connisteX8" fmla="*/ 0 w 1424204"/>
                <a:gd name="connsiteY8" fmla="*/ 24574 h 2730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424205" h="273050">
                  <a:moveTo>
                    <a:pt x="0" y="24574"/>
                  </a:moveTo>
                  <a:cubicBezTo>
                    <a:pt x="0" y="11002"/>
                    <a:pt x="9565" y="0"/>
                    <a:pt x="21363" y="0"/>
                  </a:cubicBezTo>
                  <a:lnTo>
                    <a:pt x="1402842" y="0"/>
                  </a:lnTo>
                  <a:cubicBezTo>
                    <a:pt x="1414640" y="0"/>
                    <a:pt x="1424205" y="11002"/>
                    <a:pt x="1424205" y="24574"/>
                  </a:cubicBezTo>
                  <a:lnTo>
                    <a:pt x="1424205" y="248475"/>
                  </a:lnTo>
                  <a:cubicBezTo>
                    <a:pt x="1424205" y="262048"/>
                    <a:pt x="1414640" y="273050"/>
                    <a:pt x="1402842" y="273050"/>
                  </a:cubicBezTo>
                  <a:lnTo>
                    <a:pt x="21363" y="273050"/>
                  </a:lnTo>
                  <a:cubicBezTo>
                    <a:pt x="9565" y="273050"/>
                    <a:pt x="0" y="262048"/>
                    <a:pt x="0" y="248475"/>
                  </a:cubicBezTo>
                  <a:lnTo>
                    <a:pt x="0" y="24574"/>
                  </a:lnTo>
                  <a:close/>
                </a:path>
              </a:pathLst>
            </a:custGeom>
            <a:solidFill>
              <a:srgbClr val="7BB5E1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7666" y="5913"/>
              <a:ext cx="1083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78.4%</a:t>
              </a:r>
              <a:endParaRPr lang="zh-CN" altLang="en-US" sz="14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3236" y="6683"/>
              <a:ext cx="140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44F64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随机均值</a:t>
              </a:r>
              <a:endParaRPr lang="zh-CN" altLang="en-US" sz="140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75" name="任意多边形 74"/>
            <p:cNvSpPr/>
            <p:nvPr/>
          </p:nvSpPr>
          <p:spPr>
            <a:xfrm>
              <a:off x="14660" y="6730"/>
              <a:ext cx="2641" cy="430"/>
            </a:xfrm>
            <a:custGeom>
              <a:avLst/>
              <a:gdLst>
                <a:gd name="connisteX0" fmla="*/ 0 w 1677254"/>
                <a:gd name="connsiteY0" fmla="*/ 24574 h 273050"/>
                <a:gd name="connisteX1" fmla="*/ 25158 w 1677254"/>
                <a:gd name="connsiteY1" fmla="*/ 0 h 273050"/>
                <a:gd name="connisteX2" fmla="*/ 1652095 w 1677254"/>
                <a:gd name="connsiteY2" fmla="*/ 0 h 273050"/>
                <a:gd name="connisteX3" fmla="*/ 1677254 w 1677254"/>
                <a:gd name="connsiteY3" fmla="*/ 24574 h 273050"/>
                <a:gd name="connisteX4" fmla="*/ 1677254 w 1677254"/>
                <a:gd name="connsiteY4" fmla="*/ 248475 h 273050"/>
                <a:gd name="connisteX5" fmla="*/ 1652095 w 1677254"/>
                <a:gd name="connsiteY5" fmla="*/ 273050 h 273050"/>
                <a:gd name="connisteX6" fmla="*/ 25158 w 1677254"/>
                <a:gd name="connsiteY6" fmla="*/ 273050 h 273050"/>
                <a:gd name="connisteX7" fmla="*/ 0 w 1677254"/>
                <a:gd name="connsiteY7" fmla="*/ 248475 h 273050"/>
                <a:gd name="connisteX8" fmla="*/ 0 w 1677254"/>
                <a:gd name="connsiteY8" fmla="*/ 24574 h 2730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677254" h="273050">
                  <a:moveTo>
                    <a:pt x="0" y="24575"/>
                  </a:moveTo>
                  <a:cubicBezTo>
                    <a:pt x="0" y="11002"/>
                    <a:pt x="11264" y="0"/>
                    <a:pt x="25159" y="0"/>
                  </a:cubicBezTo>
                  <a:lnTo>
                    <a:pt x="1652096" y="0"/>
                  </a:lnTo>
                  <a:cubicBezTo>
                    <a:pt x="1665990" y="0"/>
                    <a:pt x="1677254" y="11002"/>
                    <a:pt x="1677254" y="24575"/>
                  </a:cubicBezTo>
                  <a:lnTo>
                    <a:pt x="1677254" y="248476"/>
                  </a:lnTo>
                  <a:cubicBezTo>
                    <a:pt x="1677254" y="262048"/>
                    <a:pt x="1665990" y="273050"/>
                    <a:pt x="1652096" y="273050"/>
                  </a:cubicBezTo>
                  <a:lnTo>
                    <a:pt x="25159" y="273050"/>
                  </a:lnTo>
                  <a:cubicBezTo>
                    <a:pt x="11264" y="273050"/>
                    <a:pt x="0" y="262048"/>
                    <a:pt x="0" y="248476"/>
                  </a:cubicBezTo>
                  <a:lnTo>
                    <a:pt x="0" y="24575"/>
                  </a:lnTo>
                  <a:close/>
                </a:path>
              </a:pathLst>
            </a:custGeom>
            <a:solidFill>
              <a:srgbClr val="AEBEC9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7656" y="6673"/>
              <a:ext cx="1083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92.4%</a:t>
              </a:r>
              <a:endParaRPr lang="zh-CN" altLang="en-US" sz="1400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266700" y="5162550"/>
            <a:ext cx="11658600" cy="1167765"/>
            <a:chOff x="420" y="8130"/>
            <a:chExt cx="18360" cy="1839"/>
          </a:xfrm>
        </p:grpSpPr>
        <p:sp>
          <p:nvSpPr>
            <p:cNvPr id="78" name="任意多边形 77"/>
            <p:cNvSpPr/>
            <p:nvPr/>
          </p:nvSpPr>
          <p:spPr>
            <a:xfrm>
              <a:off x="420" y="8130"/>
              <a:ext cx="18360" cy="1839"/>
            </a:xfrm>
            <a:custGeom>
              <a:avLst/>
              <a:gdLst>
                <a:gd name="connisteX0" fmla="*/ 0 w 11658600"/>
                <a:gd name="connsiteY0" fmla="*/ 87629 h 1168399"/>
                <a:gd name="connisteX1" fmla="*/ 58292 w 11658600"/>
                <a:gd name="connsiteY1" fmla="*/ 0 h 1168399"/>
                <a:gd name="connisteX2" fmla="*/ 11600307 w 11658600"/>
                <a:gd name="connsiteY2" fmla="*/ 0 h 1168399"/>
                <a:gd name="connisteX3" fmla="*/ 11658600 w 11658600"/>
                <a:gd name="connsiteY3" fmla="*/ 87629 h 1168399"/>
                <a:gd name="connisteX4" fmla="*/ 11658600 w 11658600"/>
                <a:gd name="connsiteY4" fmla="*/ 1080769 h 1168399"/>
                <a:gd name="connisteX5" fmla="*/ 11600307 w 11658600"/>
                <a:gd name="connsiteY5" fmla="*/ 1168399 h 1168399"/>
                <a:gd name="connisteX6" fmla="*/ 58292 w 11658600"/>
                <a:gd name="connsiteY6" fmla="*/ 1168399 h 1168399"/>
                <a:gd name="connisteX7" fmla="*/ 0 w 11658600"/>
                <a:gd name="connsiteY7" fmla="*/ 1080769 h 1168399"/>
                <a:gd name="connisteX8" fmla="*/ 0 w 11658600"/>
                <a:gd name="connsiteY8" fmla="*/ 87629 h 11683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1658600" h="1168400">
                  <a:moveTo>
                    <a:pt x="0" y="87630"/>
                  </a:moveTo>
                  <a:cubicBezTo>
                    <a:pt x="0" y="39233"/>
                    <a:pt x="26099" y="0"/>
                    <a:pt x="58293" y="0"/>
                  </a:cubicBezTo>
                  <a:lnTo>
                    <a:pt x="11600307" y="0"/>
                  </a:lnTo>
                  <a:cubicBezTo>
                    <a:pt x="11632501" y="0"/>
                    <a:pt x="11658600" y="39233"/>
                    <a:pt x="11658600" y="87630"/>
                  </a:cubicBezTo>
                  <a:lnTo>
                    <a:pt x="11658600" y="1080770"/>
                  </a:lnTo>
                  <a:cubicBezTo>
                    <a:pt x="11658600" y="1129167"/>
                    <a:pt x="11632501" y="1168400"/>
                    <a:pt x="11600307" y="1168400"/>
                  </a:cubicBezTo>
                  <a:lnTo>
                    <a:pt x="58293" y="1168400"/>
                  </a:lnTo>
                  <a:cubicBezTo>
                    <a:pt x="26099" y="1168400"/>
                    <a:pt x="0" y="1129167"/>
                    <a:pt x="0" y="1080770"/>
                  </a:cubicBezTo>
                  <a:lnTo>
                    <a:pt x="0" y="87630"/>
                  </a:lnTo>
                  <a:close/>
                </a:path>
              </a:pathLst>
            </a:custGeom>
            <a:solidFill>
              <a:srgbClr val="E7F3FC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625" y="8233"/>
              <a:ext cx="10368" cy="580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三种策略均提高新颖性与候选独特性；目标之间存在明确取舍。</a:t>
              </a:r>
              <a:endParaRPr lang="zh-CN" altLang="en-US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615" y="8818"/>
              <a:ext cx="12136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>
                  <a:solidFill>
                    <a:srgbClr val="344F64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等权加权的约束分更高；Pareto 与轮转的约束分较低，三种策略的配对覆盖率均较低。</a:t>
              </a:r>
              <a:endParaRPr lang="zh-CN" altLang="en-US" sz="1550">
                <a:solidFill>
                  <a:srgbClr val="344F6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615" y="9308"/>
              <a:ext cx="10474" cy="507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00">
                  <a:solidFill>
                    <a:srgbClr val="607C93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候选独特性：加权 0.4051 / Pareto 0.4601 / 轮转 0.4179；随机均值 0.3521。</a:t>
              </a:r>
              <a:endParaRPr lang="zh-CN" altLang="en-US" sz="15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sp>
        <p:nvSpPr>
          <p:cNvPr id="83" name="文本框 82"/>
          <p:cNvSpPr txBox="1"/>
          <p:nvPr/>
        </p:nvSpPr>
        <p:spPr>
          <a:xfrm>
            <a:off x="389255" y="6418580"/>
            <a:ext cx="5694680" cy="30670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0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结果反映固定候选池中的计算指标取舍，用于安排后续验证的优先级。</a:t>
            </a:r>
            <a:endParaRPr lang="zh-CN" altLang="en-US" sz="140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isteX0" fmla="*/ 0 w 12192000"/>
              <a:gd name="connsiteY0" fmla="*/ 0 h 6858000"/>
              <a:gd name="connisteX1" fmla="*/ 12192000 w 12192000"/>
              <a:gd name="connsiteY1" fmla="*/ 0 h 6858000"/>
              <a:gd name="connisteX2" fmla="*/ 12192000 w 12192000"/>
              <a:gd name="connsiteY2" fmla="*/ 6858000 h 6858000"/>
              <a:gd name="connisteX3" fmla="*/ 0 w 12192000"/>
              <a:gd name="connsiteY3" fmla="*/ 6858000 h 6858000"/>
              <a:gd name="connisteX4" fmla="*/ 0 w 12192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60350" y="76200"/>
            <a:ext cx="11506200" cy="716915"/>
            <a:chOff x="410" y="120"/>
            <a:chExt cx="18120" cy="1129"/>
          </a:xfrm>
        </p:grpSpPr>
        <p:grpSp>
          <p:nvGrpSpPr>
            <p:cNvPr id="6" name="组合 5"/>
            <p:cNvGrpSpPr/>
            <p:nvPr/>
          </p:nvGrpSpPr>
          <p:grpSpPr>
            <a:xfrm>
              <a:off x="410" y="170"/>
              <a:ext cx="990" cy="990"/>
              <a:chOff x="410" y="170"/>
              <a:chExt cx="990" cy="990"/>
            </a:xfrm>
          </p:grpSpPr>
          <p:sp>
            <p:nvSpPr>
              <p:cNvPr id="4" name="任意多边形 3"/>
              <p:cNvSpPr/>
              <p:nvPr/>
            </p:nvSpPr>
            <p:spPr>
              <a:xfrm>
                <a:off x="410" y="170"/>
                <a:ext cx="900" cy="900"/>
              </a:xfrm>
              <a:custGeom>
                <a:avLst/>
                <a:gdLst>
                  <a:gd name="connisteX0" fmla="*/ 133349 w 571500"/>
                  <a:gd name="connsiteY0" fmla="*/ 0 h 571500"/>
                  <a:gd name="connisteX1" fmla="*/ 571500 w 571500"/>
                  <a:gd name="connsiteY1" fmla="*/ 0 h 571500"/>
                  <a:gd name="connisteX2" fmla="*/ 444500 w 571500"/>
                  <a:gd name="connsiteY2" fmla="*/ 571500 h 571500"/>
                  <a:gd name="connisteX3" fmla="*/ 0 w 571500"/>
                  <a:gd name="connsiteY3" fmla="*/ 571500 h 571500"/>
                  <a:gd name="connisteX4" fmla="*/ 133349 w 571500"/>
                  <a:gd name="connsiteY4" fmla="*/ 0 h 57150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571500" h="571500">
                    <a:moveTo>
                      <a:pt x="133350" y="0"/>
                    </a:moveTo>
                    <a:lnTo>
                      <a:pt x="571500" y="0"/>
                    </a:lnTo>
                    <a:lnTo>
                      <a:pt x="444500" y="571500"/>
                    </a:lnTo>
                    <a:lnTo>
                      <a:pt x="0" y="571500"/>
                    </a:lnTo>
                    <a:lnTo>
                      <a:pt x="133350" y="0"/>
                    </a:lnTo>
                    <a:close/>
                  </a:path>
                </a:pathLst>
              </a:custGeom>
              <a:solidFill>
                <a:srgbClr val="0A5798"/>
              </a:solidFill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510" y="270"/>
                <a:ext cx="890" cy="890"/>
              </a:xfrm>
              <a:custGeom>
                <a:avLst/>
                <a:gdLst>
                  <a:gd name="connisteX0" fmla="*/ 520699 w 565150"/>
                  <a:gd name="connsiteY0" fmla="*/ 0 h 565150"/>
                  <a:gd name="connisteX1" fmla="*/ 565150 w 565150"/>
                  <a:gd name="connsiteY1" fmla="*/ 0 h 565150"/>
                  <a:gd name="connisteX2" fmla="*/ 450850 w 565150"/>
                  <a:gd name="connsiteY2" fmla="*/ 565150 h 565150"/>
                  <a:gd name="connisteX3" fmla="*/ 0 w 565150"/>
                  <a:gd name="connsiteY3" fmla="*/ 565150 h 5651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565150" h="565150">
                    <a:moveTo>
                      <a:pt x="520700" y="0"/>
                    </a:moveTo>
                    <a:lnTo>
                      <a:pt x="565150" y="0"/>
                    </a:lnTo>
                    <a:lnTo>
                      <a:pt x="450850" y="565150"/>
                    </a:lnTo>
                    <a:lnTo>
                      <a:pt x="0" y="565150"/>
                    </a:lnTo>
                  </a:path>
                </a:pathLst>
              </a:custGeom>
              <a:noFill/>
              <a:ln w="19050" cap="flat">
                <a:solidFill>
                  <a:srgbClr val="00549A"/>
                </a:solidFill>
                <a:custDash/>
                <a:miter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1626" y="403"/>
              <a:ext cx="5508" cy="846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9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主要结论与策略选择</a:t>
              </a:r>
              <a:endParaRPr lang="zh-CN" altLang="en-US" sz="2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890" y="120"/>
              <a:ext cx="3640" cy="1059"/>
            </a:xfrm>
            <a:prstGeom prst="rect">
              <a:avLst/>
            </a:prstGeom>
            <a:extLst>
              <a:ext uri="{05A4C25C-085E-4340-85A3-A553145REGHH}">
                <wpsCustomData:mediainfo xmlns:wpsCustomData="http://www.wps.cn/officeDocument/2013/wpsCustomData" r:link=""/>
              </a:ext>
            </a:extLst>
          </p:spPr>
        </p:pic>
      </p:grpSp>
      <p:sp>
        <p:nvSpPr>
          <p:cNvPr id="10" name="任意多边形 9"/>
          <p:cNvSpPr/>
          <p:nvPr/>
        </p:nvSpPr>
        <p:spPr>
          <a:xfrm>
            <a:off x="266700" y="1060450"/>
            <a:ext cx="11658600" cy="520700"/>
          </a:xfrm>
          <a:custGeom>
            <a:avLst/>
            <a:gdLst>
              <a:gd name="connisteX0" fmla="*/ 0 w 11658600"/>
              <a:gd name="connsiteY0" fmla="*/ 101536 h 520700"/>
              <a:gd name="connisteX1" fmla="*/ 58292 w 11658600"/>
              <a:gd name="connsiteY1" fmla="*/ 0 h 520700"/>
              <a:gd name="connisteX2" fmla="*/ 11600307 w 11658600"/>
              <a:gd name="connsiteY2" fmla="*/ 0 h 520700"/>
              <a:gd name="connisteX3" fmla="*/ 11658600 w 11658600"/>
              <a:gd name="connsiteY3" fmla="*/ 101536 h 520700"/>
              <a:gd name="connisteX4" fmla="*/ 11658600 w 11658600"/>
              <a:gd name="connsiteY4" fmla="*/ 419163 h 520700"/>
              <a:gd name="connisteX5" fmla="*/ 11600307 w 11658600"/>
              <a:gd name="connsiteY5" fmla="*/ 520700 h 520700"/>
              <a:gd name="connisteX6" fmla="*/ 58292 w 11658600"/>
              <a:gd name="connsiteY6" fmla="*/ 520700 h 520700"/>
              <a:gd name="connisteX7" fmla="*/ 0 w 11658600"/>
              <a:gd name="connsiteY7" fmla="*/ 419163 h 520700"/>
              <a:gd name="connisteX8" fmla="*/ 0 w 11658600"/>
              <a:gd name="connsiteY8" fmla="*/ 101536 h 520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1658600" h="520700">
                <a:moveTo>
                  <a:pt x="0" y="101537"/>
                </a:moveTo>
                <a:cubicBezTo>
                  <a:pt x="0" y="45459"/>
                  <a:pt x="26099" y="0"/>
                  <a:pt x="58293" y="0"/>
                </a:cubicBezTo>
                <a:lnTo>
                  <a:pt x="11600307" y="0"/>
                </a:lnTo>
                <a:cubicBezTo>
                  <a:pt x="11632501" y="0"/>
                  <a:pt x="11658600" y="45459"/>
                  <a:pt x="11658600" y="101537"/>
                </a:cubicBezTo>
                <a:lnTo>
                  <a:pt x="11658600" y="419164"/>
                </a:lnTo>
                <a:cubicBezTo>
                  <a:pt x="11658600" y="475241"/>
                  <a:pt x="11632501" y="520700"/>
                  <a:pt x="11600307" y="520700"/>
                </a:cubicBezTo>
                <a:lnTo>
                  <a:pt x="58293" y="520700"/>
                </a:lnTo>
                <a:cubicBezTo>
                  <a:pt x="26099" y="520700"/>
                  <a:pt x="0" y="475241"/>
                  <a:pt x="0" y="419164"/>
                </a:cubicBezTo>
                <a:lnTo>
                  <a:pt x="0" y="101537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p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266700" y="1060450"/>
            <a:ext cx="101600" cy="520065"/>
          </a:xfrm>
          <a:custGeom>
            <a:avLst/>
            <a:gdLst>
              <a:gd name="connisteX0" fmla="*/ 0 w 101599"/>
              <a:gd name="connsiteY0" fmla="*/ 49466 h 520699"/>
              <a:gd name="connisteX1" fmla="*/ 50799 w 101599"/>
              <a:gd name="connsiteY1" fmla="*/ 0 h 520699"/>
              <a:gd name="connisteX2" fmla="*/ 101599 w 101599"/>
              <a:gd name="connsiteY2" fmla="*/ 49466 h 520699"/>
              <a:gd name="connisteX3" fmla="*/ 101599 w 101599"/>
              <a:gd name="connsiteY3" fmla="*/ 471233 h 520699"/>
              <a:gd name="connisteX4" fmla="*/ 50799 w 101599"/>
              <a:gd name="connsiteY4" fmla="*/ 520699 h 520699"/>
              <a:gd name="connisteX5" fmla="*/ 0 w 101599"/>
              <a:gd name="connsiteY5" fmla="*/ 471233 h 520699"/>
              <a:gd name="connisteX6" fmla="*/ 0 w 101599"/>
              <a:gd name="connsiteY6" fmla="*/ 49466 h 52069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01600" h="520700">
                <a:moveTo>
                  <a:pt x="0" y="49466"/>
                </a:moveTo>
                <a:cubicBezTo>
                  <a:pt x="0" y="22147"/>
                  <a:pt x="22744" y="0"/>
                  <a:pt x="50800" y="0"/>
                </a:cubicBezTo>
                <a:cubicBezTo>
                  <a:pt x="78856" y="0"/>
                  <a:pt x="101600" y="22147"/>
                  <a:pt x="101600" y="49466"/>
                </a:cubicBezTo>
                <a:lnTo>
                  <a:pt x="101600" y="471233"/>
                </a:lnTo>
                <a:cubicBezTo>
                  <a:pt x="101600" y="498553"/>
                  <a:pt x="78856" y="520700"/>
                  <a:pt x="50800" y="520700"/>
                </a:cubicBezTo>
                <a:cubicBezTo>
                  <a:pt x="22744" y="520700"/>
                  <a:pt x="0" y="498553"/>
                  <a:pt x="0" y="471233"/>
                </a:cubicBezTo>
                <a:lnTo>
                  <a:pt x="0" y="49466"/>
                </a:lnTo>
                <a:close/>
              </a:path>
            </a:pathLst>
          </a:custGeom>
          <a:solidFill>
            <a:srgbClr val="5197D5"/>
          </a:solidFill>
        </p:spPr>
        <p:txBody>
          <a:bodyPr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67360" y="1106170"/>
            <a:ext cx="5516880" cy="3987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20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根据验证需求选择策略，并说明指标之间的取舍</a:t>
            </a:r>
            <a:endParaRPr lang="zh-CN" altLang="en-US" sz="200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0210" y="1621155"/>
            <a:ext cx="2627630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三种需求，对应三种选择</a:t>
            </a:r>
            <a:endParaRPr lang="zh-CN" altLang="en-US" sz="17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846060" y="1621155"/>
            <a:ext cx="2405380" cy="360680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7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当前候选池的主要发现</a:t>
            </a:r>
            <a:endParaRPr lang="zh-CN" altLang="en-US" sz="1750" b="1">
              <a:solidFill>
                <a:srgbClr val="00549A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66700" y="2051050"/>
            <a:ext cx="7212965" cy="1047750"/>
            <a:chOff x="420" y="3230"/>
            <a:chExt cx="11359" cy="1650"/>
          </a:xfrm>
        </p:grpSpPr>
        <p:sp>
          <p:nvSpPr>
            <p:cNvPr id="15" name="任意多边形 14"/>
            <p:cNvSpPr/>
            <p:nvPr/>
          </p:nvSpPr>
          <p:spPr>
            <a:xfrm>
              <a:off x="420" y="3230"/>
              <a:ext cx="11359" cy="1650"/>
            </a:xfrm>
            <a:custGeom>
              <a:avLst/>
              <a:gdLst>
                <a:gd name="connisteX0" fmla="*/ 0 w 7213599"/>
                <a:gd name="connsiteY0" fmla="*/ 99536 h 1047750"/>
                <a:gd name="connisteX1" fmla="*/ 72135 w 7213599"/>
                <a:gd name="connsiteY1" fmla="*/ 0 h 1047750"/>
                <a:gd name="connisteX2" fmla="*/ 7141463 w 7213599"/>
                <a:gd name="connsiteY2" fmla="*/ 0 h 1047750"/>
                <a:gd name="connisteX3" fmla="*/ 7213599 w 7213599"/>
                <a:gd name="connsiteY3" fmla="*/ 99536 h 1047750"/>
                <a:gd name="connisteX4" fmla="*/ 7213599 w 7213599"/>
                <a:gd name="connsiteY4" fmla="*/ 948213 h 1047750"/>
                <a:gd name="connisteX5" fmla="*/ 7141463 w 7213599"/>
                <a:gd name="connsiteY5" fmla="*/ 1047750 h 1047750"/>
                <a:gd name="connisteX6" fmla="*/ 72135 w 7213599"/>
                <a:gd name="connsiteY6" fmla="*/ 1047750 h 1047750"/>
                <a:gd name="connisteX7" fmla="*/ 0 w 7213599"/>
                <a:gd name="connsiteY7" fmla="*/ 948213 h 1047750"/>
                <a:gd name="connisteX8" fmla="*/ 0 w 7213599"/>
                <a:gd name="connsiteY8" fmla="*/ 99536 h 10477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7213600" h="1047750">
                  <a:moveTo>
                    <a:pt x="0" y="99536"/>
                  </a:moveTo>
                  <a:cubicBezTo>
                    <a:pt x="0" y="44564"/>
                    <a:pt x="32296" y="0"/>
                    <a:pt x="72136" y="0"/>
                  </a:cubicBezTo>
                  <a:lnTo>
                    <a:pt x="7141464" y="0"/>
                  </a:lnTo>
                  <a:cubicBezTo>
                    <a:pt x="7181304" y="0"/>
                    <a:pt x="7213600" y="44564"/>
                    <a:pt x="7213600" y="99536"/>
                  </a:cubicBezTo>
                  <a:lnTo>
                    <a:pt x="7213600" y="948214"/>
                  </a:lnTo>
                  <a:cubicBezTo>
                    <a:pt x="7213600" y="1003186"/>
                    <a:pt x="7181304" y="1047750"/>
                    <a:pt x="7141464" y="1047750"/>
                  </a:cubicBezTo>
                  <a:lnTo>
                    <a:pt x="72136" y="1047750"/>
                  </a:lnTo>
                  <a:cubicBezTo>
                    <a:pt x="32296" y="1047750"/>
                    <a:pt x="0" y="1003186"/>
                    <a:pt x="0" y="948214"/>
                  </a:cubicBezTo>
                  <a:lnTo>
                    <a:pt x="0" y="99536"/>
                  </a:lnTo>
                  <a:close/>
                </a:path>
              </a:pathLst>
            </a:custGeom>
            <a:solidFill>
              <a:srgbClr val="F5FAFE"/>
            </a:solidFill>
            <a:ln w="12700" cap="flat">
              <a:solidFill>
                <a:srgbClr val="91BEE8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46" y="3372"/>
              <a:ext cx="2528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优先结构域支持</a:t>
              </a:r>
              <a:endPara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6" y="3987"/>
              <a:ext cx="280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需要清晰的验证顺序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4920" y="4050"/>
              <a:ext cx="410" cy="0"/>
            </a:xfrm>
            <a:custGeom>
              <a:avLst/>
              <a:gdLst>
                <a:gd name="connisteX0" fmla="*/ 0 w 260349"/>
                <a:gd name="connsiteY0" fmla="*/ 0 h 0"/>
                <a:gd name="connisteX1" fmla="*/ 260349 w 260349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60350">
                  <a:moveTo>
                    <a:pt x="0" y="0"/>
                  </a:moveTo>
                  <a:lnTo>
                    <a:pt x="260350" y="0"/>
                  </a:lnTo>
                </a:path>
              </a:pathLst>
            </a:custGeom>
            <a:solidFill>
              <a:srgbClr val="000000"/>
            </a:solidFill>
            <a:ln w="25400" cap="flat">
              <a:solidFill>
                <a:srgbClr val="5197D5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5270" y="3930"/>
              <a:ext cx="200" cy="240"/>
            </a:xfrm>
            <a:custGeom>
              <a:avLst/>
              <a:gdLst>
                <a:gd name="connisteX0" fmla="*/ 0 w 126999"/>
                <a:gd name="connsiteY0" fmla="*/ 0 h 152400"/>
                <a:gd name="connisteX1" fmla="*/ 126999 w 126999"/>
                <a:gd name="connsiteY1" fmla="*/ 76200 h 152400"/>
                <a:gd name="connisteX2" fmla="*/ 0 w 126999"/>
                <a:gd name="connsiteY2" fmla="*/ 152400 h 152400"/>
                <a:gd name="connisteX3" fmla="*/ 0 w 126999"/>
                <a:gd name="connsiteY3" fmla="*/ 0 h 1524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27000" h="152400">
                  <a:moveTo>
                    <a:pt x="0" y="0"/>
                  </a:moveTo>
                  <a:lnTo>
                    <a:pt x="127000" y="762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615" y="3342"/>
              <a:ext cx="1808" cy="60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9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等权加权</a:t>
              </a:r>
              <a:endParaRPr lang="zh-CN" altLang="en-US" sz="1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615" y="4017"/>
              <a:ext cx="3122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Top-20 约束均值 0.897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66700" y="3199765"/>
            <a:ext cx="7212965" cy="1047750"/>
            <a:chOff x="420" y="5039"/>
            <a:chExt cx="11359" cy="1650"/>
          </a:xfrm>
        </p:grpSpPr>
        <p:sp>
          <p:nvSpPr>
            <p:cNvPr id="23" name="任意多边形 22"/>
            <p:cNvSpPr/>
            <p:nvPr/>
          </p:nvSpPr>
          <p:spPr>
            <a:xfrm>
              <a:off x="420" y="5039"/>
              <a:ext cx="11359" cy="1650"/>
            </a:xfrm>
            <a:custGeom>
              <a:avLst/>
              <a:gdLst>
                <a:gd name="connisteX0" fmla="*/ 0 w 7213599"/>
                <a:gd name="connsiteY0" fmla="*/ 99536 h 1047749"/>
                <a:gd name="connisteX1" fmla="*/ 72135 w 7213599"/>
                <a:gd name="connsiteY1" fmla="*/ 0 h 1047749"/>
                <a:gd name="connisteX2" fmla="*/ 7141463 w 7213599"/>
                <a:gd name="connsiteY2" fmla="*/ 0 h 1047749"/>
                <a:gd name="connisteX3" fmla="*/ 7213599 w 7213599"/>
                <a:gd name="connsiteY3" fmla="*/ 99536 h 1047749"/>
                <a:gd name="connisteX4" fmla="*/ 7213599 w 7213599"/>
                <a:gd name="connsiteY4" fmla="*/ 948213 h 1047749"/>
                <a:gd name="connisteX5" fmla="*/ 7141463 w 7213599"/>
                <a:gd name="connsiteY5" fmla="*/ 1047749 h 1047749"/>
                <a:gd name="connisteX6" fmla="*/ 72135 w 7213599"/>
                <a:gd name="connsiteY6" fmla="*/ 1047749 h 1047749"/>
                <a:gd name="connisteX7" fmla="*/ 0 w 7213599"/>
                <a:gd name="connsiteY7" fmla="*/ 948213 h 1047749"/>
                <a:gd name="connisteX8" fmla="*/ 0 w 7213599"/>
                <a:gd name="connsiteY8" fmla="*/ 99536 h 10477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7213600" h="1047750">
                  <a:moveTo>
                    <a:pt x="0" y="99536"/>
                  </a:moveTo>
                  <a:cubicBezTo>
                    <a:pt x="0" y="44564"/>
                    <a:pt x="32296" y="0"/>
                    <a:pt x="72136" y="0"/>
                  </a:cubicBezTo>
                  <a:lnTo>
                    <a:pt x="7141464" y="0"/>
                  </a:lnTo>
                  <a:cubicBezTo>
                    <a:pt x="7181304" y="0"/>
                    <a:pt x="7213600" y="44564"/>
                    <a:pt x="7213600" y="99536"/>
                  </a:cubicBezTo>
                  <a:lnTo>
                    <a:pt x="7213600" y="948214"/>
                  </a:lnTo>
                  <a:cubicBezTo>
                    <a:pt x="7213600" y="1003186"/>
                    <a:pt x="7181304" y="1047750"/>
                    <a:pt x="7141464" y="1047750"/>
                  </a:cubicBezTo>
                  <a:lnTo>
                    <a:pt x="72136" y="1047750"/>
                  </a:lnTo>
                  <a:cubicBezTo>
                    <a:pt x="32296" y="1047750"/>
                    <a:pt x="0" y="1003186"/>
                    <a:pt x="0" y="948214"/>
                  </a:cubicBezTo>
                  <a:lnTo>
                    <a:pt x="0" y="99536"/>
                  </a:lnTo>
                  <a:close/>
                </a:path>
              </a:pathLst>
            </a:custGeom>
            <a:solidFill>
              <a:srgbClr val="F5FAFE"/>
            </a:solidFill>
            <a:ln w="12700" cap="flat">
              <a:solidFill>
                <a:srgbClr val="91BEE8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46" y="5183"/>
              <a:ext cx="2208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探索新颖候选</a:t>
              </a:r>
              <a:endPara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46" y="5798"/>
              <a:ext cx="308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保留不同目标间的折中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4920" y="5860"/>
              <a:ext cx="410" cy="0"/>
            </a:xfrm>
            <a:custGeom>
              <a:avLst/>
              <a:gdLst>
                <a:gd name="connisteX0" fmla="*/ 0 w 260349"/>
                <a:gd name="connsiteY0" fmla="*/ 0 h 0"/>
                <a:gd name="connisteX1" fmla="*/ 260349 w 260349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60350">
                  <a:moveTo>
                    <a:pt x="0" y="0"/>
                  </a:moveTo>
                  <a:lnTo>
                    <a:pt x="260350" y="0"/>
                  </a:lnTo>
                </a:path>
              </a:pathLst>
            </a:custGeom>
            <a:solidFill>
              <a:srgbClr val="000000"/>
            </a:solidFill>
            <a:ln w="25400" cap="flat">
              <a:solidFill>
                <a:srgbClr val="5197D5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5270" y="5740"/>
              <a:ext cx="200" cy="240"/>
            </a:xfrm>
            <a:custGeom>
              <a:avLst/>
              <a:gdLst>
                <a:gd name="connisteX0" fmla="*/ 0 w 126999"/>
                <a:gd name="connsiteY0" fmla="*/ 0 h 152400"/>
                <a:gd name="connisteX1" fmla="*/ 126999 w 126999"/>
                <a:gd name="connsiteY1" fmla="*/ 76200 h 152400"/>
                <a:gd name="connisteX2" fmla="*/ 0 w 126999"/>
                <a:gd name="connsiteY2" fmla="*/ 152400 h 152400"/>
                <a:gd name="connisteX3" fmla="*/ 0 w 126999"/>
                <a:gd name="connsiteY3" fmla="*/ 0 h 1524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27000" h="152400">
                  <a:moveTo>
                    <a:pt x="0" y="0"/>
                  </a:moveTo>
                  <a:lnTo>
                    <a:pt x="127000" y="762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645" y="5158"/>
              <a:ext cx="2336" cy="60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9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Pareto 分层</a:t>
              </a:r>
              <a:endParaRPr lang="zh-CN" altLang="en-US" sz="1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5606" y="5808"/>
              <a:ext cx="408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新颖性 0.375，前沿覆盖 10/10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66700" y="4349750"/>
            <a:ext cx="7212965" cy="1047115"/>
            <a:chOff x="420" y="6850"/>
            <a:chExt cx="11359" cy="1649"/>
          </a:xfrm>
        </p:grpSpPr>
        <p:sp>
          <p:nvSpPr>
            <p:cNvPr id="31" name="任意多边形 30"/>
            <p:cNvSpPr/>
            <p:nvPr/>
          </p:nvSpPr>
          <p:spPr>
            <a:xfrm>
              <a:off x="420" y="6850"/>
              <a:ext cx="11359" cy="1649"/>
            </a:xfrm>
            <a:custGeom>
              <a:avLst/>
              <a:gdLst>
                <a:gd name="connisteX0" fmla="*/ 0 w 7213599"/>
                <a:gd name="connsiteY0" fmla="*/ 99536 h 1047749"/>
                <a:gd name="connisteX1" fmla="*/ 72135 w 7213599"/>
                <a:gd name="connsiteY1" fmla="*/ 0 h 1047749"/>
                <a:gd name="connisteX2" fmla="*/ 7141463 w 7213599"/>
                <a:gd name="connsiteY2" fmla="*/ 0 h 1047749"/>
                <a:gd name="connisteX3" fmla="*/ 7213599 w 7213599"/>
                <a:gd name="connsiteY3" fmla="*/ 99536 h 1047749"/>
                <a:gd name="connisteX4" fmla="*/ 7213599 w 7213599"/>
                <a:gd name="connsiteY4" fmla="*/ 948213 h 1047749"/>
                <a:gd name="connisteX5" fmla="*/ 7141463 w 7213599"/>
                <a:gd name="connsiteY5" fmla="*/ 1047749 h 1047749"/>
                <a:gd name="connisteX6" fmla="*/ 72135 w 7213599"/>
                <a:gd name="connsiteY6" fmla="*/ 1047749 h 1047749"/>
                <a:gd name="connisteX7" fmla="*/ 0 w 7213599"/>
                <a:gd name="connsiteY7" fmla="*/ 948213 h 1047749"/>
                <a:gd name="connisteX8" fmla="*/ 0 w 7213599"/>
                <a:gd name="connsiteY8" fmla="*/ 99536 h 10477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7213600" h="1047750">
                  <a:moveTo>
                    <a:pt x="0" y="99536"/>
                  </a:moveTo>
                  <a:cubicBezTo>
                    <a:pt x="0" y="44564"/>
                    <a:pt x="32296" y="0"/>
                    <a:pt x="72136" y="0"/>
                  </a:cubicBezTo>
                  <a:lnTo>
                    <a:pt x="7141464" y="0"/>
                  </a:lnTo>
                  <a:cubicBezTo>
                    <a:pt x="7181304" y="0"/>
                    <a:pt x="7213600" y="44564"/>
                    <a:pt x="7213600" y="99536"/>
                  </a:cubicBezTo>
                  <a:lnTo>
                    <a:pt x="7213600" y="948214"/>
                  </a:lnTo>
                  <a:cubicBezTo>
                    <a:pt x="7213600" y="1003186"/>
                    <a:pt x="7181304" y="1047750"/>
                    <a:pt x="7141464" y="1047750"/>
                  </a:cubicBezTo>
                  <a:lnTo>
                    <a:pt x="72136" y="1047750"/>
                  </a:lnTo>
                  <a:cubicBezTo>
                    <a:pt x="32296" y="1047750"/>
                    <a:pt x="0" y="1003186"/>
                    <a:pt x="0" y="948214"/>
                  </a:cubicBezTo>
                  <a:lnTo>
                    <a:pt x="0" y="99536"/>
                  </a:lnTo>
                  <a:close/>
                </a:path>
              </a:pathLst>
            </a:custGeom>
            <a:solidFill>
              <a:srgbClr val="F5FAFE"/>
            </a:solidFill>
            <a:ln w="12700" cap="flat">
              <a:solidFill>
                <a:srgbClr val="91BEE8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6" y="6993"/>
              <a:ext cx="3168" cy="531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兼顾各维度的高分项</a:t>
              </a:r>
              <a:endParaRPr lang="zh-CN" altLang="en-US" sz="16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46" y="7608"/>
              <a:ext cx="364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在固定预算下覆盖不同优势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4" name="任意多边形 33"/>
            <p:cNvSpPr/>
            <p:nvPr/>
          </p:nvSpPr>
          <p:spPr>
            <a:xfrm>
              <a:off x="4920" y="7670"/>
              <a:ext cx="410" cy="0"/>
            </a:xfrm>
            <a:custGeom>
              <a:avLst/>
              <a:gdLst>
                <a:gd name="connisteX0" fmla="*/ 0 w 260349"/>
                <a:gd name="connsiteY0" fmla="*/ 0 h 0"/>
                <a:gd name="connisteX1" fmla="*/ 260349 w 260349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60350">
                  <a:moveTo>
                    <a:pt x="0" y="0"/>
                  </a:moveTo>
                  <a:lnTo>
                    <a:pt x="260350" y="0"/>
                  </a:lnTo>
                </a:path>
              </a:pathLst>
            </a:custGeom>
            <a:solidFill>
              <a:srgbClr val="000000"/>
            </a:solidFill>
            <a:ln w="25400" cap="flat">
              <a:solidFill>
                <a:srgbClr val="5197D5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5270" y="7550"/>
              <a:ext cx="200" cy="239"/>
            </a:xfrm>
            <a:custGeom>
              <a:avLst/>
              <a:gdLst>
                <a:gd name="connisteX0" fmla="*/ 0 w 126999"/>
                <a:gd name="connsiteY0" fmla="*/ 0 h 152399"/>
                <a:gd name="connisteX1" fmla="*/ 126999 w 126999"/>
                <a:gd name="connsiteY1" fmla="*/ 76200 h 152399"/>
                <a:gd name="connisteX2" fmla="*/ 0 w 126999"/>
                <a:gd name="connsiteY2" fmla="*/ 152399 h 152399"/>
                <a:gd name="connisteX3" fmla="*/ 0 w 126999"/>
                <a:gd name="connsiteY3" fmla="*/ 0 h 1523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27000" h="152400">
                  <a:moveTo>
                    <a:pt x="0" y="0"/>
                  </a:moveTo>
                  <a:lnTo>
                    <a:pt x="127000" y="762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97D5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605" y="6968"/>
              <a:ext cx="2188" cy="60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9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分维度轮转</a:t>
              </a:r>
              <a:endParaRPr lang="zh-CN" altLang="en-US" sz="19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606" y="7618"/>
              <a:ext cx="336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各维排序轮流纳入并去重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7734300" y="2051050"/>
            <a:ext cx="4191000" cy="1409065"/>
            <a:chOff x="12180" y="3230"/>
            <a:chExt cx="6600" cy="2219"/>
          </a:xfrm>
        </p:grpSpPr>
        <p:sp>
          <p:nvSpPr>
            <p:cNvPr id="39" name="任意多边形 38"/>
            <p:cNvSpPr/>
            <p:nvPr/>
          </p:nvSpPr>
          <p:spPr>
            <a:xfrm>
              <a:off x="12180" y="3230"/>
              <a:ext cx="6600" cy="2219"/>
            </a:xfrm>
            <a:custGeom>
              <a:avLst/>
              <a:gdLst>
                <a:gd name="connisteX0" fmla="*/ 0 w 4191000"/>
                <a:gd name="connsiteY0" fmla="*/ 98679 h 1409699"/>
                <a:gd name="connisteX1" fmla="*/ 83819 w 4191000"/>
                <a:gd name="connsiteY1" fmla="*/ 0 h 1409699"/>
                <a:gd name="connisteX2" fmla="*/ 4107179 w 4191000"/>
                <a:gd name="connsiteY2" fmla="*/ 0 h 1409699"/>
                <a:gd name="connisteX3" fmla="*/ 4191000 w 4191000"/>
                <a:gd name="connsiteY3" fmla="*/ 98679 h 1409699"/>
                <a:gd name="connisteX4" fmla="*/ 4191000 w 4191000"/>
                <a:gd name="connsiteY4" fmla="*/ 1311020 h 1409699"/>
                <a:gd name="connisteX5" fmla="*/ 4107179 w 4191000"/>
                <a:gd name="connsiteY5" fmla="*/ 1409699 h 1409699"/>
                <a:gd name="connisteX6" fmla="*/ 83819 w 4191000"/>
                <a:gd name="connsiteY6" fmla="*/ 1409699 h 1409699"/>
                <a:gd name="connisteX7" fmla="*/ 0 w 4191000"/>
                <a:gd name="connsiteY7" fmla="*/ 1311020 h 1409699"/>
                <a:gd name="connisteX8" fmla="*/ 0 w 4191000"/>
                <a:gd name="connsiteY8" fmla="*/ 98679 h 14096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4191000" h="1409700">
                  <a:moveTo>
                    <a:pt x="0" y="98679"/>
                  </a:moveTo>
                  <a:cubicBezTo>
                    <a:pt x="0" y="44180"/>
                    <a:pt x="37527" y="0"/>
                    <a:pt x="83820" y="0"/>
                  </a:cubicBezTo>
                  <a:lnTo>
                    <a:pt x="4107180" y="0"/>
                  </a:lnTo>
                  <a:cubicBezTo>
                    <a:pt x="4153473" y="0"/>
                    <a:pt x="4191000" y="44180"/>
                    <a:pt x="4191000" y="98679"/>
                  </a:cubicBezTo>
                  <a:lnTo>
                    <a:pt x="4191000" y="1311021"/>
                  </a:lnTo>
                  <a:cubicBezTo>
                    <a:pt x="4191000" y="1365520"/>
                    <a:pt x="4153473" y="1409700"/>
                    <a:pt x="4107180" y="1409700"/>
                  </a:cubicBezTo>
                  <a:lnTo>
                    <a:pt x="83820" y="1409700"/>
                  </a:lnTo>
                  <a:cubicBezTo>
                    <a:pt x="37527" y="1409700"/>
                    <a:pt x="0" y="1365520"/>
                    <a:pt x="0" y="1311021"/>
                  </a:cubicBezTo>
                  <a:lnTo>
                    <a:pt x="0" y="98679"/>
                  </a:lnTo>
                  <a:close/>
                </a:path>
              </a:pathLst>
            </a:custGeom>
            <a:solidFill>
              <a:srgbClr val="F5FAFE"/>
            </a:solidFill>
            <a:ln w="12700" cap="flat">
              <a:solidFill>
                <a:srgbClr val="91BEE8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2406" y="3298"/>
              <a:ext cx="3588" cy="54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目标有冲突，也有重叠</a:t>
              </a:r>
              <a:endPara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2366" y="3928"/>
              <a:ext cx="376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保守性与独特性呈负相关。</a:t>
              </a:r>
              <a:endParaRPr lang="zh-CN" altLang="en-US" sz="14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2356" y="4463"/>
              <a:ext cx="3768" cy="49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5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新颖性与独特性高度相关。</a:t>
              </a:r>
              <a:endParaRPr lang="zh-CN" altLang="en-US" sz="145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7734300" y="3587750"/>
            <a:ext cx="4191000" cy="1809115"/>
            <a:chOff x="12180" y="5650"/>
            <a:chExt cx="6600" cy="2849"/>
          </a:xfrm>
        </p:grpSpPr>
        <p:sp>
          <p:nvSpPr>
            <p:cNvPr id="44" name="任意多边形 43"/>
            <p:cNvSpPr/>
            <p:nvPr/>
          </p:nvSpPr>
          <p:spPr>
            <a:xfrm>
              <a:off x="12180" y="5650"/>
              <a:ext cx="6600" cy="2849"/>
            </a:xfrm>
            <a:custGeom>
              <a:avLst/>
              <a:gdLst>
                <a:gd name="connisteX0" fmla="*/ 0 w 4191000"/>
                <a:gd name="connsiteY0" fmla="*/ 99536 h 1809749"/>
                <a:gd name="connisteX1" fmla="*/ 83819 w 4191000"/>
                <a:gd name="connsiteY1" fmla="*/ 0 h 1809749"/>
                <a:gd name="connisteX2" fmla="*/ 4107179 w 4191000"/>
                <a:gd name="connsiteY2" fmla="*/ 0 h 1809749"/>
                <a:gd name="connisteX3" fmla="*/ 4191000 w 4191000"/>
                <a:gd name="connsiteY3" fmla="*/ 99536 h 1809749"/>
                <a:gd name="connisteX4" fmla="*/ 4191000 w 4191000"/>
                <a:gd name="connsiteY4" fmla="*/ 1710213 h 1809749"/>
                <a:gd name="connisteX5" fmla="*/ 4107179 w 4191000"/>
                <a:gd name="connsiteY5" fmla="*/ 1809749 h 1809749"/>
                <a:gd name="connisteX6" fmla="*/ 83819 w 4191000"/>
                <a:gd name="connsiteY6" fmla="*/ 1809749 h 1809749"/>
                <a:gd name="connisteX7" fmla="*/ 0 w 4191000"/>
                <a:gd name="connsiteY7" fmla="*/ 1710213 h 1809749"/>
                <a:gd name="connisteX8" fmla="*/ 0 w 4191000"/>
                <a:gd name="connsiteY8" fmla="*/ 99536 h 18097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4191000" h="1809750">
                  <a:moveTo>
                    <a:pt x="0" y="99536"/>
                  </a:moveTo>
                  <a:cubicBezTo>
                    <a:pt x="0" y="44564"/>
                    <a:pt x="37527" y="0"/>
                    <a:pt x="83820" y="0"/>
                  </a:cubicBezTo>
                  <a:lnTo>
                    <a:pt x="4107180" y="0"/>
                  </a:lnTo>
                  <a:cubicBezTo>
                    <a:pt x="4153473" y="0"/>
                    <a:pt x="4191000" y="44564"/>
                    <a:pt x="4191000" y="99536"/>
                  </a:cubicBezTo>
                  <a:lnTo>
                    <a:pt x="4191000" y="1710214"/>
                  </a:lnTo>
                  <a:cubicBezTo>
                    <a:pt x="4191000" y="1765186"/>
                    <a:pt x="4153473" y="1809750"/>
                    <a:pt x="4107180" y="1809750"/>
                  </a:cubicBezTo>
                  <a:lnTo>
                    <a:pt x="83820" y="1809750"/>
                  </a:lnTo>
                  <a:cubicBezTo>
                    <a:pt x="37527" y="1809750"/>
                    <a:pt x="0" y="1765186"/>
                    <a:pt x="0" y="1710214"/>
                  </a:cubicBezTo>
                  <a:lnTo>
                    <a:pt x="0" y="99536"/>
                  </a:lnTo>
                  <a:close/>
                </a:path>
              </a:pathLst>
            </a:custGeom>
            <a:solidFill>
              <a:srgbClr val="F5FAFE"/>
            </a:solidFill>
            <a:ln w="12700" cap="flat">
              <a:solidFill>
                <a:srgbClr val="91BEE8"/>
              </a:solidFill>
              <a:custDash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2366" y="5718"/>
              <a:ext cx="3588" cy="54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6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本批次权重扰动较稳定</a:t>
              </a:r>
              <a:endParaRPr lang="zh-CN" altLang="en-US" sz="16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2376" y="6088"/>
              <a:ext cx="1789" cy="737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24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0.9385</a:t>
              </a:r>
              <a:endParaRPr lang="zh-CN" altLang="en-US" sz="24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4546" y="6313"/>
              <a:ext cx="2467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平均名单 Jaccard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2376" y="6783"/>
              <a:ext cx="3999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200 次 ±20% 扰动后再归一化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2366" y="7338"/>
              <a:ext cx="2988" cy="507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配对证据门槛更敏感</a:t>
              </a:r>
              <a:endPara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2356" y="7808"/>
              <a:ext cx="4768" cy="483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400">
                  <a:solidFill>
                    <a:srgbClr val="35516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筛选时同时报告稳定性与证据覆盖。</a:t>
              </a:r>
              <a:endParaRPr lang="zh-CN" altLang="en-US" sz="1400">
                <a:solidFill>
                  <a:srgbClr val="35516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266700" y="5612765"/>
            <a:ext cx="11658600" cy="419735"/>
            <a:chOff x="420" y="8839"/>
            <a:chExt cx="18360" cy="661"/>
          </a:xfrm>
        </p:grpSpPr>
        <p:sp>
          <p:nvSpPr>
            <p:cNvPr id="52" name="任意多边形 51"/>
            <p:cNvSpPr/>
            <p:nvPr/>
          </p:nvSpPr>
          <p:spPr>
            <a:xfrm>
              <a:off x="420" y="8839"/>
              <a:ext cx="18360" cy="661"/>
            </a:xfrm>
            <a:custGeom>
              <a:avLst/>
              <a:gdLst>
                <a:gd name="connisteX0" fmla="*/ 0 w 11658600"/>
                <a:gd name="connsiteY0" fmla="*/ 100584 h 419100"/>
                <a:gd name="connisteX1" fmla="*/ 58292 w 11658600"/>
                <a:gd name="connsiteY1" fmla="*/ 0 h 419100"/>
                <a:gd name="connisteX2" fmla="*/ 11600307 w 11658600"/>
                <a:gd name="connsiteY2" fmla="*/ 0 h 419100"/>
                <a:gd name="connisteX3" fmla="*/ 11658600 w 11658600"/>
                <a:gd name="connsiteY3" fmla="*/ 100584 h 419100"/>
                <a:gd name="connisteX4" fmla="*/ 11658600 w 11658600"/>
                <a:gd name="connsiteY4" fmla="*/ 318516 h 419100"/>
                <a:gd name="connisteX5" fmla="*/ 11600307 w 11658600"/>
                <a:gd name="connsiteY5" fmla="*/ 419100 h 419100"/>
                <a:gd name="connisteX6" fmla="*/ 58292 w 11658600"/>
                <a:gd name="connsiteY6" fmla="*/ 419100 h 419100"/>
                <a:gd name="connisteX7" fmla="*/ 0 w 11658600"/>
                <a:gd name="connsiteY7" fmla="*/ 318516 h 419100"/>
                <a:gd name="connisteX8" fmla="*/ 0 w 11658600"/>
                <a:gd name="connsiteY8" fmla="*/ 100584 h 4191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1658600" h="419100">
                  <a:moveTo>
                    <a:pt x="0" y="100584"/>
                  </a:moveTo>
                  <a:cubicBezTo>
                    <a:pt x="0" y="45033"/>
                    <a:pt x="26099" y="0"/>
                    <a:pt x="58293" y="0"/>
                  </a:cubicBezTo>
                  <a:lnTo>
                    <a:pt x="11600307" y="0"/>
                  </a:lnTo>
                  <a:cubicBezTo>
                    <a:pt x="11632501" y="0"/>
                    <a:pt x="11658600" y="45033"/>
                    <a:pt x="11658600" y="100584"/>
                  </a:cubicBezTo>
                  <a:lnTo>
                    <a:pt x="11658600" y="318516"/>
                  </a:lnTo>
                  <a:cubicBezTo>
                    <a:pt x="11658600" y="374067"/>
                    <a:pt x="11632501" y="419100"/>
                    <a:pt x="11600307" y="419100"/>
                  </a:cubicBezTo>
                  <a:lnTo>
                    <a:pt x="58293" y="419100"/>
                  </a:lnTo>
                  <a:cubicBezTo>
                    <a:pt x="26099" y="419100"/>
                    <a:pt x="0" y="374067"/>
                    <a:pt x="0" y="318516"/>
                  </a:cubicBezTo>
                  <a:lnTo>
                    <a:pt x="0" y="100584"/>
                  </a:lnTo>
                  <a:close/>
                </a:path>
              </a:pathLst>
            </a:custGeom>
            <a:solidFill>
              <a:srgbClr val="E2F1FD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16" y="8893"/>
              <a:ext cx="1528" cy="519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5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项目交付</a:t>
              </a:r>
              <a:endParaRPr lang="zh-CN" altLang="en-US" sz="155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2416" y="8898"/>
              <a:ext cx="2038" cy="507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9 份候选名单</a:t>
              </a:r>
              <a:endPara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5656" y="8893"/>
              <a:ext cx="2622" cy="507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1,000 条审计记录</a:t>
              </a:r>
              <a:endPara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9546" y="8903"/>
              <a:ext cx="4508" cy="507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p>
              <a:r>
                <a:rPr lang="zh-CN" altLang="en-US" sz="1500" b="1">
                  <a:solidFill>
                    <a:srgbClr val="00549A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302 项测试通过（2026-09-28）</a:t>
              </a:r>
              <a:endParaRPr lang="zh-CN" altLang="en-US" sz="1500" b="1">
                <a:solidFill>
                  <a:srgbClr val="00549A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391160" y="6160770"/>
            <a:ext cx="6259830" cy="314325"/>
          </a:xfrm>
          <a:prstGeom prst="rect">
            <a:avLst/>
          </a:prstGeom>
          <a:noFill/>
        </p:spPr>
        <p:txBody>
          <a:bodyPr vert="horz" wrap="none">
            <a:spAutoFit/>
          </a:bodyPr>
          <a:p>
            <a:r>
              <a:rPr lang="zh-CN" altLang="en-US" sz="1450">
                <a:solidFill>
                  <a:srgbClr val="607C9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适用范围：固定的暂定参考集与当前候选批次；用于安排后续验证优先级。</a:t>
            </a:r>
            <a:endParaRPr lang="zh-CN" altLang="en-US" sz="1450">
              <a:solidFill>
                <a:srgbClr val="607C9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8540" y="311540"/>
            <a:ext cx="6234920" cy="62349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92" b="14592"/>
          <a:stretch>
            <a:fillRect/>
          </a:stretch>
        </p:blipFill>
        <p:spPr>
          <a:xfrm>
            <a:off x="191346" y="116631"/>
            <a:ext cx="11809309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45" y="110465"/>
            <a:ext cx="11809309" cy="5226782"/>
          </a:xfrm>
          <a:prstGeom prst="rect">
            <a:avLst/>
          </a:prstGeom>
          <a:solidFill>
            <a:schemeClr val="accent2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999656" y="5935211"/>
            <a:ext cx="2764598" cy="487239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748" y="5935210"/>
            <a:ext cx="2764598" cy="487239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</a:t>
            </a:r>
            <a:r>
              <a:rPr lang="zh-CN" altLang="en-US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sym typeface="+mn-ea"/>
              </a:rPr>
              <a:t>汪予涵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460218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指导老师：宫秀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2009775" y="2501265"/>
            <a:ext cx="8489950" cy="1069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大家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325577" y="4007053"/>
            <a:ext cx="9858345" cy="296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Thank you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438708" y="3768247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515" y="531723"/>
            <a:ext cx="4906970" cy="15334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014B88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014B88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3721</Words>
  <Application>WPS 演示</Application>
  <PresentationFormat>宽屏</PresentationFormat>
  <Paragraphs>733</Paragraphs>
  <Slides>12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微软雅黑</vt:lpstr>
      <vt:lpstr>等线</vt:lpstr>
      <vt:lpstr>Microsoft YaHei UI</vt:lpstr>
      <vt:lpstr>Arial Unicode MS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WPS_1695612331</cp:lastModifiedBy>
  <cp:revision>71</cp:revision>
  <dcterms:created xsi:type="dcterms:W3CDTF">2020-07-27T01:08:00Z</dcterms:created>
  <dcterms:modified xsi:type="dcterms:W3CDTF">2026-10-03T06:53:06Z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9D5EA89118D74323A15062C9732126C9_13</vt:lpwstr>
  </property>
  <property fmtid="{D5CDD505-2E9C-101B-9397-08002B2CF9AE}" pid="3" name="KSOProductBuildVer">
    <vt:lpwstr>2052-12.1.0.28505</vt:lpwstr>
  </property>
</Properties>
</file>